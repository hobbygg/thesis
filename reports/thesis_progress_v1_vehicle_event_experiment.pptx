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873baf35242e8" /><Relationship Type="http://schemas.openxmlformats.org/officeDocument/2006/relationships/extended-properties" Target="/docProps/app.xml" Id="R5b62e8c99f0742b3" /><Relationship Type="http://schemas.openxmlformats.org/officeDocument/2006/relationships/officeDocument" Target="/ppt/presentation.xml" Id="R354b43b72e1b42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c29588bc4e4e3e"/>
  </p:sldMasterIdLst>
  <p:notesMasterIdLst>
    <p:notesMasterId xmlns:r="http://schemas.openxmlformats.org/officeDocument/2006/relationships" r:id="Rf0b3f2dee2854ea8"/>
  </p:notesMasterIdLst>
  <p:sldIdLst>
    <p:sldId xmlns:r="http://schemas.openxmlformats.org/officeDocument/2006/relationships" id="256" r:id="R14293d6480d34d31"/>
    <p:sldId xmlns:r="http://schemas.openxmlformats.org/officeDocument/2006/relationships" id="257" r:id="R5a6727fe3a654ae2"/>
    <p:sldId xmlns:r="http://schemas.openxmlformats.org/officeDocument/2006/relationships" id="258" r:id="R89fdb43ac65f4621"/>
    <p:sldId xmlns:r="http://schemas.openxmlformats.org/officeDocument/2006/relationships" id="259" r:id="Re4716cb274b84dfb"/>
    <p:sldId xmlns:r="http://schemas.openxmlformats.org/officeDocument/2006/relationships" id="260" r:id="Rdacdb9b40a9445d6"/>
    <p:sldId xmlns:r="http://schemas.openxmlformats.org/officeDocument/2006/relationships" id="261" r:id="Re8dcdd1fee0946d9"/>
    <p:sldId xmlns:r="http://schemas.openxmlformats.org/officeDocument/2006/relationships" id="262" r:id="R425cd1d75c264a40"/>
    <p:sldId xmlns:r="http://schemas.openxmlformats.org/officeDocument/2006/relationships" id="263" r:id="Rb5cba34cc94c4131"/>
    <p:sldId xmlns:r="http://schemas.openxmlformats.org/officeDocument/2006/relationships" id="264" r:id="Rbffa793edaf34983"/>
    <p:sldId xmlns:r="http://schemas.openxmlformats.org/officeDocument/2006/relationships" id="265" r:id="R69aa602f5fba46f8"/>
    <p:sldId xmlns:r="http://schemas.openxmlformats.org/officeDocument/2006/relationships" id="266" r:id="R381ddf89d7ab4cc1"/>
    <p:sldId xmlns:r="http://schemas.openxmlformats.org/officeDocument/2006/relationships" id="267" r:id="R8b63f646af814646"/>
    <p:sldId xmlns:r="http://schemas.openxmlformats.org/officeDocument/2006/relationships" id="268" r:id="Rf6fc7ededa2544b1"/>
    <p:sldId xmlns:r="http://schemas.openxmlformats.org/officeDocument/2006/relationships" id="269" r:id="R1356e14115b94d72"/>
    <p:sldId xmlns:r="http://schemas.openxmlformats.org/officeDocument/2006/relationships" id="270" r:id="R6dcbf2d54f894375"/>
    <p:sldId xmlns:r="http://schemas.openxmlformats.org/officeDocument/2006/relationships" id="271" r:id="R1ddc424ae7104744"/>
    <p:sldId xmlns:r="http://schemas.openxmlformats.org/officeDocument/2006/relationships" id="272" r:id="R223e5af79c5e4006"/>
    <p:sldId xmlns:r="http://schemas.openxmlformats.org/officeDocument/2006/relationships" id="273" r:id="R18aeef7112fa4f29"/>
    <p:sldId xmlns:r="http://schemas.openxmlformats.org/officeDocument/2006/relationships" id="274" r:id="R94e264f1cbf74be5"/>
    <p:sldId xmlns:r="http://schemas.openxmlformats.org/officeDocument/2006/relationships" id="275" r:id="Rd2ec6116c9ef41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728bfb54ab4247" /><Relationship Type="http://schemas.openxmlformats.org/officeDocument/2006/relationships/slideMaster" Target="/ppt/slideMasters/slideMaster1.xml" Id="R5ec29588bc4e4e3e" /><Relationship Type="http://schemas.openxmlformats.org/officeDocument/2006/relationships/notesMaster" Target="/ppt/notesMasters/notesMaster1.xml" Id="Rf0b3f2dee2854ea8" /><Relationship Type="http://schemas.openxmlformats.org/officeDocument/2006/relationships/presProps" Target="/ppt/presProps.xml" Id="R13c233921e6a4023" /><Relationship Type="http://schemas.openxmlformats.org/officeDocument/2006/relationships/tableStyles" Target="/ppt/tableStyles.xml" Id="Ra0c0a2bb85fa4e9a" /><Relationship Type="http://schemas.openxmlformats.org/officeDocument/2006/relationships/slide" Target="/ppt/slides/slide1.xml" Id="R14293d6480d34d31" /><Relationship Type="http://schemas.openxmlformats.org/officeDocument/2006/relationships/slide" Target="/ppt/slides/slide2.xml" Id="R5a6727fe3a654ae2" /><Relationship Type="http://schemas.openxmlformats.org/officeDocument/2006/relationships/slide" Target="/ppt/slides/slide3.xml" Id="R89fdb43ac65f4621" /><Relationship Type="http://schemas.openxmlformats.org/officeDocument/2006/relationships/slide" Target="/ppt/slides/slide4.xml" Id="Re4716cb274b84dfb" /><Relationship Type="http://schemas.openxmlformats.org/officeDocument/2006/relationships/slide" Target="/ppt/slides/slide5.xml" Id="Rdacdb9b40a9445d6" /><Relationship Type="http://schemas.openxmlformats.org/officeDocument/2006/relationships/slide" Target="/ppt/slides/slide6.xml" Id="Re8dcdd1fee0946d9" /><Relationship Type="http://schemas.openxmlformats.org/officeDocument/2006/relationships/slide" Target="/ppt/slides/slide7.xml" Id="R425cd1d75c264a40" /><Relationship Type="http://schemas.openxmlformats.org/officeDocument/2006/relationships/slide" Target="/ppt/slides/slide8.xml" Id="Rb5cba34cc94c4131" /><Relationship Type="http://schemas.openxmlformats.org/officeDocument/2006/relationships/slide" Target="/ppt/slides/slide9.xml" Id="Rbffa793edaf34983" /><Relationship Type="http://schemas.openxmlformats.org/officeDocument/2006/relationships/slide" Target="/ppt/slides/slide10.xml" Id="R69aa602f5fba46f8" /><Relationship Type="http://schemas.openxmlformats.org/officeDocument/2006/relationships/slide" Target="/ppt/slides/slide11.xml" Id="R381ddf89d7ab4cc1" /><Relationship Type="http://schemas.openxmlformats.org/officeDocument/2006/relationships/slide" Target="/ppt/slides/slide12.xml" Id="R8b63f646af814646" /><Relationship Type="http://schemas.openxmlformats.org/officeDocument/2006/relationships/slide" Target="/ppt/slides/slide13.xml" Id="Rf6fc7ededa2544b1" /><Relationship Type="http://schemas.openxmlformats.org/officeDocument/2006/relationships/slide" Target="/ppt/slides/slide14.xml" Id="R1356e14115b94d72" /><Relationship Type="http://schemas.openxmlformats.org/officeDocument/2006/relationships/slide" Target="/ppt/slides/slide15.xml" Id="R6dcbf2d54f894375" /><Relationship Type="http://schemas.openxmlformats.org/officeDocument/2006/relationships/slide" Target="/ppt/slides/slide16.xml" Id="R1ddc424ae7104744" /><Relationship Type="http://schemas.openxmlformats.org/officeDocument/2006/relationships/slide" Target="/ppt/slides/slide17.xml" Id="R223e5af79c5e4006" /><Relationship Type="http://schemas.openxmlformats.org/officeDocument/2006/relationships/slide" Target="/ppt/slides/slide18.xml" Id="R18aeef7112fa4f29" /><Relationship Type="http://schemas.openxmlformats.org/officeDocument/2006/relationships/slide" Target="/ppt/slides/slide19.xml" Id="R94e264f1cbf74be5" /><Relationship Type="http://schemas.openxmlformats.org/officeDocument/2006/relationships/slide" Target="/ppt/slides/slide20.xml" Id="Rd2ec6116c9ef41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c2b01e4ad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c276114148423a" /><Relationship Type="http://schemas.openxmlformats.org/officeDocument/2006/relationships/notesMaster" Target="/ppt/notesMasters/notesMaster1.xml" Id="R7fd0169dc44341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07b8b228e04e33" /><Relationship Type="http://schemas.openxmlformats.org/officeDocument/2006/relationships/notesMaster" Target="/ppt/notesMasters/notesMaster1.xml" Id="R307289f8a51a4f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e165b64704110" /><Relationship Type="http://schemas.openxmlformats.org/officeDocument/2006/relationships/notesMaster" Target="/ppt/notesMasters/notesMaster1.xml" Id="R71dbcb33321f4d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de24c318b74995" /><Relationship Type="http://schemas.openxmlformats.org/officeDocument/2006/relationships/notesMaster" Target="/ppt/notesMasters/notesMaster1.xml" Id="R8e5ea8948bef49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6d030b34c74b9a" /><Relationship Type="http://schemas.openxmlformats.org/officeDocument/2006/relationships/notesMaster" Target="/ppt/notesMasters/notesMaster1.xml" Id="R1cca34480c9741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107b4217bd4952" /><Relationship Type="http://schemas.openxmlformats.org/officeDocument/2006/relationships/notesMaster" Target="/ppt/notesMasters/notesMaster1.xml" Id="R713e684df1ca45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927418ef204611" /><Relationship Type="http://schemas.openxmlformats.org/officeDocument/2006/relationships/notesMaster" Target="/ppt/notesMasters/notesMaster1.xml" Id="R5daf43a1b49441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04031d844e43e4" /><Relationship Type="http://schemas.openxmlformats.org/officeDocument/2006/relationships/notesMaster" Target="/ppt/notesMasters/notesMaster1.xml" Id="Reb92c7ebd77348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d517daa85144fc" /><Relationship Type="http://schemas.openxmlformats.org/officeDocument/2006/relationships/notesMaster" Target="/ppt/notesMasters/notesMaster1.xml" Id="R62fd944719da40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226b53de9743af" /><Relationship Type="http://schemas.openxmlformats.org/officeDocument/2006/relationships/notesMaster" Target="/ppt/notesMasters/notesMaster1.xml" Id="Rf4fd5c5808b84a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7282c6ddb941d2" /><Relationship Type="http://schemas.openxmlformats.org/officeDocument/2006/relationships/notesMaster" Target="/ppt/notesMasters/notesMaster1.xml" Id="R8b301e2022a042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d0284e8e9342f6" /><Relationship Type="http://schemas.openxmlformats.org/officeDocument/2006/relationships/notesMaster" Target="/ppt/notesMasters/notesMaster1.xml" Id="R168cdbac122b40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3c61016bd34c00" /><Relationship Type="http://schemas.openxmlformats.org/officeDocument/2006/relationships/notesMaster" Target="/ppt/notesMasters/notesMaster1.xml" Id="Rd621f65c71554c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50e60d56ee4ff5" /><Relationship Type="http://schemas.openxmlformats.org/officeDocument/2006/relationships/notesMaster" Target="/ppt/notesMasters/notesMaster1.xml" Id="R91aa4fb9783049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a6cb2a55344d6a" /><Relationship Type="http://schemas.openxmlformats.org/officeDocument/2006/relationships/notesMaster" Target="/ppt/notesMasters/notesMaster1.xml" Id="R0562beeb1d7644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73365c988b491e" /><Relationship Type="http://schemas.openxmlformats.org/officeDocument/2006/relationships/notesMaster" Target="/ppt/notesMasters/notesMaster1.xml" Id="R3ce5de59690c43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f59f84ef6c4208" /><Relationship Type="http://schemas.openxmlformats.org/officeDocument/2006/relationships/notesMaster" Target="/ppt/notesMasters/notesMaster1.xml" Id="R09e8223e3ef54e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c7b54976794062" /><Relationship Type="http://schemas.openxmlformats.org/officeDocument/2006/relationships/notesMaster" Target="/ppt/notesMasters/notesMaster1.xml" Id="R99caa61d8c114d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ba2617276b40d3" /><Relationship Type="http://schemas.openxmlformats.org/officeDocument/2006/relationships/notesMaster" Target="/ppt/notesMasters/notesMaster1.xml" Id="Rd5f643f4ccba4c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78631723fc4abe" /><Relationship Type="http://schemas.openxmlformats.org/officeDocument/2006/relationships/notesMaster" Target="/ppt/notesMasters/notesMaster1.xml" Id="R6d236c20d25349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14a29d5834a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eed4abc047434e" /><Relationship Type="http://schemas.openxmlformats.org/officeDocument/2006/relationships/slideLayout" Target="/ppt/slideLayouts/slideLayout1.xml" Id="Re5e214fb35d94f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214fb35d9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cbbc7961b44fc" /><Relationship Type="http://schemas.openxmlformats.org/officeDocument/2006/relationships/image" Target="/ppt/media/image.png" Id="R2abab45bc4394c29" /><Relationship Type="http://schemas.openxmlformats.org/officeDocument/2006/relationships/notesSlide" Target="/ppt/notesSlides/notesSlide1.xml" Id="Rc46d8e1a557649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3b7c74ad646b5" /><Relationship Type="http://schemas.openxmlformats.org/officeDocument/2006/relationships/notesSlide" Target="/ppt/notesSlides/notesSlide2.xml" Id="R04ab7482f9e747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4b94cd0304f84" /><Relationship Type="http://schemas.openxmlformats.org/officeDocument/2006/relationships/image" Target="/ppt/media/image2.png" Id="R616eff13540c40c6" /><Relationship Type="http://schemas.openxmlformats.org/officeDocument/2006/relationships/notesSlide" Target="/ppt/notesSlides/notesSlide3.xml" Id="Rdbd91e6d23634a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a538c17a948bc" /><Relationship Type="http://schemas.openxmlformats.org/officeDocument/2006/relationships/notesSlide" Target="/ppt/notesSlides/notesSlide4.xml" Id="Rf9afe81f0e9349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f81c3cfaf4a0c" /><Relationship Type="http://schemas.openxmlformats.org/officeDocument/2006/relationships/notesSlide" Target="/ppt/notesSlides/notesSlide5.xml" Id="R34d3100d44174c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f471af0064625" /><Relationship Type="http://schemas.openxmlformats.org/officeDocument/2006/relationships/notesSlide" Target="/ppt/notesSlides/notesSlide6.xml" Id="R40436829eac94e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13888372d4678" /><Relationship Type="http://schemas.openxmlformats.org/officeDocument/2006/relationships/image" Target="/ppt/media/image3.png" Id="R60f43c80d5ca4f07" /><Relationship Type="http://schemas.openxmlformats.org/officeDocument/2006/relationships/notesSlide" Target="/ppt/notesSlides/notesSlide7.xml" Id="Re5e1ea204aa648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6236a62034c96" /><Relationship Type="http://schemas.openxmlformats.org/officeDocument/2006/relationships/notesSlide" Target="/ppt/notesSlides/notesSlide8.xml" Id="R1b1f5e15bf854f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7d3a402134079" /><Relationship Type="http://schemas.openxmlformats.org/officeDocument/2006/relationships/notesSlide" Target="/ppt/notesSlides/notesSlide9.xml" Id="R42ec571904144f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0c513dc164bac" /><Relationship Type="http://schemas.openxmlformats.org/officeDocument/2006/relationships/image" Target="/ppt/media/image4.png" Id="Rafacc48383414e0a" /><Relationship Type="http://schemas.openxmlformats.org/officeDocument/2006/relationships/notesSlide" Target="/ppt/notesSlides/notesSlide10.xml" Id="Rbc28bebe8a3243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ecda5d22d486a" /><Relationship Type="http://schemas.openxmlformats.org/officeDocument/2006/relationships/notesSlide" Target="/ppt/notesSlides/notesSlide11.xml" Id="R149ce8a53daf48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c172bb0864592" /><Relationship Type="http://schemas.openxmlformats.org/officeDocument/2006/relationships/notesSlide" Target="/ppt/notesSlides/notesSlide12.xml" Id="R431fbb34f0a644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899750ef74e55" /><Relationship Type="http://schemas.openxmlformats.org/officeDocument/2006/relationships/image" Target="/ppt/media/image5.png" Id="R128d326ce4514e03" /><Relationship Type="http://schemas.openxmlformats.org/officeDocument/2006/relationships/notesSlide" Target="/ppt/notesSlides/notesSlide13.xml" Id="R0b3455692bf841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5e741e24a49f7" /><Relationship Type="http://schemas.openxmlformats.org/officeDocument/2006/relationships/image" Target="/ppt/media/image6.png" Id="R7f62b4e26251441b" /><Relationship Type="http://schemas.openxmlformats.org/officeDocument/2006/relationships/notesSlide" Target="/ppt/notesSlides/notesSlide14.xml" Id="Rfed34cf694174e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ef756b6f94772" /><Relationship Type="http://schemas.openxmlformats.org/officeDocument/2006/relationships/notesSlide" Target="/ppt/notesSlides/notesSlide15.xml" Id="R39b6540734e94d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723807032453e" /><Relationship Type="http://schemas.openxmlformats.org/officeDocument/2006/relationships/notesSlide" Target="/ppt/notesSlides/notesSlide16.xml" Id="R22f41499eb914d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2a4728e3f43a1" /><Relationship Type="http://schemas.openxmlformats.org/officeDocument/2006/relationships/notesSlide" Target="/ppt/notesSlides/notesSlide17.xml" Id="Re9ea17c620be4c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9afaa28804661" /><Relationship Type="http://schemas.openxmlformats.org/officeDocument/2006/relationships/image" Target="/ppt/media/image7.png" Id="Rcc07ae72258e4125" /><Relationship Type="http://schemas.openxmlformats.org/officeDocument/2006/relationships/image" Target="/ppt/media/image.svg" Id="R7ac681738edf4be6" /><Relationship Type="http://schemas.openxmlformats.org/officeDocument/2006/relationships/image" Target="/ppt/media/image8.png" Id="Rf424e828e5384775" /><Relationship Type="http://schemas.openxmlformats.org/officeDocument/2006/relationships/image" Target="/ppt/media/image2.svg" Id="R330ae08cf35c43a2" /><Relationship Type="http://schemas.openxmlformats.org/officeDocument/2006/relationships/notesSlide" Target="/ppt/notesSlides/notesSlide18.xml" Id="Ree9d58eb85ab4b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5aa87c0824fc5" /><Relationship Type="http://schemas.openxmlformats.org/officeDocument/2006/relationships/image" Target="/ppt/media/image9.png" Id="R36ac9b861d6a4ecd" /><Relationship Type="http://schemas.openxmlformats.org/officeDocument/2006/relationships/image" Target="/ppt/media/image3.svg" Id="R71eb580b49804394" /><Relationship Type="http://schemas.openxmlformats.org/officeDocument/2006/relationships/image" Target="/ppt/media/image10.png" Id="R0d12d0d843df459c" /><Relationship Type="http://schemas.openxmlformats.org/officeDocument/2006/relationships/image" Target="/ppt/media/image4.svg" Id="R82dfdc5f4afa4a4d" /><Relationship Type="http://schemas.openxmlformats.org/officeDocument/2006/relationships/notesSlide" Target="/ppt/notesSlides/notesSlide19.xml" Id="Re22818db315942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20c5b48e48b1" /><Relationship Type="http://schemas.openxmlformats.org/officeDocument/2006/relationships/notesSlide" Target="/ppt/notesSlides/notesSlide20.xml" Id="R014a07d9c577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62D0448-0EF6-46CE-8BFF-89EEABF1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E6FAC2B-B3CC-4783-8A46-D69CC6AC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ab45bc4394c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286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15B238-EAE3-4CFB-B9D8-68F6C013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硕士论文阶段汇报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56014BC-8101-4C57-B5B9-F64F60D1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2665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基于多源数据融合的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磁浮轨道振动监测方法研究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6B6BDCA-59D9-4945-9751-4C4AB3F1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" y="35433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EC18E072-8638-46C0-91BF-EAD88479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340" y="2996565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CB68626-F750-481A-B70B-9FA736B2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590" y="314896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倒挂式雷达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9656B831-F327-4E06-B647-51290173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590" y="2996565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3301FA-39EA-4C76-BABF-6D10D7F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840" y="314896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静止散射体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2C27FE05-C049-4D4A-8008-E6941340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65" y="318706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F9D3517-FEB9-45A5-99DA-3959D67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340" y="4120515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7A5CBDC-66FC-4118-BE48-B1742AD8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590" y="431101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加速度预测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48908683-81FE-4856-AE1D-C7D895F4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590" y="4120515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B286838-6779-488C-8472-54A6565F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840" y="431101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结构主相位</a:t>
            </a: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A2CCABB8-7D12-458D-94BF-6BB19C9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65" y="431101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2242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C621F80-F659-47D9-92C8-C726D49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2770E5A-2207-4796-9FB1-3FB2B375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972305F-9574-49B8-ACEF-9DF5DD6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汇报内容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A4542BA-997B-423E-BFD8-9EFB9D9D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1B1B19-1250-4AF3-A5CC-A7D841B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51B8746-5A61-46A6-8705-43E37E4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0B07106C-DD7E-4250-B09E-0EE2E475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75" y="1844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CBA3C44-CA69-4EDC-9AA1-AE47C0D5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75" y="203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1B52BE5C-EDC4-4E9C-BCB8-BA3782F3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075" y="2082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FD68AD2-9D4C-4913-86B3-D1F690BF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25" y="29876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研究背景与问题定义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4D821D6-BA31-4847-99C8-6213614C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" y="37211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从静态参考点依赖引出倒挂式毫米波雷达测振需求</a:t>
            </a:r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21B16E61-1BFE-4967-ADF2-76B426CA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1844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FA99B25-89BE-42A4-B968-0904145D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203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7334D253-35B6-4A12-AABE-93ABAFED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375" y="2082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294C42-3B80-48F6-9BAE-4570F4C5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925" y="29876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毫米波雷达位移测量原理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1033A70-AFE7-4B56-8529-6DC62C8A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525" y="37211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FMCW 测距、相位微位移、Range-Angle Map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BE864709-7967-409D-A2C6-F031856E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175" y="1844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0FD4BBC-CDFC-4AD3-AE1B-39B3C0D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175" y="203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8796D767-4675-4AC1-BF2B-64F38C28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675" y="2082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EBB99B-7EA9-41F0-BC43-A6C5ED72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225" y="29876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本文方法与关键创新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5CD34F8-FEF2-4D96-A9D9-445FC286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825" y="37211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多目标参考点、结构主相位 Kalman、转换系数自举</a:t>
            </a:r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74EE7984-AF99-4CF5-9E49-CDE7DA04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475" y="1844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55A078E-1CC3-44E9-9555-73A1F334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475" y="203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93E5309-E8AF-43FE-8FEB-9F3B10C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525" y="29876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41AFAA4-EDA2-4B48-87B5-DE3B1198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125" y="37211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主场景、对比方法、RMSE 表格与关键图像</a:t>
            </a:r>
          </a:p>
        </p:txBody>
      </p:sp>
    </p:spTree>
    <p:extLst>
      <p:ext uri="{BB962C8B-B14F-4D97-AF65-F5344CB8AC3E}">
        <p14:creationId xmlns:p14="http://schemas.microsoft.com/office/powerpoint/2010/main" val="138219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969C345-2A5E-49B0-A25F-C85B79FD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35F6B31-22A9-451B-9C1E-8E938CBF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0D5CE43-EE66-4ED7-83A5-02A0913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24115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研究背景：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高精度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结构位移监测需要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安装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在静态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参考点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998006C-2972-4A4D-AF17-BDD27291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B4A0F70-D9B5-4091-A2B0-26067A54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367B62-81B1-4D53-8C50-384FC40A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1CF935F-A669-4469-AC2B-F517D885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85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桥梁与磁浮轨道梁位移响应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9B9950-C1FC-46AD-B995-27681831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动态位移直接反映结构刚度、车辆荷载响应与服役状态</a:t>
            </a: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08B5DD36-B570-4A69-96F6-E1F2B81D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57300"/>
            <a:ext cx="539877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4FAFD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E58F79E-5FD4-46EF-986A-EF797AB0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传统位移测量的现场约束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CD5E337-316B-48CC-B4AE-7E7B324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FE12CD5-41CC-4034-8005-134D2890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240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5656790-437E-444C-BBAC-AE0C9D78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499E826-8858-449D-BB21-C70CC413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240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主要依赖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1539095-A63F-4DD4-B000-B014407B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A2BD22E-DDA2-4E14-BCC3-5B17F39F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240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现场局限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5AB6711-CFC9-4F8D-868E-61AF3B4E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812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772CC3B-A5A3-4AD2-BD53-861E3EF2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激光/LVDT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0E8255C-A5D4-4E73-9E82-2E856181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812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7A28645-330F-4080-B7A2-5096A02D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574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稳定基准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21BB552-34F3-47A8-9728-2109BB5F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812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A39713C-8AFA-4652-9573-9ECFD5E9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574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布设空间与安全约束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52B99D5-D179-408A-AC49-E04A7FBE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8E28424-D994-4C66-BD95-6B797698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视觉测量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E93C1AB-E510-43E7-9B17-80E14E12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146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155559F-F10A-415E-92F1-B220F798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908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固定相机/视线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4513123-1639-4FC0-B9EF-2048993E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988375F-960C-498E-BDE4-C1714E1C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光照、遮挡与标靶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FBA3578-E4F6-45C6-8602-48827B2B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480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8D96463-8AB0-4B34-97BD-A2C32820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242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GNSS/组合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742B5F-AA37-412A-9F44-1089F52E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480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4F34B6F-05B7-48D6-A992-B413295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242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开阔天空/多源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AC59688-400A-4439-A39F-41DFD9E9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480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C7BD0E5-56FA-4BCA-808C-249882F3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242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精度与成本受限</a:t>
            </a: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937C9BD7-C723-4713-B533-172D419F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F49100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B83AA8B-FFEF-4E85-92DA-D712E03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8E499C0-2CE7-4794-8DEE-51DC260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931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核心矛盾：高精度位移测量通常需要静态参考点，而桥梁现场恰恰难以稳定布设参考点。</a:t>
            </a:r>
          </a:p>
        </p:txBody>
      </p:sp>
      <p:pic>
        <p:nvPicPr>
          <p:cNvPr id="77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eff13540c40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470" y="2809875"/>
            <a:ext cx="5114925" cy="19805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86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B1C119-620B-47F1-839F-3AAA9AF9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3BF52A4-CCB4-4523-9B58-6D0D07F9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58AA643-DB35-470E-A2E5-8209C33C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倒挂式毫米波雷达：关键挑战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D670736-F167-43F5-B72F-AFB2D01F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问题定义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0CBDEEB-FC50-4A99-B9FF-FAAC88BF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176773A-220A-4480-AA65-D140B040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73E8015-6C1D-417A-BBA4-4EC07BEF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ED652B-1DCB-407C-B52D-A6720EEF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梁体 / 磁浮轨道梁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E7FC795F-0094-4329-9447-643B8D62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1333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DFE1A98-575E-401A-9D7A-AE4E90C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雷达 +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加速度计</a:t>
            </a:r>
          </a:p>
        </p:txBody>
      </p:sp>
      <p:sp>
        <p:nvSpPr>
          <p:cNvPr id="12" name="等腰三角形 11">
            <a:extLst xmlns:a="http://schemas.openxmlformats.org/drawingml/2006/main">
              <a:ext uri="{FF2B5EF4-FFF2-40B4-BE49-F238E27FC236}">
                <a16:creationId xmlns:a16="http://schemas.microsoft.com/office/drawing/2014/main" id="{BC957D74-ABF1-425F-A249-7CF7DD11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5885"/>
            <a:ext cx="4705350" cy="27711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F2FB"/>
          </a:solidFill>
          <a:ln xmlns:a="http://schemas.openxmlformats.org/drawingml/2006/main" w="12383">
            <a:solidFill>
              <a:srgbClr val="009DD9"/>
            </a:solidFill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F81A9D29-15E9-4D31-97DE-BFA34836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E057196-7EE2-4884-8774-B7DC7558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76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T1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5347D07A-E109-4F79-B783-3AF9CF4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3555F9D-B58F-4DF9-AA4E-BBE1F810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T2</a:t>
            </a: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132D8EFB-047E-42EC-95FA-AFF8FDB6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440" y="4267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FA15F61-5DA0-41B0-BA52-C6B8D557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440" y="4381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7A010BF-FAF8-4367-BAD9-D1A287F3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环境静止散射体作为参考目标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15E0332D-748E-4E94-B3E1-F294245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F41AFD1-E136-4388-B0EF-28ED147A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461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FFC3BF8-9C59-4319-B9DD-CE0D848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 range bin 多角度混合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1C0B53C-840D-4715-BC99-682611D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57350"/>
            <a:ext cx="3810000" cy="493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复数相量叠加后相位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再通过拟合得到的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转换系数适配性差，导致精度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降低。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AED79F8C-8122-485F-8680-7E062098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87E150B-19D2-4F9E-B787-3114D14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141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669306-D522-4DA5-A6E8-04F3888A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717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丢失或退化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F4FB6D3-F455-4BDF-81F8-0F2A7EC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遮挡、低 SNR、移动干扰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导致精度降低、监测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不连续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DF6E3C30-D278-463E-B75B-ABA6FA4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1705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8ADA019-025A-49EA-9FE7-6B22EF3A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3056FC3-DEB4-414F-8F7B-FEEA45A5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385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phase wrapping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4CB0246-4C9E-4BF7-8E37-7B1967DC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909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毫米级强响应会导致相位跨越多个周期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，传统方法无法解决强包裹问题，现有方法的解缠步骤割裂，没能实现处理流程闭环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一体化。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320D75BA-5200-4048-8560-97F9375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5582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683E8A7-92F9-4812-A32D-98DE1138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249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4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116492F-B2D0-4449-9DD4-28E7264D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4629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转换系数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需人工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标定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DD26E2B-26DE-4C5B-A06F-8E179332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9872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传统用法要求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target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必须垂直于雷达，否则需要自己测量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的角度，安装使用非常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不方便。</a:t>
            </a:r>
          </a:p>
        </p:txBody>
      </p:sp>
    </p:spTree>
    <p:extLst>
      <p:ext uri="{BB962C8B-B14F-4D97-AF65-F5344CB8AC3E}">
        <p14:creationId xmlns:p14="http://schemas.microsoft.com/office/powerpoint/2010/main" val="1670509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EA00B4-C129-46AE-850E-353D0DBB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D7DC122-40E2-4379-BFB4-FE4750A9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183BA1C-7F9B-47A4-A1AC-E2E391F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从问题引出本文的三组创新设计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25D88F-CDAD-45FD-9B65-A6F30DE0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创新点总览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A9B2A-80B1-4EB8-B644-8D803697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7234916-E2EC-4B74-8E84-923111D7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4E6DC1E-61B7-4801-B20A-136A7C92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85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A78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3E5120A-2207-45FD-9829-690E0924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43050"/>
            <a:ext cx="3514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现场问题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EE2E91-7533-49D9-B33F-A9ED1189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3762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A78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C9B847C-56EB-465D-8AA7-9A7AF733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43050"/>
            <a:ext cx="3419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本文处理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8C0806A-401D-4A2C-97B4-4CEB36AE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A78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66033C1-F5A0-472D-8DE1-D57A0BEC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43050"/>
            <a:ext cx="1990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对应创新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D2BC20C-92C7-43D1-9D61-165A2A73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5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0A8D5B5-0D49-4012-BB76-B5AEF6A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514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同一距离单元多角度散射体混合，</a:t>
            </a:r>
          </a:p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target 退化或丢失（挑战 1、2）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6A8193-41E8-48F6-B755-C32E1F5B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3762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85B9114-EE85-4A7F-9DB2-6806210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90750"/>
            <a:ext cx="3419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Range-Angle 在线参考 target</a:t>
            </a:r>
          </a:p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提取、筛选与维护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7E4F8AC-FDB1-4D97-A180-D8A08104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DEA200E-518E-4270-92F3-931672E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1990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BCD8B36-4C7D-4280-942F-8D26CBA5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85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89DE36-A940-434D-9CC1-1BD01125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3514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强响应相位分支易错，</a:t>
            </a:r>
          </a:p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单目标 LoS 状态难融多 target（挑战 3）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C34526A-4576-4E33-A1CC-9DA4FA06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67050"/>
            <a:ext cx="3762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0B294C0-64C0-41E3-9020-781E084D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81350"/>
            <a:ext cx="3419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结构主相位多 target Kalman 融合</a:t>
            </a:r>
          </a:p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+ 预测辅助相位校正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E2128EC-8751-4885-A605-5823C0D0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6CDE3B7-0EE7-426D-AF3B-BD7CBA40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81350"/>
            <a:ext cx="1990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2D5CD31-A1E2-4645-B3CF-783EE74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385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751A338-65AF-473E-8BD0-FDC514F9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514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LoS 转换系数依赖人工测角/标定，</a:t>
            </a:r>
          </a:p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现场安装与 target 切换不便（挑战 4）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AD5359E-3DF2-48C4-9E1E-FD2BA943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57650"/>
            <a:ext cx="3762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3EA4025-F448-4B45-B1D1-C082AA40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71950"/>
            <a:ext cx="3419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AoA 几何初值</a:t>
            </a:r>
          </a:p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+ 转换系数在线自举修正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E7CDC69-6BB3-48F3-8178-97EC8352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A076AF7-EAB6-4069-884F-E985FA14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1990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3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49B7D1BA-4F2B-4650-83D2-B589FFBB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95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009FE3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6E191E9-12C1-43FB-BD2A-40717817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solidFill>
              <a:srgbClr val="009FE3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A14CCD8-7DC7-499A-9D3D-072A7B3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10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385F"/>
                </a:solidFill>
              </a:defRPr>
            </a:pPr>
            <a:r>
              <a:rPr sz="1425" b="1">
                <a:solidFill>
                  <a:srgbClr val="12385F"/>
                </a:solidFill>
              </a:rPr>
              <a:t>注：逐目标观测权重、自适应观测噪声等机制并入多目标 Kalman 融合框架中展开。</a:t>
            </a:r>
          </a:p>
        </p:txBody>
      </p:sp>
    </p:spTree>
    <p:extLst>
      <p:ext uri="{BB962C8B-B14F-4D97-AF65-F5344CB8AC3E}">
        <p14:creationId xmlns:p14="http://schemas.microsoft.com/office/powerpoint/2010/main" val="1572908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6391F2E-F188-4F92-B3B1-8F209BD8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92106B6-B8B2-4744-A600-2E29D39D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3449E88-BB6A-40A2-8F06-5E601A89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毫米波雷达位移测量基本原理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345D34-C9C6-46BB-BED0-E321A8A8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基础原理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B438C8E-79FC-4047-91DB-A8D011A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34CFA5E-B810-454E-BE63-E601E6E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B1DB958F-C3FB-4004-8E76-184D24AE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5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5916AF24-71AA-460B-BFCF-B32F8F5A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1425B66-02F0-43D1-B12A-6127E49E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E4130B1-2B63-41B0-93DD-539B264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FMCW 测距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AB61B2-51EB-4DD2-A12D-C4CA2EB6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发射线性调频信号，回波拍频用于估计距离单元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5A61925F-715F-489F-8E22-36FDD22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A8CBE338-D651-48A7-9F76-A239AD0E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CB88F32-A7E5-4901-8C59-862C72A4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B70FC7-E97D-425B-974B-0DC82137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相位微位移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236B70E-66D4-4B61-A3AC-2F735381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同一目标的斜距微小变化会引起回波相位变化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D971D19C-F998-493A-8EAF-37EBA5FF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8C5A66BD-A090-4F29-BF02-F98D30BA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6A034C-28A8-414C-8E3A-49A82EE7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B6A6896-9539-4EDC-BDAC-8F1BFFC8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相位缠绕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03FC209-4742-4CD7-9EF9-DBAAFC4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雷达输出主值相位存在周期限制，大位移需要解缠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88DE8F9F-6ACD-4A3D-A4ED-5D03F245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72000"/>
            <a:ext cx="8039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7A9CF15-DFDC-457F-A24D-10BC9F5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529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EAF7FC"/>
                </a:solidFill>
                <a:latin typeface="微软雅黑"/>
                <a:ea typeface="微软雅黑"/>
                <a:cs typeface="微软雅黑"/>
              </a:rPr>
              <a:t>77 GHz 波长约 3.9 mm，因此毫米级位移已经可能跨越多个相位周期。</a:t>
            </a:r>
          </a:p>
        </p:txBody>
      </p:sp>
      <p:sp>
        <p:nvSpPr>
          <p:cNvPr id="26" name="native-equation-6">
            <a:extLst xmlns:a="http://schemas.openxmlformats.org/drawingml/2006/main">
              <a:ext uri="{FF2B5EF4-FFF2-40B4-BE49-F238E27FC236}">
                <a16:creationId xmlns:a16="http://schemas.microsoft.com/office/drawing/2014/main" id="{C35EF150-2F6A-47F9-A273-9EBA360A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9171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𝛥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𝜑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4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𝜋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/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𝜆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𝛥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𝑑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293863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01627CA-9F92-446D-BC69-133CDE1C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BC508D3-9421-46C4-A25B-A1571666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9A8776-03E2-47CF-BC88-5C1664DB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ADC 到 Range-Angle Map：多目标参考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077EF05-FEC5-4CD2-9497-16D4A897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基础原理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1446ED2-AF99-4205-BB11-603D7753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AE4E7B9-DC2E-40F7-B24F-FF237DF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467FC0A-EF31-486D-B556-F14175BE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41B0A01-99EA-4B19-9AED-7EDA7E10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ADC cube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6404A731-BB36-4AE9-8438-685D06DC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F966FFB-DB1A-451B-92BE-34F8DCD6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2A6ABC5-6523-4C2B-8642-03679772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 FFT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D07F6137-9F3D-4DFD-9F95-B5B913B6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875A86A9-42C5-49F1-9AEB-E8DFFAA0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91C6283-FF08-4C85-A5B5-F2223176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Angle FFT / DBF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0442A009-E6EB-4310-90AF-8D525227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37A9F92E-2A77-4AF8-AB5A-AE02191E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50D34F-072F-43F9-B77A-FED1CE15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Map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C1D4050-0EE1-4E6B-BBD1-0007AAEF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 range-bin 方法只保留距离维度，容易混合同距离不同角度散射体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Range-Angle Map 在距离和角度二维空间检测候选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后续 Kalman 接收的是筛选后的 target wrapped phase，而不是理想真值相位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4BA2ADAF-B929-44DD-A974-497D108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715" y="2331085"/>
            <a:ext cx="5931535" cy="4167505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42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43c80d5ca4f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35600" y="2565400"/>
            <a:ext cx="5565775" cy="3409315"/>
          </a:xfrm>
          <a:prstGeom xmlns:a="http://schemas.openxmlformats.org/drawingml/2006/main" prst="rect">
            <a:avLst/>
          </a:prstGeom>
        </p:spPr>
      </p:pic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FBC2D95-47B7-43F4-BFCE-B6199BBC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587756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示例：vehicle event 场景下的二维 Range-Angle Map 与候选 target</a:t>
            </a:r>
          </a:p>
        </p:txBody>
      </p:sp>
    </p:spTree>
    <p:extLst>
      <p:ext uri="{BB962C8B-B14F-4D97-AF65-F5344CB8AC3E}">
        <p14:creationId xmlns:p14="http://schemas.microsoft.com/office/powerpoint/2010/main" val="9914490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82668AA-39D6-4AEC-AFA5-9F64733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F7FAFF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37AA7E7-F055-40DF-A945-DAA4E8B8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86"/>
          </a:solidFill>
          <a:ln xmlns:a="http://schemas.openxmlformats.org/drawingml/2006/main" w="0">
            <a:solidFill>
              <a:srgbClr val="0E4A8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C434764-3826-4DDB-80EB-E1D932DE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9"/>
          </a:solidFill>
          <a:ln xmlns:a="http://schemas.openxmlformats.org/drawingml/2006/main" w="0">
            <a:solidFill>
              <a:srgbClr val="7AA7D9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A0101A-DD2D-46E7-B0D5-D43FCE2A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B2F5B"/>
                </a:solidFill>
              </a:defRPr>
            </a:pPr>
            <a:r>
              <a:rPr sz="2550" b="1">
                <a:solidFill>
                  <a:srgbClr val="0B2F5B"/>
                </a:solidFill>
              </a:rPr>
              <a:t>转换系数为何要在 Range-Angle target 上估计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4EA0FF3-9B13-445C-9468-CEE21BA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4B6380"/>
                </a:solidFill>
              </a:defRPr>
            </a:pPr>
            <a:r>
              <a:rPr sz="1350" b="1">
                <a:solidFill>
                  <a:srgbClr val="4B6380"/>
                </a:solidFill>
              </a:rPr>
              <a:t>前置理论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8356E5-23F4-428D-90F0-2E94958A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B7F99"/>
                </a:solidFill>
              </a:defRPr>
            </a:pPr>
            <a:r>
              <a:rPr sz="1200">
                <a:solidFill>
                  <a:srgbClr val="6B7F99"/>
                </a:solidFill>
              </a:rPr>
              <a:t>08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09CC99-8232-46A9-A2AA-ED617960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A"/>
          </a:solidFill>
          <a:ln xmlns:a="http://schemas.openxmlformats.org/drawingml/2006/main" w="0">
            <a:solidFill>
              <a:srgbClr val="C8D8E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2E9C2A-2E34-40EE-8760-2D139FD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40566F"/>
                </a:solidFill>
              </a:defRPr>
            </a:pPr>
            <a:r>
              <a:rPr sz="1425">
                <a:solidFill>
                  <a:srgbClr val="40566F"/>
                </a:solidFill>
              </a:rPr>
              <a:t>range bin 总相位可能由多个散射体叠加而成；直接拟合得到的转换系数可能只是混合等效系数。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D7DD8DE3-068D-4848-AB02-5DC7025E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3286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2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260873E-81E7-4F97-892B-483FD8DA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B8"/>
          </a:solidFill>
          <a:ln xmlns:a="http://schemas.openxmlformats.org/drawingml/2006/main" w="0">
            <a:solidFill>
              <a:srgbClr val="1D6FB8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C748EB4-E1BB-449B-A618-1B84F854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E3A6D"/>
                </a:solidFill>
              </a:defRPr>
            </a:pPr>
            <a:r>
              <a:rPr sz="1575" b="1">
                <a:solidFill>
                  <a:srgbClr val="0E3A6D"/>
                </a:solidFill>
              </a:rPr>
              <a:t>1 复合散射响应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31354CE-D97C-4457-923A-FD58EFBA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65">
                <a:solidFill>
                  <a:srgbClr val="50627A"/>
                </a:solidFill>
              </a:defRPr>
            </a:pPr>
            <a:r>
              <a:rPr sz="1165">
                <a:solidFill>
                  <a:srgbClr val="50627A"/>
                </a:solidFill>
              </a:rPr>
              <a:t>同一观测单元内的多个散射体具有不同 LoS 投影系数 ηℓ，总相位不是单一物理点相位。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753C285C-58C7-4D29-B5E4-44EB869F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286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2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DBB0FF9-929E-47C0-9A44-89A0252E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3"/>
          </a:solidFill>
          <a:ln xmlns:a="http://schemas.openxmlformats.org/drawingml/2006/main" w="0">
            <a:solidFill>
              <a:srgbClr val="2F8F83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8DBB717-90D9-4780-9420-4ED2DFEE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240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E3A6D"/>
                </a:solidFill>
              </a:defRPr>
            </a:pPr>
            <a:r>
              <a:rPr sz="1575" b="1">
                <a:solidFill>
                  <a:srgbClr val="0E3A6D"/>
                </a:solidFill>
              </a:rPr>
              <a:t>2 稳定等效条件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EB9A9EC-3AAC-40D9-8DDB-509B81EA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65">
                <a:solidFill>
                  <a:srgbClr val="50627A"/>
                </a:solidFill>
              </a:defRPr>
            </a:pPr>
            <a:r>
              <a:rPr sz="1165">
                <a:solidFill>
                  <a:srgbClr val="50627A"/>
                </a:solidFill>
              </a:rPr>
              <a:t>角度接近或单一散射体占主导时，观测单元可以作为等效 target 使用，固定转换系数近似有效。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1F6F86C-7E88-4091-A749-1D8472F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2F5B"/>
                </a:solidFill>
              </a:defRPr>
            </a:pPr>
            <a:r>
              <a:rPr sz="1800" b="1">
                <a:solidFill>
                  <a:srgbClr val="0B2F5B"/>
                </a:solidFill>
              </a:rPr>
              <a:t>Range-Angle 处理规则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91A777DC-1094-4183-8CA9-7B1C5879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14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AD8EC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1545571-A5B2-42BC-A231-38B802DC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E3A6D"/>
                </a:solidFill>
              </a:defRPr>
            </a:pPr>
            <a:r>
              <a:rPr sz="1275" b="1">
                <a:solidFill>
                  <a:srgbClr val="0E3A6D"/>
                </a:solidFill>
              </a:rPr>
              <a:t>角度近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7E19F7F-3160-48D8-BD67-CE8A509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合并为一个等效 angle cluster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58466B0E-612E-4479-9CF8-728E5892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314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BF8"/>
          </a:solidFill>
          <a:ln xmlns:a="http://schemas.openxmlformats.org/drawingml/2006/main" w="9525">
            <a:solidFill>
              <a:srgbClr val="CAD8EC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775061C-ED40-4BDB-B64F-4AC20C6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E3A6D"/>
                </a:solidFill>
              </a:defRPr>
            </a:pPr>
            <a:r>
              <a:rPr sz="1275" b="1">
                <a:solidFill>
                  <a:srgbClr val="0E3A6D"/>
                </a:solidFill>
              </a:rPr>
              <a:t>角度远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C5BE4DB-7E3D-4C7F-B1CA-AD9E5F82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在 range-angle map 中拆开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0B678AB0-3C23-4AEA-9CF3-9E59A1A2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314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AD8EC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1B83C8-DC4B-4A3E-B739-F50E7236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A4A0D"/>
                </a:solidFill>
              </a:defRPr>
            </a:pPr>
            <a:r>
              <a:rPr sz="1275" b="1">
                <a:solidFill>
                  <a:srgbClr val="8A4A0D"/>
                </a:solidFill>
              </a:rPr>
              <a:t>仍不稳定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F7E7AB7-F48E-4A99-91B2-20F2A7E7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后续质量检查中降权或剔除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CC73FD1E-C51F-42D8-B9C0-9B79483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42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0E8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CB23A08-56DC-49B8-A667-AFF4B874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86"/>
          </a:solidFill>
          <a:ln xmlns:a="http://schemas.openxmlformats.org/drawingml/2006/main" w="0">
            <a:solidFill>
              <a:srgbClr val="0E4A8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AC71C2C-B886-465F-8794-E699FDA5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410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5B"/>
                </a:solidFill>
              </a:defRPr>
            </a:pPr>
            <a:r>
              <a:rPr sz="1500" b="1">
                <a:solidFill>
                  <a:srgbClr val="0B2F5B"/>
                </a:solidFill>
              </a:rPr>
              <a:t>推导结论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584C0FC-FFB0-473E-92AA-5D56BC13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33F"/>
                </a:solidFill>
              </a:defRPr>
            </a:pPr>
            <a:r>
              <a:rPr sz="1575">
                <a:solidFill>
                  <a:srgbClr val="10233F"/>
                </a:solidFill>
              </a:rPr>
              <a:t>转换系数不再直接作用于整个 range bin，而应作用于筛选后的 range-angle target。</a:t>
            </a:r>
          </a:p>
        </p:txBody>
      </p:sp>
      <p:sp>
        <p:nvSpPr>
          <p:cNvPr id="36" name="native-equation-8">
            <a:extLst xmlns:a="http://schemas.openxmlformats.org/drawingml/2006/main">
              <a:ext uri="{FF2B5EF4-FFF2-40B4-BE49-F238E27FC236}">
                <a16:creationId xmlns:a16="http://schemas.microsoft.com/office/drawing/2014/main" id="{1B22C7C4-6329-4695-BC86-3D6CE674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𝑧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𝑇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𝑞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𝛴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𝑐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𝑙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𝑒𝑥𝑝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−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𝑗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𝛾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𝜂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𝑙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𝑞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,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𝛾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4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𝜋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/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𝜆</m:t>
                  </m:r>
                </m:oMath>
              </m:oMathPara>
            </a14:m>
          </a:p>
        </p:txBody>
      </p:sp>
      <p:sp>
        <p:nvSpPr>
          <p:cNvPr id="37" name="native-equation-8">
            <a:extLst xmlns:a="http://schemas.openxmlformats.org/drawingml/2006/main">
              <a:ext uri="{FF2B5EF4-FFF2-40B4-BE49-F238E27FC236}">
                <a16:creationId xmlns:a16="http://schemas.microsoft.com/office/drawing/2014/main" id="{AB38134E-80FA-464C-90CD-37242A96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𝜂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1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≈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⋯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≈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𝜂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𝐿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≈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𝜂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𝑒𝑞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⇒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𝛽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𝑒𝑞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≈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1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/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𝜂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𝑒𝑞</m:t>
                      </m:r>
                    </m:sub>
                  </m:sSub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929039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D803438-6C93-4465-80FC-5528135C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EED549-E20C-4584-9D4F-42B40C85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D0DEC76-82D9-485B-8836-3E0DBA26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为什么不能只用单 range bin 相位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C291CEF-69C7-4318-8622-61B1DF7B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问题动机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E2FC5B-595E-4375-8433-D49B2178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2D73CDB-3EBC-4A24-83C7-74B525C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868DA8D3-B853-489B-A6A8-86E5FF67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5945"/>
            <a:ext cx="4095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32FE35-BD93-4772-BE05-04105D7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264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同一 range bin 内的相干混合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627DA07-D5BA-4604-B4CB-E7C1F4EB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3652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FF9"/>
          </a:solidFill>
          <a:ln xmlns:a="http://schemas.openxmlformats.org/drawingml/2006/main" w="11430">
            <a:solidFill>
              <a:srgbClr val="0F6FC6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73509E2-E83B-4F39-B1C5-7BA16A28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177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range bin 12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9E575998-0243-41CB-B437-3CF5CE0D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AF0127-51BC-4290-9F48-6358AFB1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8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0°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33D85160-12D9-44DE-97F3-31184F99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80105"/>
            <a:ext cx="209550" cy="22796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C211A1C4-752E-4E62-B8E0-8C6D6EBD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951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2B9B58C-CA39-47C5-A4DD-BF44F3CD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096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25°</a:t>
            </a: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1B9515BB-0748-4D0F-807A-C39FD0E7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6486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97AA32E1-1C87-474B-9416-FA18DE5C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FC43A9-E39B-4458-8EF0-C0E73DD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8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45°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D214D34E-BCB7-4F5D-8CB1-824A58B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565" y="3357880"/>
            <a:ext cx="209550" cy="26606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CEDBEFD-C070-42F2-82A5-F3A4C37B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4088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单 bin 复数相位来自多个 LoS 投影相位的相干叠加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B3DB113-A9E7-4AA2-BC80-63FB4794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带来的后果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07B3385-7A6E-4C3F-BEFD-1ABD811A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333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最强 range bin 不一定对应稳定物理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同距离不同角度目标会形成 pseudo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等效转换系数随散射状态漂移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强 wrapping 或 target 退化时误差被放大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28B3105E-7C18-4533-A452-BAFE435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0800"/>
            <a:ext cx="4333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E04C000-8454-4806-9068-4297F83C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08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EABD443-F725-450D-98C8-D21B604E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32555"/>
            <a:ext cx="4029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因此本文先在 Range-Angle 维度分离 target，再进入结构主相位融合。</a:t>
            </a:r>
          </a:p>
        </p:txBody>
      </p:sp>
    </p:spTree>
    <p:extLst>
      <p:ext uri="{BB962C8B-B14F-4D97-AF65-F5344CB8AC3E}">
        <p14:creationId xmlns:p14="http://schemas.microsoft.com/office/powerpoint/2010/main" val="204235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80BB7-0F78-4EAC-B536-62AF3C4B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A471027-964B-48E5-9413-6BF4ABC5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971D29-0C11-44EB-9DE5-FEAD5CFF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1：Range-Angle 多目标提取与筛选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EFA09E4-BF5B-41A8-BA6A-E4FB9523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F30BBA-863A-46D2-8E47-6F7F5DD4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16FF34-26FE-456C-B223-863ABB2F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B9A560FC-DD17-4EA2-B672-0FC008FF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F8CD66-22DD-4DF5-8106-656BDFFD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2D peak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检测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B92BC9EC-C5ED-4D93-BD98-76366BE7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83D9B9D-2530-4812-A8F4-A8287926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C45D1F3-35AD-4CA3-82BD-710AA177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近角度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合并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D498993A-E3C6-4405-868C-B4E596EE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D1267661-0F37-4D12-8A44-707A4491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A98E6DB-3AB1-49D3-91CD-39A11CD7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远角度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分离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3E953896-0C48-40CF-8645-B44CD1EB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43F60FE8-2D3F-48FA-9DC8-FBA89945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8CA594D-8827-4372-82C0-9990BCBD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presence / SNR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频带筛选</a:t>
            </a: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762B068D-AB22-41AB-AEDE-E0348885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AB23DBA-E4FB-4FA9-8D3B-096FDC3B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F02EA6-4F15-4AF5-AF52-B35D9C24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selected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DA3B306-C82F-4C52-AE52-63E47BA4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 range bin 且角度接近的 peak 合并为等效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 range bin 但角度差较大的 peak 保留为不同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通过 presence、SNR 与结构频带一致性剔除不稳定 target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7885C001-77DC-45B4-9474-F9224AB8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5524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51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cc48383414e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708" y="2619375"/>
            <a:ext cx="4233333" cy="2381250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0EEA97-D869-427A-B0A5-5CD4FF08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9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车辆事件场景：候选 target 的在线选择状态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E1ABD2C-D7C0-47B4-8A38-13A2D65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72125"/>
            <a:ext cx="904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A95549F-4BC1-4551-9163-A8C70904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4F3DAB3-FA4F-45BC-B18E-9039AC3A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05475"/>
            <a:ext cx="874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目标筛选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目的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是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过滤掉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坏 target 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防止进入</a:t>
            </a:r>
            <a:r>
              <a:t> Kalman </a:t>
            </a:r>
            <a:r>
              <a:t>滤波框架，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污染主状态。</a:t>
            </a:r>
          </a:p>
        </p:txBody>
      </p:sp>
    </p:spTree>
    <p:extLst>
      <p:ext uri="{BB962C8B-B14F-4D97-AF65-F5344CB8AC3E}">
        <p14:creationId xmlns:p14="http://schemas.microsoft.com/office/powerpoint/2010/main" val="555531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CD4E981-5AEF-46FC-88A3-D195FEC7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169C9BB-2703-48AA-A6BE-48E2216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45AD46E-C0D7-45AC-919D-E1ACB9C7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从单目标 LoS 相位到结构主相位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51599D3-A8CA-448F-81D1-B0E1B1D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CB1CC0A-01FB-4EE8-8E5D-321F1BAD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F9B76C6-DA3D-48BE-9F46-1694218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E345170-7D14-4FE5-9569-0D91F7BE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44767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A623AE5-E53F-40C9-9736-1EE7FF8C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Ma-family baseline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FC56FD-88EF-45BE-BA01-6B69F291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状态表示单个 target 的 LoS 连续相位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加速度需要映射到该 target 的 LoS 方向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多 target 需要围绕某一个目标状态组织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D3137E1-79CA-41EA-92B2-C87BBA1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76375"/>
            <a:ext cx="44767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3FAFE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D8571CE-6861-4483-95D0-5DFF579F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62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E322E30-4F50-463E-A344-03DC8B80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状态表示结构主振动方向连续相位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加速度直接预测结构主相位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各 target 差异进入观测矩阵 H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E775A5A5-EE53-4347-89C0-5956770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10001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2887846-8C31-4C75-87E8-F489771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86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91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49100"/>
                </a:solidFill>
                <a:latin typeface="微软雅黑"/>
                <a:ea typeface="微软雅黑"/>
                <a:cs typeface="微软雅黑"/>
              </a:rPr>
              <a:t>状态物理含义</a:t>
            </a:r>
            <a:r>
              <a:rPr sz="1200" b="1">
                <a:solidFill>
                  <a:srgbClr val="F49100"/>
                </a:solidFill>
                <a:latin typeface="微软雅黑"/>
                <a:ea typeface="微软雅黑"/>
                <a:cs typeface="微软雅黑"/>
              </a:rPr>
              <a:t>转变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1E7B74E4-1328-497E-9FC2-1EBDB5A9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4EE5DDB-9B92-4CE4-AFD3-89573746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361A0EC-8D92-428D-8750-4540432F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05475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关键转变：状态不再依附某个单一 target，而是表示所有 target 共同观测的结构主相位。</a:t>
            </a:r>
          </a:p>
        </p:txBody>
      </p:sp>
      <p:sp>
        <p:nvSpPr>
          <p:cNvPr id="23" name="native-equation-11">
            <a:extLst xmlns:a="http://schemas.openxmlformats.org/drawingml/2006/main">
              <a:ext uri="{FF2B5EF4-FFF2-40B4-BE49-F238E27FC236}">
                <a16:creationId xmlns:a16="http://schemas.microsoft.com/office/drawing/2014/main" id="{A3D58375-15BD-43DF-9393-E9CE706D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𝑥</m:t>
                      </m:r>
                    </m:e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𝑀𝑎</m:t>
                      </m:r>
                    </m:sup>
                  </m:sSup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[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𝜑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,</m:t>
                  </m:r>
                  <m:f>
                    <m:num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𝑑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𝜑</m:t>
                      </m:r>
                    </m:num>
                    <m:den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𝑑𝑡</m:t>
                      </m:r>
                    </m:den>
                  </m:f>
                  <m:s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]</m:t>
                      </m:r>
                    </m:e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𝑇</m:t>
                      </m:r>
                    </m:sup>
                  </m:sSup>
                </m:oMath>
              </m:oMathPara>
            </a14:m>
          </a:p>
        </p:txBody>
      </p:sp>
      <p:sp>
        <p:nvSpPr>
          <p:cNvPr id="24" name="native-equation-11">
            <a:extLst xmlns:a="http://schemas.openxmlformats.org/drawingml/2006/main">
              <a:ext uri="{FF2B5EF4-FFF2-40B4-BE49-F238E27FC236}">
                <a16:creationId xmlns:a16="http://schemas.microsoft.com/office/drawing/2014/main" id="{AFE67D1C-3CC9-4084-BB41-8D00F2F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𝑥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[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𝛩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,</m:t>
                  </m:r>
                  <m:f>
                    <m:num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𝑑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𝛩</m:t>
                      </m:r>
                    </m:num>
                    <m:den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𝑑𝑡</m:t>
                      </m:r>
                    </m:den>
                  </m:f>
                  <m:s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]</m:t>
                      </m:r>
                    </m:e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𝑇</m:t>
                      </m:r>
                    </m:sup>
                  </m:sSup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733543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A5CF9BC-AEBE-41BF-9CB4-416F0756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D148C7C-2A25-409B-84DB-6641FD54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4EC7C64-EAF3-48D2-AFEB-B627B034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2：结构主相位多目标 Kalman 融合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4DF2C2-9BA3-420D-B6DA-5D029B31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CD41DF3-2FEA-413F-9855-79E1393E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600599-2B52-430A-B66E-83752C28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CD2DD9B-5497-4D2E-AE85-71BA0278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多个 target 是同一结构状态的多通道观测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B5075B0D-EC0F-40B7-8539-41B63D2A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714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AFD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CDD23F11-60B3-4F86-A503-A11FB04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FD4BC00-5896-4C1C-8C5E-BF3BC950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T1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A138B493-3781-4A1C-8AF1-DBB28CE8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2E03C7B5-89CB-49AB-B54F-891F288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09CB24-91E7-4AC3-8999-82990648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T2</a:t>
            </a:r>
          </a:p>
        </p:txBody>
      </p:sp>
      <p:sp>
        <p:nvSpPr>
          <p:cNvPr id="18" name="右箭头 17">
            <a:extLst xmlns:a="http://schemas.openxmlformats.org/drawingml/2006/main">
              <a:ext uri="{FF2B5EF4-FFF2-40B4-BE49-F238E27FC236}">
                <a16:creationId xmlns:a16="http://schemas.microsoft.com/office/drawing/2014/main" id="{E2D71DA1-DF16-420C-A737-D7AFFEE6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5B922ED7-D3F7-410F-BA5F-C563140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FBC8B85-FE33-4D81-9D3D-790552F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T3</a:t>
            </a:r>
          </a:p>
        </p:txBody>
      </p:sp>
      <p:sp>
        <p:nvSpPr>
          <p:cNvPr id="21" name="右箭头 20">
            <a:extLst xmlns:a="http://schemas.openxmlformats.org/drawingml/2006/main">
              <a:ext uri="{FF2B5EF4-FFF2-40B4-BE49-F238E27FC236}">
                <a16:creationId xmlns:a16="http://schemas.microsoft.com/office/drawing/2014/main" id="{F32679F8-7484-43BC-BAED-688BB064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8B952C5-B271-4721-A937-1FFAF101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A472C6-EA19-486E-B7CE-6D616A37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7177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结构主相位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Kalman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27F54FA-00A1-4261-A76A-DFE01E3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863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逐目标观测权重位于这里：根据观测质量调整每个 target 的更新权重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1115979B-480D-48A8-A05D-80D7500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A2210D1-B32B-4C8B-B6EB-76041074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C0432D5-F411-4166-B895-D3B4C365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不是多个 target 各自反算位移后平均，而是在相位状态层统一融合。</a:t>
            </a:r>
          </a:p>
        </p:txBody>
      </p:sp>
      <p:sp>
        <p:nvSpPr>
          <p:cNvPr id="31" name="native-equation-12">
            <a:extLst xmlns:a="http://schemas.openxmlformats.org/drawingml/2006/main">
              <a:ext uri="{FF2B5EF4-FFF2-40B4-BE49-F238E27FC236}">
                <a16:creationId xmlns:a16="http://schemas.microsoft.com/office/drawing/2014/main" id="{8EA72175-72E9-4992-898A-9C26B6FC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41910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𝑧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𝜅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</m:sub>
                  </m:sSub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𝛩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+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𝑏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+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𝑣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</m:sSub>
                </m:oMath>
              </m:oMathPara>
            </a14:m>
          </a:p>
        </p:txBody>
      </p:sp>
      <p:sp>
        <p:nvSpPr>
          <p:cNvPr id="32" name="native-equation-12">
            <a:extLst xmlns:a="http://schemas.openxmlformats.org/drawingml/2006/main">
              <a:ext uri="{FF2B5EF4-FFF2-40B4-BE49-F238E27FC236}">
                <a16:creationId xmlns:a16="http://schemas.microsoft.com/office/drawing/2014/main" id="{16158B40-A1EC-4EB9-ABAA-5B4925EE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6164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𝐻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[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𝜅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,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0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]</m:t>
                  </m:r>
                </m:oMath>
              </m:oMathPara>
            </a14:m>
          </a:p>
        </p:txBody>
      </p:sp>
      <p:sp>
        <p:nvSpPr>
          <p:cNvPr id="33" name="native-equation-12">
            <a:extLst xmlns:a="http://schemas.openxmlformats.org/drawingml/2006/main">
              <a:ext uri="{FF2B5EF4-FFF2-40B4-BE49-F238E27FC236}">
                <a16:creationId xmlns:a16="http://schemas.microsoft.com/office/drawing/2014/main" id="{9D1392E0-4D47-469C-B0AB-517310B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14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𝛩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4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𝜋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/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𝜆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𝛿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𝑞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</m:sSub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9588052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CFA2CFC-1D42-4D9C-A456-1AFFC95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631A134-CF9B-497E-92B3-0C62AFAF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C7B86E-2A04-4768-A4CF-4C5A005E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预测辅助相位校正：解决强 wrapping 下的分支选择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B349B9-0A65-4291-B4A9-5F31BB6F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0075C6-54DB-4406-AD61-D57AB19E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994176D-98D4-4F54-9BA9-5E5D0E9E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8C087FD8-1AD2-42F2-A6B0-8D03E819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191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7070420-59A9-4E28-B6B8-90EF3D71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00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校正思想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9920ED9-4463-47DA-8CB0-5503C2A4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加速度驱动的结构主相位预测先映射到每个 target 的 LoS 相位，再选择 wrapped phase 的最近分支。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6F14184-8B0F-46D9-90B9-22506AB9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14450"/>
            <a:ext cx="5715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34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d326ce4514e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601391"/>
            <a:ext cx="5429250" cy="3121819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2AC425-88FD-451F-9B5C-21ED4A5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strong wrapping 场景：wrapped phase、校正相位与真实 LoS phase 对比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225EA971-7384-442A-A4CC-00A45023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9429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48080E5-DA3A-40F8-8EFD-DC1B98F3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C6FE203-1118-4101-BC5A-986D3F07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48350"/>
            <a:ext cx="912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结果层面：本文方法在 strong wrapping 场景 RMSE 为 0.0143 mm，解缠错误率为 0。</a:t>
            </a:r>
          </a:p>
        </p:txBody>
      </p:sp>
      <p:sp>
        <p:nvSpPr>
          <p:cNvPr id="21" name="native-equation-13">
            <a:extLst xmlns:a="http://schemas.openxmlformats.org/drawingml/2006/main">
              <a:ext uri="{FF2B5EF4-FFF2-40B4-BE49-F238E27FC236}">
                <a16:creationId xmlns:a16="http://schemas.microsoft.com/office/drawing/2014/main" id="{30A1A262-523F-4EC1-BD70-1C2AB325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𝜑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−</m:t>
                      </m:r>
                    </m:sup>
                  </m:sSubSup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𝜅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</m:sub>
                  </m:sSub>
                  <m:sSub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𝛩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−</m:t>
                      </m:r>
                    </m:sup>
                  </m:sSubSup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+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𝑏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</m:sub>
                  </m:sSub>
                </m:oMath>
              </m:oMathPara>
            </a14:m>
          </a:p>
        </p:txBody>
      </p:sp>
      <p:sp>
        <p:nvSpPr>
          <p:cNvPr id="22" name="native-equation-13">
            <a:extLst xmlns:a="http://schemas.openxmlformats.org/drawingml/2006/main">
              <a:ext uri="{FF2B5EF4-FFF2-40B4-BE49-F238E27FC236}">
                <a16:creationId xmlns:a16="http://schemas.microsoft.com/office/drawing/2014/main" id="{C8FD1467-EB70-4116-AC2C-3759F33A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𝑧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𝑐𝑜𝑟𝑟</m:t>
                      </m:r>
                    </m:sup>
                  </m:sSubSup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𝜓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+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2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𝜋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𝑟𝑜𝑢𝑛𝑑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sSub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𝜑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−</m:t>
                      </m:r>
                    </m:sup>
                  </m:sSubSup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−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𝜓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/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2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𝜋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4894886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04041CB-7285-41F5-9E35-F95875AB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55B37A-5CD0-4FF9-ADC6-A7817CF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52ED715-9FEB-4096-AEFE-A867CB72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3：AoA 冷启动与转换系数在线自举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D506714-774F-404A-AE4D-BED3ADA1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F1D2A65-50BE-4597-AA01-70F49C0B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3BB0C7C-8CC7-4D12-B7A5-6C6B0A07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1056728-54EC-4D91-A031-C5BE65DF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60E0F2F9-0FA9-456B-ABAE-1F95E61D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6954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5B402DAB-E9ED-4033-B229-4550D116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9CF8839A-EBEB-49D1-9AA2-F3793495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954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7A0B7B48-4DB1-4E72-9823-8C4C7BB7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C305543-D616-48DE-AB13-BC05FCE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短窗口 LS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更新转换系数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CD29DCA-7442-411B-B57B-4A3E80C0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AoA 只提供可启动的几何初值，不作为最终固定转换系数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校正后的目标观测同时用于 Kalman 更新与转换系数自举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转换系数不确定时降低对应 target 的观测权重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616D290-DE27-4A6B-97D6-4E6A1661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85875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46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2b4e2625144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1836491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704F957-190F-40DE-9386-8BCC3C28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AoA 初值误差场景：转换系数在线估计逐步收敛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65FBBCA8-ED62-4A5C-98A1-6968A290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9810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04B3087-CB6B-4650-B9D7-4AF30E56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F2EC7A-9969-4F34-B83F-1D857C35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48350"/>
            <a:ext cx="950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在 AoA 初值误差场景，固定转换系数基线 RMSE 为 0.0540 mm；本文方法 RMSE 为 0.0153 mm。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6348473-50CB-442A-B6AC-42AADDC9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9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AoA cold start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16F35A4-B838-4116-A82B-D2793E9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09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预测校正相位</a:t>
            </a:r>
          </a:p>
        </p:txBody>
      </p:sp>
      <p:sp>
        <p:nvSpPr>
          <p:cNvPr id="29" name="native-equation-14">
            <a:extLst xmlns:a="http://schemas.openxmlformats.org/drawingml/2006/main">
              <a:ext uri="{FF2B5EF4-FFF2-40B4-BE49-F238E27FC236}">
                <a16:creationId xmlns:a16="http://schemas.microsoft.com/office/drawing/2014/main" id="{F1091C58-8BE7-47FE-87D0-4576762A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𝜅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0</m:t>
                      </m:r>
                    </m:sub>
                  </m:sSub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𝑐𝑜𝑠</m:t>
                  </m:r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𝜃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</m:sub>
                  </m:sSub>
                </m:oMath>
              </m:oMathPara>
            </a14:m>
          </a:p>
        </p:txBody>
      </p:sp>
      <p:sp>
        <p:nvSpPr>
          <p:cNvPr id="30" name="native-equation-14">
            <a:extLst xmlns:a="http://schemas.openxmlformats.org/drawingml/2006/main">
              <a:ext uri="{FF2B5EF4-FFF2-40B4-BE49-F238E27FC236}">
                <a16:creationId xmlns:a16="http://schemas.microsoft.com/office/drawing/2014/main" id="{DEF241E1-F3FB-4822-B78C-7E74B401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9070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𝑧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𝑘</m:t>
                      </m:r>
                    </m:sub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𝑐𝑜𝑟𝑟</m:t>
                      </m:r>
                    </m:sup>
                  </m:sSubSup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622736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0D9061D-F269-4262-86C5-2E5A475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292C9C3-661F-4D82-9E78-467AA707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9FECD6B-A37B-4704-8ED1-6D62B5DC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完整算法流程框图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EE987A5-3762-482F-98D4-D1B90ED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89E84EC-912B-461A-B1B0-CDA0264B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1FE747D-2EDE-4CDF-A1F7-15BD1C9A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9D21343-0593-411E-857B-EDF186A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E0B7CE2-C085-4823-9BCB-44E6CDFF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Radar ADC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68D37406-FF99-428A-898F-D477BC76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B789ABD-2BE1-4440-BA46-84B81FF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F5A114E-888E-44EE-8D06-8270F27C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 FFT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Angle FFT / DBF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380225DF-8D96-4815-ADA7-CF86A9DA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F19A4A6-CE7D-45DE-898D-7FAEF872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5FFCC01-BD9B-4DDE-95AE-3DFD1EF4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2D peak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targets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A17C9338-5F0F-4FF9-AA1A-9771169E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EF40553-7DA2-4780-A06A-11D091C0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DFDE453-75C1-43BD-B711-8C048E43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selection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presence / SNR / band</a:t>
            </a: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A3F135D3-049C-4940-AE4F-DB36AD46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B64BED99-F441-4EF9-BC17-6A9F9985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22" name="右箭头 21">
            <a:extLst xmlns:a="http://schemas.openxmlformats.org/drawingml/2006/main">
              <a:ext uri="{FF2B5EF4-FFF2-40B4-BE49-F238E27FC236}">
                <a16:creationId xmlns:a16="http://schemas.microsoft.com/office/drawing/2014/main" id="{DED30BC0-E93F-4F93-89B4-892E3E49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22437A18-6E57-4091-A5B6-A6CE8D5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736879B-4CEF-4B21-8630-6015C179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Structural-main-phase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Kalman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A8D110C5-DB41-40A6-B93E-29226AAF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EEFF52DE-87E5-480A-A31F-D5AD0F94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F49100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B3D9A14-A7AF-48F9-842F-92049DA9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Prediction-aided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phase correction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ECB96A62-1467-40AD-9708-B98491C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320E4B6-E48E-4ACB-B475-ACD45CD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转换系数在线自举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逐目标观测权重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38424104-8290-41F5-92AC-A50AC784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6192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33" name="右箭头 32">
            <a:extLst xmlns:a="http://schemas.openxmlformats.org/drawingml/2006/main">
              <a:ext uri="{FF2B5EF4-FFF2-40B4-BE49-F238E27FC236}">
                <a16:creationId xmlns:a16="http://schemas.microsoft.com/office/drawing/2014/main" id="{B3B79DC7-05DA-4516-96DE-8D2F7833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右箭头 33">
            <a:extLst xmlns:a="http://schemas.openxmlformats.org/drawingml/2006/main">
              <a:ext uri="{FF2B5EF4-FFF2-40B4-BE49-F238E27FC236}">
                <a16:creationId xmlns:a16="http://schemas.microsoft.com/office/drawing/2014/main" id="{164B04D6-0FD6-4D4A-A2CA-F28C4149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337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右箭头 34">
            <a:extLst xmlns:a="http://schemas.openxmlformats.org/drawingml/2006/main">
              <a:ext uri="{FF2B5EF4-FFF2-40B4-BE49-F238E27FC236}">
                <a16:creationId xmlns:a16="http://schemas.microsoft.com/office/drawing/2014/main" id="{763466E3-1EB3-4111-A6AC-F852EB54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0C62658-D386-4563-868C-1613B46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47875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102EE36-704B-4900-8771-3A4AB028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E7A1466-40C6-4CDD-BD94-669C8940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8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Kalman 闭环：预测、分支校正、更新、转换系数与观测权重更新</a:t>
            </a: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4895A8C7-C5F7-47FD-92DC-AF98B0D5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0"/>
            <a:ext cx="866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9A3AD5C-D1E6-4CD5-9312-EA6EDBF7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Phase 1 验证重点：synthetic ADC / Range-Angle 前端 + selected targets + 结构主相位融合的完整算法闭环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446E601-23B5-4739-A864-4CE63C63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AoA cold start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8ABE0DE-EE65-429A-9086-55BD68A3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33F"/>
                </a:solidFill>
              </a:defRPr>
            </a:pPr>
            <a:r>
              <a:rPr sz="900" b="1">
                <a:solidFill>
                  <a:srgbClr val="10233F"/>
                </a:solidFill>
              </a:rPr>
              <a:t>Acceleration input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57A2E807-C491-4FD2-983B-616F0F87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76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33F"/>
                </a:solidFill>
              </a:defRPr>
            </a:pPr>
            <a:r>
              <a:rPr sz="900" b="1">
                <a:solidFill>
                  <a:srgbClr val="10233F"/>
                </a:solidFill>
              </a:rPr>
              <a:t>Displacement output</a:t>
            </a:r>
          </a:p>
        </p:txBody>
      </p:sp>
      <p:sp>
        <p:nvSpPr>
          <p:cNvPr id="49" name="native-equation-15">
            <a:extLst xmlns:a="http://schemas.openxmlformats.org/drawingml/2006/main">
              <a:ext uri="{FF2B5EF4-FFF2-40B4-BE49-F238E27FC236}">
                <a16:creationId xmlns:a16="http://schemas.microsoft.com/office/drawing/2014/main" id="{D75ABE90-AAD3-4040-95B8-57013BB8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𝜅</m:t>
                      </m:r>
                    </m:e>
                    <m:sub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𝑖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,</m:t>
                      </m:r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0</m:t>
                      </m:r>
                    </m:sub>
                  </m:sSub>
                </m:oMath>
              </m:oMathPara>
            </a14:m>
          </a:p>
        </p:txBody>
      </p:sp>
      <p:sp>
        <p:nvSpPr>
          <p:cNvPr id="50" name="native-equation-15">
            <a:extLst xmlns:a="http://schemas.openxmlformats.org/drawingml/2006/main">
              <a:ext uri="{FF2B5EF4-FFF2-40B4-BE49-F238E27FC236}">
                <a16:creationId xmlns:a16="http://schemas.microsoft.com/office/drawing/2014/main" id="{88EB05A9-F4A9-4859-9B58-6253FE29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𝑥</m:t>
                      </m:r>
                    </m:e>
                    <m:sup>
                      <m:r>
                        <a:rPr xmlns:a="http://schemas.openxmlformats.org/drawingml/2006/main">
                          <a:latin typeface="DejaVu Math TeX Gyre"/>
                          <a:ea typeface="DejaVu Math TeX Gyre"/>
                          <a:cs typeface="DejaVu Math TeX Gyre"/>
                        </a:rPr>
                        <m:t>−</m:t>
                      </m:r>
                    </m:sup>
                  </m:sSup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𝐴𝑥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+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𝐵𝑎</m:t>
                  </m:r>
                </m:oMath>
              </m:oMathPara>
            </a14:m>
          </a:p>
        </p:txBody>
      </p:sp>
      <p:sp>
        <p:nvSpPr>
          <p:cNvPr id="51" name="native-equation-15">
            <a:extLst xmlns:a="http://schemas.openxmlformats.org/drawingml/2006/main">
              <a:ext uri="{FF2B5EF4-FFF2-40B4-BE49-F238E27FC236}">
                <a16:creationId xmlns:a16="http://schemas.microsoft.com/office/drawing/2014/main" id="{D7BDDBD7-6FEB-4301-942E-1072495F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76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0233F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𝛿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𝑞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=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𝜆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/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(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4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𝜋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)</m:t>
                  </m:r>
                  <m:r>
                    <a:rPr xmlns:a="http://schemas.openxmlformats.org/drawingml/2006/main">
                      <a:latin typeface="DejaVu Math TeX Gyre"/>
                      <a:ea typeface="DejaVu Math TeX Gyre"/>
                      <a:cs typeface="DejaVu Math TeX Gyre"/>
                    </a:rPr>
                    <m:t>𝛩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8489522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5249530-8434-4C5E-8EF5-3D87ECB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B2E0ABC-9B4F-4BDA-82A2-37FA0313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F895F3-4D4D-46B8-8D50-4D8125E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Phase 1 仿真实验设计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99D77C2-76A0-49E3-93F7-2A0DFB3A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4F3CDE1-F342-4BFD-866F-978EC3F6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06425D-55F3-4E03-A5C7-8A429CDC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957BF86-B0B5-44CA-B60E-38ED8377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六个主实验场景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C2FB9CA-E240-4A42-ACBB-A5966B0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1A8F46C-DE71-40A5-8914-00943380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文献主频磁浮梁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58C15BF-8AFD-4671-90D2-8D69520C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7.7737 / 11.5742 / 26.5642 Hz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88C6D21-EFC6-48A4-AF92-DA0D37F6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FFEA600-7084-48D1-B55F-B30E557A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954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强相位缠绕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99F38E1-18F3-4DC2-89D4-8BE4C968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71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约 5 mm 峰值位移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69AAF99-9DC8-4FB5-B6E7-AF1E801B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7E78E16-0754-4F49-B6CD-76233410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 range 远角度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7DA403-DD01-45D4-AC0E-D6C1C47D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 angle-bin 分离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1E066503-FE63-43AC-83DF-04FD1607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E85D4E0-F9F1-4E54-BC81-D214864F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95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AoA 初值误差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B1A2470-ED09-4F63-B3FB-E390C7AB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718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验证转换系数自举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8CFF3D9C-F848-4957-8C04-1D50AF2E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B4D976D-5191-43BE-BAC7-C609FC21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SNR drop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5F127D8-7C54-4F81-A709-85E6C5B4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验证坏目标降权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A5A75B75-CD95-4771-A288-495EA534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2DBCC8E-4D69-44EC-98BF-4BB4ECCB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957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车辆非平稳事件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F2616D4-A1FA-41FE-913D-742175DF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719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验证完整闭环运行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942330E-33D3-4860-954A-93F234CF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57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默认主对比方法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8372DD49-8E69-4EEF-AA27-1A9934B0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90700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CCCB799-704A-429B-A94F-CD6AF9BC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Range-bin Itoh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E93FD33-B09B-4AA8-8F83-D3933D6E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 range-bin phase + Itoh unwrap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89C6FDD8-BB11-4496-B65D-7E6EA29C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81275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87F8DC5-2FB0-4665-866F-FF585D96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765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Ma2026 reproduction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EAF5741-949A-4487-909D-AE3EB512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05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正式 Ma-family staged baseline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F7DC7BA6-A185-4CE9-803B-B6536B90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1C9B436-EB93-4D75-9FDE-1FB3EA2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Selected AoA fixed coefficient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2DF843E-4D33-447C-A891-D11BC689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957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筛选 target + 固定 AoA 转换系数</a:t>
            </a: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946E529F-3EB3-489D-8422-974E96A5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62425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10478">
            <a:solidFill>
              <a:srgbClr val="0F6FC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16B19BD-1CD4-4857-A4C8-376F8653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57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6FC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6FC6"/>
                </a:solidFill>
                <a:latin typeface="微软雅黑"/>
                <a:ea typeface="微软雅黑"/>
                <a:cs typeface="微软雅黑"/>
              </a:rPr>
              <a:t>Proposed full pipeline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284FF82-2D67-4F0E-AE1B-7793E840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862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本文完整链路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9E990438-AD7F-4969-A99E-87D31289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923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F49100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01D337A-A18E-4BEF-AF3F-C3142D5C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072EF0C-8284-479E-BACA-AC487AE7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4835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边界：当前为算法级 synthetic ADC / Range-Angle 验证，不声称完成真实 IWR1843 ADC 实测闭环。</a:t>
            </a:r>
          </a:p>
        </p:txBody>
      </p:sp>
    </p:spTree>
    <p:extLst>
      <p:ext uri="{BB962C8B-B14F-4D97-AF65-F5344CB8AC3E}">
        <p14:creationId xmlns:p14="http://schemas.microsoft.com/office/powerpoint/2010/main" val="12898819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E5D5FC2-C5F2-4CF4-A0F1-AC8A9DC2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6ADBBCB-6A75-4CB7-B8D0-27EE4D4B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663364D-7A1A-45DB-84B2-992F3013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实验结果：主场景 RMSE 对比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53506CA-D325-4267-BF53-A51D0B81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DA2CFB-415D-4AD0-950E-1ACC059E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D61CD23-1FAF-4B2C-912E-F9FB7DF0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486F34E-3594-432C-BCF1-B335025A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95038E8-6E35-4FF7-A48D-C93F258B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573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3FC7496-58EE-4624-B2BA-1A916D9F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EB1BB50-0BDC-470C-A739-3D4CC8A8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range-bin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407549B-04D4-4C11-A101-7E12749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0A45C79-AF3C-4B30-96BD-C1A860DE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Ma2026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AF76268-5FA6-4A19-9EB3-4EB9015C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CE8F0FA-275A-48FC-898C-3AD0795D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fixed coefficient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F474D27-2AF4-46D1-8DD3-DA6ADCD3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8112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9F0B9D1-5A67-4034-B1B6-C6AC553D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5732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D33B57-FB07-4903-BC6C-BB5C99C5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5A3E234-D5C8-4C8A-BA0E-DE27644F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文献主频磁浮梁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7F1028E-DB4F-4A6B-94EB-F28CE365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44E744B-600C-4D60-A3D8-F731C79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0.0136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10B6C30-2B2B-4592-B542-F5912D4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FB296CC-4CA9-4202-B5A8-E09E21CD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0.0122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1BEBC4-9643-4892-8300-CE9A89FE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BF1051C-3253-4E84-BD9E-3FFFDF7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0.0589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4A4B751-438E-4463-89E7-0C5343F2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D7EE31C-8B28-4261-8F52-0E2F725C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0.0087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C684805-9CEE-48E8-AD02-AE86097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E4DE456-C4FA-4FD8-82A8-B30E56C5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强相位缠绕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98558A5-B54E-4E85-A5E6-4880394A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E71D2E5-B431-4B8C-9676-58A7AC0C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5.5477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D30CF7E-E12A-48F2-BA07-09A4B943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A51C66D-AD5B-43AB-A1AA-BA74C7A1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0.0341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BBBFDA2-4BDD-469B-9C35-82316F4B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9E187A1-72D9-496D-A39D-20226777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12.3861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1B6A9232-2A64-46CF-B19E-A18108AA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4317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E4B1ADC-2024-4E25-AA9E-C2570870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0.0143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3A684DF-1E61-4CEE-A73F-6F83151D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A5D8ABA-99C9-4A31-AD6D-596B9160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同距离远角度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516B74F-C75F-4145-90DC-1C5772BB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5320182-1A8B-405D-8C30-1C081F8E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0.0745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DF691ED-DE64-4C29-AAAC-7BD7CEE4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DB07024-0EF8-40E1-8241-27B1B7E2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0.0906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EAB63E2-2DD8-4D64-8B1F-7ADF0E4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FE5534E-98BC-4F16-897A-A254445C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0.0514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CBAD982-9089-49DE-A863-F5DE5C68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1490D50-2F9C-4E4B-B902-ACBD3D9B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0.0140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15B3B6A-6173-4BD2-A426-C2DAF306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9F168058-DBDE-477B-9574-82023C7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AoA 初值误差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C98A51A-C457-4A31-897E-86ADFFC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2B61A13-A2DA-4ABD-B2B9-F35B928A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0.0167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DF8568C6-E057-4BC7-B008-FCA30AD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5C7747CB-0728-47B3-B95B-E013FF2A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0.0386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3E0566BA-8D3E-4C52-B107-4EABBF0B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B5AC167-FC3B-4AEC-8664-AEFD63DE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0.0540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1EBC50C-F031-4C5C-99A7-90677E9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0522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FBFFADE3-8DB1-4E11-9D74-AF165FF0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8142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0.0153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03C3DE8-9003-4144-9F4D-92045081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6D2D274-43FD-4B52-9D4E-D3B9298C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target SNR 下降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2163485-24D3-46E0-A1D6-461F12FF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D6AE348A-6585-45CE-B30C-A663387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2.4951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825B7287-0C66-4219-953F-3EF5245A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E02BC7F-474C-447D-9C6F-0C2571B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0.1777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4080681E-884E-4F77-95AA-022D0B01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DE8D4EEB-64D1-46B2-AE1B-CC265E5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0.0773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C952CFB-2263-4785-ABC5-ECF52F9D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490CC27-92F2-4AD3-92B8-D29E180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0.0604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267DF1D-4432-4239-BC9E-8B7CD66F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DA9F2A36-7B18-4D93-9190-13DADC8A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车辆事件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2F7F3937-6A7F-476C-837C-101E8D2C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7D8D539F-4E00-43B7-9238-C2D0BB50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0.0224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2C332D1B-D78E-45C0-A2E5-13E792AB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0D48B5D4-B0A5-4C58-A5C4-E36371FF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0.0354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F0AE0BBE-7D51-4A4F-9416-4CAE0EFF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69123EB3-AE5B-4000-AA73-F9232233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0.0295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89225C39-1316-487B-BEF3-3D62E4EB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6727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01BCD54-1EB9-49E9-A6AA-A99B8917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4347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0.0143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720A2A75-5F53-4538-A10A-016AF5C8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单位：mm；数值越小表示相对位移估计误差越低。</a:t>
            </a: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6CFBD5C9-D926-4F51-8386-B2AF0B0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0E74B59B-88B2-4892-8C0B-4D754975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692FE91-B916-4034-AE2E-4F7FBC24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483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观察：本文方法在强 wrapping、同 range 远角度、AoA 初值误差和车辆事件等关键场景均保持低误差。</a:t>
            </a:r>
          </a:p>
        </p:txBody>
      </p:sp>
    </p:spTree>
    <p:extLst>
      <p:ext uri="{BB962C8B-B14F-4D97-AF65-F5344CB8AC3E}">
        <p14:creationId xmlns:p14="http://schemas.microsoft.com/office/powerpoint/2010/main" val="8707922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9AEDEB-B2DD-462E-813B-97A0CA24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872123-EA6C-4072-8F24-1D4C49E6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A0E8C1-A0BB-4C43-966C-D75C4A3A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车辆事件仿真数据：时域与频域响应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2AE3449-A2B3-4182-A789-BD68F3BA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5278FAF-0037-4E24-B9DA-84C68BFA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7B69D9-CA72-490F-939A-8B3B764E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B9B93-2566-45AB-812E-079A0D8B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车辆非平稳事件场景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2C50A-F7AB-4F8C-AAAB-7F792497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用于说明本次主展示场景的数据形态：前段近似静止/弱振动，随后进入车辆事件主响应，并在频域形成非平稳谱峰与泄漏。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5BB02-C892-4C66-AFEA-C0A399F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DAE56-A106-42AA-B74E-9C85D9D3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7ae72258e4125">
            <a:extLst>
              <a:ext uri="{96DAC541-7B7A-43D3-8B79-37D633B846F1}">
                <asvg:svgBlip xmlns:asvg="http://schemas.microsoft.com/office/drawing/2016/SVG/main" r:embed="R7ac681738edf4b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362200"/>
            <a:ext cx="4781550" cy="23812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4e828e5384775">
            <a:extLst>
              <a:ext uri="{96DAC541-7B7A-43D3-8B79-37D633B846F1}">
                <asvg:svgBlip xmlns:asvg="http://schemas.microsoft.com/office/drawing/2016/SVG/main" r:embed="R330ae08cf35c43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67475" y="2362200"/>
            <a:ext cx="4781550" cy="2381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E831B-4854-4332-98C6-5AAAA018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时域位移：弱振动逐步进入车辆事件响应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1BDEE-2463-421F-A4AA-E0611C06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43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频域位移：主响应频带与非平稳包络共同形成谱峰/泄漏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FCBB7-0FDE-45A9-9B70-0B3855AD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8905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AE2EA-5268-4DAD-8D3D-48640E3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54B07-40DE-4B71-B8FF-3342B0E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43600"/>
            <a:ext cx="860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后续指标图均围绕该车辆事件场景展开：先看转换系数自举，再看位移估计对比。</a:t>
            </a:r>
          </a:p>
        </p:txBody>
      </p:sp>
    </p:spTree>
    <p:extLst>
      <p:ext uri="{BB962C8B-B14F-4D97-AF65-F5344CB8AC3E}">
        <p14:creationId xmlns:p14="http://schemas.microsoft.com/office/powerpoint/2010/main" val="5275255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B9D9103-DA24-4B0F-B164-AD5DBFA7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AEFD6F-9AB7-4302-A337-F68ED5E0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7213876-1843-4B52-A02D-BFB2E2F2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车辆事件：转换系数收敛与位移对比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CE0BD8-4C95-4986-8D45-12DA21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4EB30F6-13F4-4C3A-805A-334C6D24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B2DDD9F-011D-4323-B566-3B151292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CDD43-276F-4132-9384-E231CF5D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关键指标图只保留一个主场景：车辆事件非平稳响应 + 10° AoA 初值误差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830CC-7108-476E-94DB-90FAE0F1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左图验证转换系数自举；右图在同一 AoA 初值误差下比较真实位移、本文方法、Ma 方法与固定系数 baseline。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A8ADA-9D7D-44E7-8962-000FD3CE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9587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464D1-227F-40AD-9E6A-A45480C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509587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c9b861d6a4ecd">
            <a:extLst>
              <a:ext uri="{96DAC541-7B7A-43D3-8B79-37D633B846F1}">
                <asvg:svgBlip xmlns:asvg="http://schemas.microsoft.com/office/drawing/2016/SVG/main" r:embed="R71eb580b498043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209800"/>
            <a:ext cx="4714875" cy="26670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2d0d843df459c">
            <a:extLst>
              <a:ext uri="{96DAC541-7B7A-43D3-8B79-37D633B846F1}">
                <asvg:svgBlip xmlns:asvg="http://schemas.microsoft.com/office/drawing/2016/SVG/main" r:embed="R82dfdc5f4afa4a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2209800"/>
            <a:ext cx="4714875" cy="2667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AE1C2-7A97-4DF7-B29B-906509CC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转换系数自举：β 估计逐步贴近真值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3A1D-2C14-47B6-8860-97B7D8E2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9700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位移对比：本文方法在车辆事件中误差最低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F00B5-6C6A-47F7-9624-84E3F11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942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382D0-9A14-48C1-ABBD-1DE052D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14EA9-8750-444B-A3E5-6E2C0B67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436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车辆事件 + 10° AoA 初值误差 RMSE：baseline 0.0419 mm，Ma2026 0.0354 mm，本文方法 0.0215 mm。</a:t>
            </a:r>
          </a:p>
        </p:txBody>
      </p:sp>
    </p:spTree>
    <p:extLst>
      <p:ext uri="{BB962C8B-B14F-4D97-AF65-F5344CB8AC3E}">
        <p14:creationId xmlns:p14="http://schemas.microsoft.com/office/powerpoint/2010/main" val="15951659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A02CC3-17F0-45C0-A730-B135E99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3961BE-AAEB-4DA7-9344-39E52A3A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21562F3-4CB0-4442-8142-625C0B5B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阶段结论与下一步工作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C9C1065-E4F9-4D12-B564-77D3B64D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51BCE00-99F6-4772-9704-6F26260B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366394D-54A2-4094-9F09-16006573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5ADBF7A-89C1-45BF-8343-847BE748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当前已完成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A7E25B4-2C09-4CCE-8DD3-25A8AFA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synthetic ADC / Range-Angle frontend 完整接入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Range-Angle target selection 与同 range 远角度分离已实现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结构主相位 Kalman、预测辅助解缠、转换系数在线自举已形成闭环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默认 validation feasibility gates：12/12 passed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EDED013-8D8E-4A7F-BD9B-4038359C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3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后续工作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EEB40DE-64DA-4BC2-B1CC-A24E5CE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85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接入真实 IWR1843 raw ADC 文件解析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开展天线幅相标定与 TDM-MIMO 相位补偿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建立雷达、加速度、激光参考的时间同步流程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推进实桥/磁浮轨道梁场景下的同步实测验证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0960A9B-A2C7-4935-8A66-34A02156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A613A86-A020-4523-9A63-4A8CE533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625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当前结论来自 Phase 1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合成仿真与实测位移驱动半实测仿真，尚不替代真实毫米波雷达现场验证。</a:t>
            </a:r>
          </a:p>
        </p:txBody>
      </p:sp>
    </p:spTree>
    <p:extLst>
      <p:ext uri="{BB962C8B-B14F-4D97-AF65-F5344CB8AC3E}">
        <p14:creationId xmlns:p14="http://schemas.microsoft.com/office/powerpoint/2010/main" val="1841270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2026-06-25T16:45:14.7390000Z</dcterms:created>
  <dcterms:modified xsi:type="dcterms:W3CDTF">2026-06-25T16:45:14.7390000Z</dcterms:modified>
</coreProperties>
</file>