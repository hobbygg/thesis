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04c3ed3104b56" /><Relationship Type="http://schemas.openxmlformats.org/officeDocument/2006/relationships/extended-properties" Target="/docProps/app.xml" Id="Rd33d0b32471f42f4" /><Relationship Type="http://schemas.openxmlformats.org/officeDocument/2006/relationships/officeDocument" Target="/ppt/presentation.xml" Id="Rdc8edd14c4bf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957f34b9443ab"/>
  </p:sldMasterIdLst>
  <p:notesMasterIdLst>
    <p:notesMasterId xmlns:r="http://schemas.openxmlformats.org/officeDocument/2006/relationships" r:id="R37c81d98d990420d"/>
  </p:notesMasterIdLst>
  <p:sldIdLst>
    <p:sldId xmlns:r="http://schemas.openxmlformats.org/officeDocument/2006/relationships" id="256" r:id="Rf6af5ed370b64d42"/>
    <p:sldId xmlns:r="http://schemas.openxmlformats.org/officeDocument/2006/relationships" id="257" r:id="R0d85fbb79c314506"/>
    <p:sldId xmlns:r="http://schemas.openxmlformats.org/officeDocument/2006/relationships" id="258" r:id="R8010e1d015494c37"/>
    <p:sldId xmlns:r="http://schemas.openxmlformats.org/officeDocument/2006/relationships" id="259" r:id="R8cf37ad1b58b4d9b"/>
    <p:sldId xmlns:r="http://schemas.openxmlformats.org/officeDocument/2006/relationships" id="260" r:id="R7f5e15c10c8c40a9"/>
    <p:sldId xmlns:r="http://schemas.openxmlformats.org/officeDocument/2006/relationships" id="261" r:id="R21108ddb598c4d48"/>
    <p:sldId xmlns:r="http://schemas.openxmlformats.org/officeDocument/2006/relationships" id="262" r:id="R6a2c4d32172c4b03"/>
    <p:sldId xmlns:r="http://schemas.openxmlformats.org/officeDocument/2006/relationships" id="263" r:id="R8bfd2a66c7914313"/>
    <p:sldId xmlns:r="http://schemas.openxmlformats.org/officeDocument/2006/relationships" id="264" r:id="R622c0255292142e8"/>
    <p:sldId xmlns:r="http://schemas.openxmlformats.org/officeDocument/2006/relationships" id="265" r:id="R2c086bd974a14fae"/>
    <p:sldId xmlns:r="http://schemas.openxmlformats.org/officeDocument/2006/relationships" id="266" r:id="R023f048819f24442"/>
    <p:sldId xmlns:r="http://schemas.openxmlformats.org/officeDocument/2006/relationships" id="267" r:id="Ree3b99b5946b46a7"/>
    <p:sldId xmlns:r="http://schemas.openxmlformats.org/officeDocument/2006/relationships" id="268" r:id="R2c4144c34152429e"/>
    <p:sldId xmlns:r="http://schemas.openxmlformats.org/officeDocument/2006/relationships" id="269" r:id="Rbed2493ba21e4d4a"/>
    <p:sldId xmlns:r="http://schemas.openxmlformats.org/officeDocument/2006/relationships" id="270" r:id="Rc1270bdfd8c74049"/>
    <p:sldId xmlns:r="http://schemas.openxmlformats.org/officeDocument/2006/relationships" id="271" r:id="Rc90c6ece4a6b4cf2"/>
    <p:sldId xmlns:r="http://schemas.openxmlformats.org/officeDocument/2006/relationships" id="272" r:id="R278e2e7989914932"/>
    <p:sldId xmlns:r="http://schemas.openxmlformats.org/officeDocument/2006/relationships" id="273" r:id="R556f7ce5c5054d2e"/>
    <p:sldId xmlns:r="http://schemas.openxmlformats.org/officeDocument/2006/relationships" id="274" r:id="R3512d697e8254e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8761adfe484313" /><Relationship Type="http://schemas.openxmlformats.org/officeDocument/2006/relationships/slideMaster" Target="/ppt/slideMasters/slideMaster1.xml" Id="R3d4957f34b9443ab" /><Relationship Type="http://schemas.openxmlformats.org/officeDocument/2006/relationships/notesMaster" Target="/ppt/notesMasters/notesMaster1.xml" Id="R37c81d98d990420d" /><Relationship Type="http://schemas.openxmlformats.org/officeDocument/2006/relationships/presProps" Target="/ppt/presProps.xml" Id="R56787e23d5f94396" /><Relationship Type="http://schemas.openxmlformats.org/officeDocument/2006/relationships/tableStyles" Target="/ppt/tableStyles.xml" Id="R558afe1c586f4eb0" /><Relationship Type="http://schemas.openxmlformats.org/officeDocument/2006/relationships/slide" Target="/ppt/slides/slide1.xml" Id="Rf6af5ed370b64d42" /><Relationship Type="http://schemas.openxmlformats.org/officeDocument/2006/relationships/slide" Target="/ppt/slides/slide2.xml" Id="R0d85fbb79c314506" /><Relationship Type="http://schemas.openxmlformats.org/officeDocument/2006/relationships/slide" Target="/ppt/slides/slide3.xml" Id="R8010e1d015494c37" /><Relationship Type="http://schemas.openxmlformats.org/officeDocument/2006/relationships/slide" Target="/ppt/slides/slide4.xml" Id="R8cf37ad1b58b4d9b" /><Relationship Type="http://schemas.openxmlformats.org/officeDocument/2006/relationships/slide" Target="/ppt/slides/slide5.xml" Id="R7f5e15c10c8c40a9" /><Relationship Type="http://schemas.openxmlformats.org/officeDocument/2006/relationships/slide" Target="/ppt/slides/slide6.xml" Id="R21108ddb598c4d48" /><Relationship Type="http://schemas.openxmlformats.org/officeDocument/2006/relationships/slide" Target="/ppt/slides/slide7.xml" Id="R6a2c4d32172c4b03" /><Relationship Type="http://schemas.openxmlformats.org/officeDocument/2006/relationships/slide" Target="/ppt/slides/slide8.xml" Id="R8bfd2a66c7914313" /><Relationship Type="http://schemas.openxmlformats.org/officeDocument/2006/relationships/slide" Target="/ppt/slides/slide9.xml" Id="R622c0255292142e8" /><Relationship Type="http://schemas.openxmlformats.org/officeDocument/2006/relationships/slide" Target="/ppt/slides/slide10.xml" Id="R2c086bd974a14fae" /><Relationship Type="http://schemas.openxmlformats.org/officeDocument/2006/relationships/slide" Target="/ppt/slides/slide11.xml" Id="R023f048819f24442" /><Relationship Type="http://schemas.openxmlformats.org/officeDocument/2006/relationships/slide" Target="/ppt/slides/slide12.xml" Id="Ree3b99b5946b46a7" /><Relationship Type="http://schemas.openxmlformats.org/officeDocument/2006/relationships/slide" Target="/ppt/slides/slide13.xml" Id="R2c4144c34152429e" /><Relationship Type="http://schemas.openxmlformats.org/officeDocument/2006/relationships/slide" Target="/ppt/slides/slide14.xml" Id="Rbed2493ba21e4d4a" /><Relationship Type="http://schemas.openxmlformats.org/officeDocument/2006/relationships/slide" Target="/ppt/slides/slide15.xml" Id="Rc1270bdfd8c74049" /><Relationship Type="http://schemas.openxmlformats.org/officeDocument/2006/relationships/slide" Target="/ppt/slides/slide16.xml" Id="Rc90c6ece4a6b4cf2" /><Relationship Type="http://schemas.openxmlformats.org/officeDocument/2006/relationships/slide" Target="/ppt/slides/slide17.xml" Id="R278e2e7989914932" /><Relationship Type="http://schemas.openxmlformats.org/officeDocument/2006/relationships/slide" Target="/ppt/slides/slide18.xml" Id="R556f7ce5c5054d2e" /><Relationship Type="http://schemas.openxmlformats.org/officeDocument/2006/relationships/slide" Target="/ppt/slides/slide19.xml" Id="R3512d697e825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1f136b5e2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209544cf394103" /><Relationship Type="http://schemas.openxmlformats.org/officeDocument/2006/relationships/notesMaster" Target="/ppt/notesMasters/notesMaster1.xml" Id="R8f137cd5055049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cd51963e864968" /><Relationship Type="http://schemas.openxmlformats.org/officeDocument/2006/relationships/notesMaster" Target="/ppt/notesMasters/notesMaster1.xml" Id="Raad500c6b9c946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2789b9aa843ac" /><Relationship Type="http://schemas.openxmlformats.org/officeDocument/2006/relationships/notesMaster" Target="/ppt/notesMasters/notesMaster1.xml" Id="Rfb8d5fc346e840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03224cb6db44a9" /><Relationship Type="http://schemas.openxmlformats.org/officeDocument/2006/relationships/notesMaster" Target="/ppt/notesMasters/notesMaster1.xml" Id="R05013789e54642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48522e8acb47cf" /><Relationship Type="http://schemas.openxmlformats.org/officeDocument/2006/relationships/notesMaster" Target="/ppt/notesMasters/notesMaster1.xml" Id="R028ea8ed35b5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af18ef54c64548" /><Relationship Type="http://schemas.openxmlformats.org/officeDocument/2006/relationships/notesMaster" Target="/ppt/notesMasters/notesMaster1.xml" Id="R8fe897cc77a64f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c2e31a769404d" /><Relationship Type="http://schemas.openxmlformats.org/officeDocument/2006/relationships/notesMaster" Target="/ppt/notesMasters/notesMaster1.xml" Id="Rba463421cd174c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f7a947a47649dc" /><Relationship Type="http://schemas.openxmlformats.org/officeDocument/2006/relationships/notesMaster" Target="/ppt/notesMasters/notesMaster1.xml" Id="Rb7fa2be156f84a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94ef1269de45d7" /><Relationship Type="http://schemas.openxmlformats.org/officeDocument/2006/relationships/notesMaster" Target="/ppt/notesMasters/notesMaster1.xml" Id="R999ddbba84d74e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d1995f81a24839" /><Relationship Type="http://schemas.openxmlformats.org/officeDocument/2006/relationships/notesMaster" Target="/ppt/notesMasters/notesMaster1.xml" Id="R1f240ad7eb1745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e227f9a9414e3f" /><Relationship Type="http://schemas.openxmlformats.org/officeDocument/2006/relationships/notesMaster" Target="/ppt/notesMasters/notesMaster1.xml" Id="R7a8c5d2ab73846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db30e5c2cd4712" /><Relationship Type="http://schemas.openxmlformats.org/officeDocument/2006/relationships/notesMaster" Target="/ppt/notesMasters/notesMaster1.xml" Id="Refdc99951a114b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c27b62a5384c60" /><Relationship Type="http://schemas.openxmlformats.org/officeDocument/2006/relationships/notesMaster" Target="/ppt/notesMasters/notesMaster1.xml" Id="Rb967b8ddd9ba47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2d615692044d8b" /><Relationship Type="http://schemas.openxmlformats.org/officeDocument/2006/relationships/notesMaster" Target="/ppt/notesMasters/notesMaster1.xml" Id="R3042434c840b4a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286f5a96184e4d" /><Relationship Type="http://schemas.openxmlformats.org/officeDocument/2006/relationships/notesMaster" Target="/ppt/notesMasters/notesMaster1.xml" Id="R581c9224878240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a97936eb4d40cb" /><Relationship Type="http://schemas.openxmlformats.org/officeDocument/2006/relationships/notesMaster" Target="/ppt/notesMasters/notesMaster1.xml" Id="R74a7df9a60a94b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8d9c1924bc4147" /><Relationship Type="http://schemas.openxmlformats.org/officeDocument/2006/relationships/notesMaster" Target="/ppt/notesMasters/notesMaster1.xml" Id="Rc3ae7132831543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cd5658aa9f4bdc" /><Relationship Type="http://schemas.openxmlformats.org/officeDocument/2006/relationships/notesMaster" Target="/ppt/notesMasters/notesMaster1.xml" Id="Rc96eb30bed5546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a25bd4e25a4f66" /><Relationship Type="http://schemas.openxmlformats.org/officeDocument/2006/relationships/notesMaster" Target="/ppt/notesMasters/notesMaster1.xml" Id="R3788d3d97a7b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9525ecccf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8c37dae0c48b1" /><Relationship Type="http://schemas.openxmlformats.org/officeDocument/2006/relationships/slideLayout" Target="/ppt/slideLayouts/slideLayout1.xml" Id="R8d3cefeaaac4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cefeaaac4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a83bcf13646cb" /><Relationship Type="http://schemas.openxmlformats.org/officeDocument/2006/relationships/image" Target="/ppt/media/image.png" Id="R720ed61043364d1e" /><Relationship Type="http://schemas.openxmlformats.org/officeDocument/2006/relationships/notesSlide" Target="/ppt/notesSlides/notesSlide1.xml" Id="R7940e5dae73b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b84fe0964321" /><Relationship Type="http://schemas.openxmlformats.org/officeDocument/2006/relationships/notesSlide" Target="/ppt/notesSlides/notesSlide2.xml" Id="Rd4756be0b04946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7a833d3124da6" /><Relationship Type="http://schemas.openxmlformats.org/officeDocument/2006/relationships/notesSlide" Target="/ppt/notesSlides/notesSlide3.xml" Id="R1512e356ca594e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3b801f3cd4a1d" /><Relationship Type="http://schemas.openxmlformats.org/officeDocument/2006/relationships/notesSlide" Target="/ppt/notesSlides/notesSlide4.xml" Id="R5fb0bffc127f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4e511c93b4da5" /><Relationship Type="http://schemas.openxmlformats.org/officeDocument/2006/relationships/notesSlide" Target="/ppt/notesSlides/notesSlide5.xml" Id="R3f0dda0ccebf49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68e3fb90c49e4" /><Relationship Type="http://schemas.openxmlformats.org/officeDocument/2006/relationships/notesSlide" Target="/ppt/notesSlides/notesSlide6.xml" Id="R4afff4ee3cc644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97b68dab34566" /><Relationship Type="http://schemas.openxmlformats.org/officeDocument/2006/relationships/image" Target="/ppt/media/image2.png" Id="Rf1ad25eadc054395" /><Relationship Type="http://schemas.openxmlformats.org/officeDocument/2006/relationships/notesSlide" Target="/ppt/notesSlides/notesSlide7.xml" Id="R54ddf86208404e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044fa9c544ab8" /><Relationship Type="http://schemas.openxmlformats.org/officeDocument/2006/relationships/notesSlide" Target="/ppt/notesSlides/notesSlide8.xml" Id="R23dc368d05ad42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15eca8024413e" /><Relationship Type="http://schemas.openxmlformats.org/officeDocument/2006/relationships/image" Target="/ppt/media/image3.png" Id="Rc251cdf9052e45e4" /><Relationship Type="http://schemas.openxmlformats.org/officeDocument/2006/relationships/notesSlide" Target="/ppt/notesSlides/notesSlide9.xml" Id="R5f657f9bdcc743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3bd632b844124" /><Relationship Type="http://schemas.openxmlformats.org/officeDocument/2006/relationships/notesSlide" Target="/ppt/notesSlides/notesSlide10.xml" Id="Rd1354fa3877343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32602bb484684" /><Relationship Type="http://schemas.openxmlformats.org/officeDocument/2006/relationships/notesSlide" Target="/ppt/notesSlides/notesSlide11.xml" Id="Rd1d1989f71084f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e34e7e29941a1" /><Relationship Type="http://schemas.openxmlformats.org/officeDocument/2006/relationships/image" Target="/ppt/media/image4.png" Id="Ra2c1d6fda52a4d2a" /><Relationship Type="http://schemas.openxmlformats.org/officeDocument/2006/relationships/notesSlide" Target="/ppt/notesSlides/notesSlide12.xml" Id="Rdedcb2a120114f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1e35890bb4aa4" /><Relationship Type="http://schemas.openxmlformats.org/officeDocument/2006/relationships/image" Target="/ppt/media/image5.png" Id="R12c134e1d7b14d2e" /><Relationship Type="http://schemas.openxmlformats.org/officeDocument/2006/relationships/notesSlide" Target="/ppt/notesSlides/notesSlide13.xml" Id="Rf6cf452c578345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0cef132374160" /><Relationship Type="http://schemas.openxmlformats.org/officeDocument/2006/relationships/notesSlide" Target="/ppt/notesSlides/notesSlide14.xml" Id="R62d5034ca1b44f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15e6d329540be" /><Relationship Type="http://schemas.openxmlformats.org/officeDocument/2006/relationships/notesSlide" Target="/ppt/notesSlides/notesSlide15.xml" Id="Rd15d6be8a4d54d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4992ffb184b1d" /><Relationship Type="http://schemas.openxmlformats.org/officeDocument/2006/relationships/notesSlide" Target="/ppt/notesSlides/notesSlide16.xml" Id="Ra5e156481fe04b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9baf930db468d" /><Relationship Type="http://schemas.openxmlformats.org/officeDocument/2006/relationships/image" Target="/ppt/media/image6.png" Id="Rfe527a7d536447ac" /><Relationship Type="http://schemas.openxmlformats.org/officeDocument/2006/relationships/image" Target="/ppt/media/image7.png" Id="R9d523bbf66854ab3" /><Relationship Type="http://schemas.openxmlformats.org/officeDocument/2006/relationships/notesSlide" Target="/ppt/notesSlides/notesSlide17.xml" Id="Rb2578c24f87645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4f0eff8644335" /><Relationship Type="http://schemas.openxmlformats.org/officeDocument/2006/relationships/image" Target="/ppt/media/image8.png" Id="R2414343b876d4e07" /><Relationship Type="http://schemas.openxmlformats.org/officeDocument/2006/relationships/image" Target="/ppt/media/image9.png" Id="R2d938a72c15f4db2" /><Relationship Type="http://schemas.openxmlformats.org/officeDocument/2006/relationships/image" Target="/ppt/media/image10.png" Id="Re80f92e6e240473a" /><Relationship Type="http://schemas.openxmlformats.org/officeDocument/2006/relationships/image" Target="/ppt/media/image11.png" Id="Rb4514ab9ecc34bb3" /><Relationship Type="http://schemas.openxmlformats.org/officeDocument/2006/relationships/notesSlide" Target="/ppt/notesSlides/notesSlide18.xml" Id="R3d5d85c9967e43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896152425411f" /><Relationship Type="http://schemas.openxmlformats.org/officeDocument/2006/relationships/notesSlide" Target="/ppt/notesSlides/notesSlide19.xml" Id="Rea1e75f8232a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AB6BD-1180-431B-8491-A804B6FD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6B7A-8124-42AA-8603-34666DA3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ed61043364d1e"/>
          <a:stretch xmlns:a="http://schemas.openxmlformats.org/drawingml/2006/main"/>
        </p:blipFill>
        <p:spPr>
          <a:xfrm xmlns:a="http://schemas.openxmlformats.org/drawingml/2006/main">
            <a:off x="590550" y="228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F963C-3552-438A-8ABE-96D67173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硕士论文阶段汇报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1CE35-6CEB-4A02-839B-E97C69C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315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毫米波雷达与 MEMS 加速度计融合的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315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结构位移测量方法研究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67895-0537-493A-B5DC-CFE7F5A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319E4-C67F-442B-A21C-C244D3D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rPr>
              <a:t>Phase 1：算法级仿真验证与方法框架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292BF-8126-4A42-A9FF-F1171B4A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953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C7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2B854-8BBC-4853-A853-3A29172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汇报人：XXX    导师：XXX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学院：XXX    日期：2026 年 6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B2C2C-AEA3-493F-88EE-7AD2AA27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D3A66-B143-4667-B511-B5281BA1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倒挂式雷达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4628A-F118-4BF2-8316-34EC3ECD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22757-03B4-4E47-936F-16647CB0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静止散射体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8F1BD-30D1-45FA-8C20-8B09536E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574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4C2EB-A63C-4037-A6CA-83E601EF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3948C-B691-4A7C-AF4F-1DB41333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加速度预测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18A9D-1B98-4242-BE2F-38A9A49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90900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1D6D8-E521-47E1-95B8-1CB2B72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86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结构主相位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9AA68-91FD-4FBD-9AF5-B67DF30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814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3008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EC895-785D-40D3-9AB0-7A9AF97E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DBB75-A9AC-43B5-90D8-A914385F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62294-AE0E-4CB9-87CE-FC0A0B35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汇报内容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680EB-4124-4A60-8305-755EB061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78936-F8C4-48D7-B255-B099AEAA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4008A-3997-4A45-9A39-C00E00C2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98E28-B56E-490E-945B-84E38226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65262-89E4-4C89-8D50-94F6885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3AFD5-0C67-4308-8934-56AEA94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0025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68A7D-132B-4623-8DA7-9BC304E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0512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研究背景与问题定义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77421-394B-477A-9E33-40F444DE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385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从静态参考点依赖引出倒挂式毫米波雷达测振需求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3E26C-3D1F-4801-B09D-06D09475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62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D17AD-33E2-4308-A1F7-0799030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26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939D3-E458-49F4-9BDF-A57B3E9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EC2AC-0CA2-42DE-B17C-F5FB79B3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0512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毫米波雷达位移测量原理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55DFF-BDA1-40D0-AFF3-19B24C6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FMCW 测距、相位微位移、Range-Angle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0C5F5-091C-49DF-8447-ED04682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62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0E8F2-9498-4445-A15F-FBC79B6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F223A-6B7D-498F-8CB5-BA683799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41305-CC16-4EDA-807E-335B9EFE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0512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本文方法与关键创新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E5459-FA54-4002-8D88-51A55EC4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多目标参考点、结构主相位 Kalman、kappa 自举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1C63C-ACEF-4B88-A5CD-257DC699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62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7A0F6-909D-4654-A448-18FFCC17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526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B4B1C-9332-45CD-986A-EDA6B099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Phase 1 仿真验证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E9C1B-D752-411C-AEDA-33F1DD36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主场景、对比方法、RMSE 表格与关键图像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074C7-06D8-4416-B58E-45D6C7C6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7905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0B69B-51B2-4D7B-95C9-746D3E5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AC56E0-5E74-4276-B42D-F4F3A5BD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14975"/>
            <a:ext cx="760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叙事主线：问题约束 -&gt; 雷达原理 -&gt; 方法重建模 -&gt; 仿真验证</a:t>
            </a:r>
          </a:p>
        </p:txBody>
      </p:sp>
    </p:spTree>
    <p:extLst>
      <p:ext uri="{BB962C8B-B14F-4D97-AF65-F5344CB8AC3E}">
        <p14:creationId xmlns:p14="http://schemas.microsoft.com/office/powerpoint/2010/main" val="658669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05247-1760-40DE-9F53-68C2DDB5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074E9-1273-47E0-9388-5415909E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AF7CD-3FA3-4440-B7C4-A2920596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研究背景：结构位移监测需要可部署的参考体系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0F12D-9983-41F1-B8F1-FA92E192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7A2A5-AEE2-4A55-92D8-1BF52523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84873-F202-467C-96A2-3F8E8485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08B79-DD27-490A-B609-E7E51D1C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85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桥梁与磁浮轨道梁位移响应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468B0-4553-4B6E-83D9-59950C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动态位移直接反映结构刚度、车辆荷载响应与服役状态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毫米级位移对相位测量非常敏感，但现场长期部署困难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阶段目标：在缺少外部静态参考点时恢复单点相对位移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52E69-A454-41EE-94AE-0D5FB88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57300"/>
            <a:ext cx="47625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4FAFD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97559-ABB5-46D1-81D0-940C53B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传统位移测量的现场约束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ED662-0D2C-425E-A35F-807914A5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70790-1BBC-4BA5-A671-FFDB87CE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240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504EE-25AE-45D2-A1A8-ED9D62C9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7A91A-D5DE-4BD9-B9BA-CA60B398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240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主要依赖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A478E-0F2D-4524-AA36-C3E39C56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2B7B4-D51F-4E6A-B9F4-7C7615E0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240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现场局限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77E5A-CA4D-4B9F-A19B-8BF535B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F4087-0598-4725-91E7-454EF109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激光/LVDT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C8375-E270-4107-B606-4C2A662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94BE9-7E65-41D0-AEEE-AA4A286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574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稳定基准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7E4FA-4BA3-41D2-838C-177EA116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812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236A9-3E2E-400C-B4C2-FEAF0EF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574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布设空间与安全约束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84E6C-2DD2-4D03-8DC4-70552C3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D76CC-1E66-4C1E-9401-DF34892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视觉测量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5CB04-DAB4-4775-B6FE-D0830913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A72AF-73AC-42EA-89DD-2487A024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908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固定相机/视线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5C905-BA54-4C9B-956F-326E3BEE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00D118-16C0-42BE-83D0-87E8F855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光照、遮挡与标靶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6BE61-A290-44A9-B471-40C53768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08312-ECAF-466B-AD1D-18FD414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242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GNSS/组合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5E260-29B8-454C-BA56-5803D7B6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480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731C7-D77F-47A7-99BD-CBC631A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242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开阔天空/多源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B40812-8EBA-4CAD-BEB4-C4A6065C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480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E02008-123D-4ADD-9AEB-0E4F5BF4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242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精度与成本受限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96758B-C90D-45A6-925C-17502F57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F491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F2D609-A061-4452-8EFD-768B0740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F3C6CE-EE98-4A7A-A6A6-C9DF1A20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24475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核心矛盾：高精度位移测量通常需要静态参考点，而桥梁现场恰恰难以稳定布设参考点。</a:t>
            </a:r>
          </a:p>
        </p:txBody>
      </p:sp>
    </p:spTree>
    <p:extLst>
      <p:ext uri="{BB962C8B-B14F-4D97-AF65-F5344CB8AC3E}">
        <p14:creationId xmlns:p14="http://schemas.microsoft.com/office/powerpoint/2010/main" val="1827763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BBEC4-783D-4FE6-88EF-6EFA3CFD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3E92D-4782-4CEB-BB8C-B1FAD604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75E8A-55C8-46DA-BE33-CBF98A53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倒挂式毫米波雷达：测量设想与关键挑战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05816-9AB2-4649-943F-A15412F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8FB6D-2E3F-4A03-84FD-0A89B2AB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5D0EC-A931-4BE6-B62F-5CFA038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8B97F-6671-4E0C-A1B3-5C0720D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13E26-6846-4C05-BAFD-F8386202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梁体 / 磁浮轨道梁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9C933-6EF7-4F32-87C3-DB9ECE97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1333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4142C-347E-4E9F-8840-74209503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雷达 +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加速度计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2CE6D-0596-4AB1-A3D4-4BD2211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762000" cy="1095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F2FB"/>
          </a:solidFill>
          <a:ln xmlns:a="http://schemas.openxmlformats.org/drawingml/2006/main" w="12383">
            <a:solidFill>
              <a:srgbClr val="009D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7715D-1608-46E5-96CF-88FE7DF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B8E83-6BA7-4D99-9263-8E2A159E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76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C6042-9EB2-46F4-9E8B-F771A08A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DF7BA-85DD-436D-BB2F-872E0B1D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9ED79-73BE-4B32-97AC-B086213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62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F0926-703E-46DF-8162-4AC5FD2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D7317-EC64-4131-8DAB-DD88B882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环境静止散射体作为参考目标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F403F-2A10-4C72-A821-2F338FAC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90BEF-7430-4704-90F6-E0F6CDA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C9FAE-A095-4A83-B687-27E0B7C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同 range bin 多角度混合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005CC-9BE9-4083-BEA3-90948CFE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57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复数相量叠加后相位不再代表单一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9B6AF-A63F-4C2B-848A-07833F5C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0121A-D101-4DF5-91D5-ED1C449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429E7-B71C-4178-939F-AD21FCF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target 丢失或退化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62570-FEC6-490B-8DD4-D3F3B6F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遮挡、低 SNR、移动干扰会污染观测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B679C-366F-42FB-AB26-D95B2B85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B4E12-2812-4E60-A061-D75CADB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37B5B-1431-4AF1-ACA0-B758A20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385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phase wrapping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D24B5-7206-43D8-8E24-B6C06F8F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909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毫米级强响应会导致相位跨越多个周期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48C78-364F-4129-8AA9-5FB20C53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48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8B15DC-B066-4E89-B930-0B686F6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DB6A5-570C-444B-8919-2DF27226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05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转换系数不确定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F5AAE-C16C-4E84-8E17-53C97DB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57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AoA/安装姿态误差会放大位移反算偏差</a:t>
            </a:r>
          </a:p>
        </p:txBody>
      </p:sp>
    </p:spTree>
    <p:extLst>
      <p:ext uri="{BB962C8B-B14F-4D97-AF65-F5344CB8AC3E}">
        <p14:creationId xmlns:p14="http://schemas.microsoft.com/office/powerpoint/2010/main" val="526384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BE519-BB2F-439A-B638-9E534B7E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4C64-E6F8-47C3-9EB8-E299E4E3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5A8C0-4C04-497E-8E32-DA7A10C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从问题约束引出本文的三组创新设计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8323F-FC20-4934-9537-62D9DF0F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创新点总览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6FC4B-B317-4D63-9B19-0E7D5F7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07657-5859-4915-AAA9-37F3A27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EC842-912D-49D9-B74E-20383367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CC268-73AA-4705-91C5-077382D8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3705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DFF7E-BF93-4222-91A4-170A3F1A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BD892-4B69-451B-8786-30A1FC8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5049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本文处理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0DC57-075D-4E1F-A635-7EAE821A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9E4E6-BA8F-4CCD-A652-9E48A7D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04950"/>
            <a:ext cx="2181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汇报中展开位置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1D253-8863-4E85-886F-E0B26D40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3405A-4DD1-4D6E-B28D-2D580A8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705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同一距离单元内多角度散射体混合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4827E-B12B-47A0-A2FD-F691A19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B2152-E35D-4E1B-9AC3-486419A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526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Range-Angle 多目标提取与筛选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6865A-16D0-4FC7-AB43-D4AC0AD6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C26F1-2F8D-405F-A95E-7512CE9E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181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创新点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31D9D-7FAC-4A01-9B3A-5BAC6C8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77D01-3421-4F24-9436-4D0026E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705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单 target 退化、丢失或质量变化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87604-8C45-46D5-8305-B72A7653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3CE14-24FF-4D6D-9A04-0433BD7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003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目标筛选 + target-wise 权重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2D390-05AD-4492-9977-0AFEA90E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FEA7C-6FA5-4044-9A83-D0EFA33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181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并入创新点 1/2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FE22A-5845-4E2B-B7CF-CAD525EF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A8014-0F40-490B-9482-93E5578A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3705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wrapped phase 在强响应下分支错误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EDADF-B810-481C-AD25-F3A24AA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718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C5643-64D2-44FC-8DD8-85F4BC4F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480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加速度预测辅助相位校正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61D4D-E254-4F00-B983-BF35C457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7E832-8EA5-442C-BF0C-8228FD6B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181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创新点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8CCE6A-C83F-4B94-8DE8-57074BD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70C542-5825-407F-8389-77EB33A7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3705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单目标 LoS 状态难以融合多 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D8C86-9661-4A28-A46D-7213CEC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C4A438-01EA-474D-894F-EA1B6BB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957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结构主相位多目标 Kalman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90FEF0-99DD-4530-B6A2-6856220B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11180-ED7C-4C6A-B2DF-6F57E7CF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2181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创新点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32E23-CEBC-4530-B81E-540DC54A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D7BD60-9073-4737-8B2C-FE7AED01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3705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AoA/几何转换系数初值存在偏差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21ABC-3E30-4C1E-A6EB-BF5F156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672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C8D9B-3C6B-4345-ADCE-0493342A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43450"/>
            <a:ext cx="3609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AoA cold start + online kappa bootstrap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933781-C91A-4D1A-8DAE-F964716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3F1A01-A05C-4C35-9FFC-9B62745B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2181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创新点 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C4CF51-66AD-4A73-A601-3B8526F8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895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F8A043-1D61-4669-8FC6-222235B0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1FEF8-39E3-462C-AF8F-0D89CF3D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43600"/>
            <a:ext cx="864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注意：confidence-aware R 作为 Kalman 融合中的观测权重机制出现，不单独包装成一个独立创新点。</a:t>
            </a:r>
          </a:p>
        </p:txBody>
      </p:sp>
    </p:spTree>
    <p:extLst>
      <p:ext uri="{BB962C8B-B14F-4D97-AF65-F5344CB8AC3E}">
        <p14:creationId xmlns:p14="http://schemas.microsoft.com/office/powerpoint/2010/main" val="489381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079F2-66CF-4343-9565-7849B02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1C509-C822-4A4C-AA42-5224E20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DFB26-5690-4E10-8ADC-3F827E58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毫米波雷达位移测量基本原理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78686-7155-4379-8110-1DD241A5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基础原理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3A392-817B-49A7-BC9A-0A34723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E807C-5748-4C7F-834F-47E89158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D3F25-627E-4172-B481-43BC11D7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5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A19AA-4A68-4A04-A6A2-823A020F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9CAB3-C7A5-4673-AE30-2EA8414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0370-F46C-41B0-BA99-D71B6BD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FMCW 测距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EA0D7-EFD3-4882-8A16-D88B85B9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发射线性调频信号，回波拍频用于估计距离单元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32DC4-F730-4B19-B5C9-80B20BA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FE9B9-A622-48FC-B8D8-1A8F1B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6DD98-5EBE-43C2-BDE3-51A8C999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EC784-DB17-4672-8E65-D6958B1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相位微位移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0992C-DEDD-403F-BFED-48FD4F4E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同一目标的斜距微小变化会引起回波相位变化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94B84-1C4C-4ED2-A610-95B3BC39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24D88-F432-419B-86FB-285390E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3B31F-40A5-42C4-B99A-8FA71368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46D81-CF09-4D6F-B114-E49CDC2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相位缠绕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3925B-D662-4CDD-AD97-4A4BFA3E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雷达输出主值相位位于 (-π, π]，大位移需要解缠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C7FB0-CC05-40B3-A8E6-7599E0A2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0"/>
            <a:ext cx="8039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4B309-179B-4623-891C-EF52ACB3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9582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Δφ = 4π · Δd / 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EBA41-5099-465F-ACF1-76351637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529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7FC"/>
                </a:solidFill>
                <a:latin typeface="Microsoft YaHei"/>
                <a:ea typeface="Microsoft YaHei"/>
                <a:cs typeface="Microsoft YaHei"/>
              </a:rPr>
              <a:t>77 GHz 波长约 3.9 mm，因此毫米级位移已经可能跨越多个相位周期。</a:t>
            </a:r>
          </a:p>
        </p:txBody>
      </p:sp>
    </p:spTree>
    <p:extLst>
      <p:ext uri="{BB962C8B-B14F-4D97-AF65-F5344CB8AC3E}">
        <p14:creationId xmlns:p14="http://schemas.microsoft.com/office/powerpoint/2010/main" val="1366320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7F8D6-41B4-4497-9EAA-B55778F5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DC123-D836-4D2E-92F4-FE30AE0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1A3AC-AF4E-4F7F-BB03-CA8579D6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从 ADC 到 Range-Angle Map：为多目标参考点提供前端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3CE34-C583-4D7D-B5F7-7EFD3EC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基础原理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1FB10-5158-49B6-8F35-5128D87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6130F-7594-47F6-B211-47D6EBD7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D0056-DDDA-45EE-B584-FCEB3FB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25FF4-ABA6-4EFB-B5B8-6D81B1AE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ADC cube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74AC2-5336-41C0-AD96-99A45D16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C0D6D-55AF-4D2E-9414-DDE5B64C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AE45A-7492-49B0-BE39-F911168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Range FFT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FA01A-9C28-41E9-BB2C-DED26797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B38D6-8E9E-4801-84D6-10C0F75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AC2D9-3EB2-4859-88DB-B64E1306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Angle FFT / DBF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33FE9-5670-4155-ABEA-6CDF1B8B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61E75-14F4-4886-94C3-D470A70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37428-F34B-41D4-B203-8FB8B0C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Range-Angle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15043-B7B9-45DD-954B-60B510D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传统 range-bin 方法只保留距离维度，容易混合同距离不同角度散射体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Range-Angle Map 在距离和角度二维空间检测候选 target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后续 Kalman 接收的是筛选后的 target wrapped phase，而不是理想真值相位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CC54F-B771-40DF-82D2-303DC61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25eadc054395"/>
          <a:stretch xmlns:a="http://schemas.openxmlformats.org/drawingml/2006/main"/>
        </p:blipFill>
        <p:spPr>
          <a:xfrm xmlns:a="http://schemas.openxmlformats.org/drawingml/2006/main">
            <a:off x="5943600" y="1658064"/>
            <a:ext cx="5067300" cy="3103721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6CB0F-848D-47D1-A1C3-1F8D8D31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911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示例：vehicle event 场景下的二维 Range-Angle Map 与候选 target</a:t>
            </a:r>
          </a:p>
        </p:txBody>
      </p:sp>
    </p:spTree>
    <p:extLst>
      <p:ext uri="{BB962C8B-B14F-4D97-AF65-F5344CB8AC3E}">
        <p14:creationId xmlns:p14="http://schemas.microsoft.com/office/powerpoint/2010/main" val="2082998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F6AF4-310A-4BC0-90DA-C298F1B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6DCC1-6EAE-4435-9291-47B8578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F7AE0-8D6F-47E1-9CFC-76E59D8E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为什么不能只用单 range bin 相位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04EB3-9264-4533-8E08-4FC0A9CF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问题动机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17782-CBF2-4D38-891B-68AE400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88A1D-7BA9-40E8-BDF8-48D843B5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DD17F-7243-4EE2-8D18-6BC39F6C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4095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30B7E-A82F-4B8E-A35D-FD378391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954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同一 range bin 内的相干混合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AAF41-C207-4B28-971B-E31158E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FF9"/>
          </a:solidFill>
          <a:ln xmlns:a="http://schemas.openxmlformats.org/drawingml/2006/main" w="11430">
            <a:solidFill>
              <a:srgbClr val="0F6F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AFC19-741E-4436-BF98-FAD745F4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range bin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92ABC-57CD-4EC1-BAF5-146A435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D50C2-C7E8-41E4-A1EC-4CDFFF6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86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5BBD5-B6A7-440A-8F1F-4DCDB05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20955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3F80A-3E07-4B3B-83A7-9669590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8FEC7-71BF-4E2C-A216-C92F3D9A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E329B-5457-45D2-98F6-746C8F27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28950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92AAC-3572-4B3C-961E-8223EDBC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52E2C-F21E-4E88-B9FC-B6778AED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86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45°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86E73-A814-4DFD-A7A4-A69C3A11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20955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85C61-4B85-4901-833F-45395356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单 bin 复数相位 = 多个 LoS 投影相位的叠加结果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145EF-DC23-45CC-A04C-C56D2CAB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带来的后果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3C677-447A-44ED-922F-C9C3AB57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333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2"/>
              </a:spcAft>
              <a:buNone/>
              <a:def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最强 range bin 不一定对应稳定物理 target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2"/>
              </a:spcAft>
              <a:buNone/>
              <a:def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同距离不同角度目标会形成 pseudo target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2"/>
              </a:spcAft>
              <a:buNone/>
              <a:def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等效 kappa 随散射体幅值变化而漂移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2"/>
              </a:spcAft>
              <a:buNone/>
              <a:def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强 wrapping 或 target 退化时误差被放大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A56AC-E3A1-44E9-AFE2-58D3697E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9DF46-779E-4616-B96C-0DF021C2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D3A99-106D-4436-9920-68497E60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43475"/>
            <a:ext cx="4029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因此本文先在 Range-Angle 维度分离 target，再进入结构主相位融合。</a:t>
            </a:r>
          </a:p>
        </p:txBody>
      </p:sp>
    </p:spTree>
    <p:extLst>
      <p:ext uri="{BB962C8B-B14F-4D97-AF65-F5344CB8AC3E}">
        <p14:creationId xmlns:p14="http://schemas.microsoft.com/office/powerpoint/2010/main" val="1547884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15E91-CEE9-4014-B9CA-61BA0BCA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98BE7-8A91-44EE-8094-8D27B7C0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64E8-B41F-4BCC-A6A3-2B098081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创新点 1：Range-Angle 多目标提取与筛选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65E69-1DC5-4D2F-909A-E5C8206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81F91-E8C0-4C4D-977E-6EF125E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B689F-1B8E-4E03-9C98-DF19AF0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37CD9-3DF8-4C88-BA48-DF0DB32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B1B6F-3E8B-4187-87FD-FD4EF12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2D peak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9495C-189B-45BA-A9C4-F4F79567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0C370-411A-4E26-8CF7-ED5D8CE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28380-B6E8-4C27-8D42-B2B308F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近角度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合并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84702-839F-45B9-9280-E438B04F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E1247-B6A0-4B93-83D0-8D7794B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45030-8B31-4997-81C0-52F2592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远角度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分离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C7DC4-8E85-4695-A395-00F916FD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1E84F-B982-4C64-A1D2-2EF2397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4A9EA-B895-437B-BF44-7F34E294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presence / SNR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频带筛选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32C99-E123-4C81-B040-38B018D4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53C4F-2C0F-412C-8E0A-C1B1E327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9028B-7E3C-41C8-A118-ADC1739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selected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targets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DF4D5-E2D1-4AD3-BCD6-6528AE9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同 range bin 且角度接近的 peak 合并为等效 target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同 range bin 但角度差较大的 peak 保留为不同 target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通过 presence、SNR 与结构频带一致性剔除不稳定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BC09E-C0DD-4CBA-85BF-3D330862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5524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1cdf9052e45e4"/>
          <a:stretch xmlns:a="http://schemas.openxmlformats.org/drawingml/2006/main"/>
        </p:blipFill>
        <p:spPr>
          <a:xfrm xmlns:a="http://schemas.openxmlformats.org/drawingml/2006/main">
            <a:off x="6217708" y="2619375"/>
            <a:ext cx="4233333" cy="23812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68218-EC40-4A3C-B55A-6CC919B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车辆事件场景：候选 target 的在线选择状态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5204D-58AD-4BB1-BDD9-0B3B12EF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904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FC4729-FB10-46BC-82D4-4B375BAA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DD13B-7B04-498D-AED1-B602C225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05475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目标筛选不是装饰步骤，而是在 Kalman 前阻断坏 target 污染主状态。</a:t>
            </a:r>
          </a:p>
        </p:txBody>
      </p:sp>
    </p:spTree>
    <p:extLst>
      <p:ext uri="{BB962C8B-B14F-4D97-AF65-F5344CB8AC3E}">
        <p14:creationId xmlns:p14="http://schemas.microsoft.com/office/powerpoint/2010/main" val="1080329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16DA5-0514-4B57-BA6B-6DA3D3F1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24B39-C6B6-4C1A-9845-FC7AA77E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FA5D6-E47E-43BF-B375-6E69737B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从单目标 LoS 相位到结构主相位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066FE-4ABE-41A2-8304-4335A2DC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D887E-E796-4BBD-BBC0-ABD5F653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FECF7-BEEB-48B4-9099-774AB73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EC935-0838-4CE7-8F39-619057D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4476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776DC-3675-474C-8B01-8552DC8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Ma-family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ED792-A90D-45C5-BF7D-155A0BC6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rPr>
              <a:t>xᵐᵃ = [ φ, φ̇ ]ᵀ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3FBF3-BF6C-4BAA-9632-35464F88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φ 表示单个 target 的 LoS 连续相位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加速度需要映射到该 target 的 LoS 方向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多 target 需要围绕某一个目标状态组织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63E00-1F85-4610-B764-3C6872A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76375"/>
            <a:ext cx="4476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3FAFE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26228-D962-4389-9D7B-6A7675C5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02148-A353-4AB9-A10F-76694555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rPr>
              <a:t>x = [ Θ, Θ̇ ]ᵀ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04567-C9AB-4EFF-AC4C-77964E5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Θ 表示结构主振动方向连续相位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加速度直接预测结构主相位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各 target 差异进入观测矩阵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3A51A-BC1B-4DC4-BF1D-6E243941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90751-9D0F-4C48-B12F-6DFCF80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9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9100"/>
                </a:solidFill>
                <a:latin typeface="Microsoft YaHei"/>
                <a:ea typeface="Microsoft YaHei"/>
                <a:cs typeface="Microsoft YaHei"/>
              </a:rPr>
              <a:t>状态物理含义提升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5A560-C60F-4C31-AC00-22ABCB89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8D981-0DF3-4EC3-BA86-95624174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03CFB-3F5E-4C46-A8B4-00321D0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关键转变：状态不再依附某个单一 target，而是表示所有 target 共同观测的结构主相位。</a:t>
            </a:r>
          </a:p>
        </p:txBody>
      </p:sp>
    </p:spTree>
    <p:extLst>
      <p:ext uri="{BB962C8B-B14F-4D97-AF65-F5344CB8AC3E}">
        <p14:creationId xmlns:p14="http://schemas.microsoft.com/office/powerpoint/2010/main" val="148734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0B470-E9FD-4F24-9BF6-B1F10B5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0E20F-76AC-4389-B644-1021961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D2CEA-6739-4DF1-9C9D-CA1C7D3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创新点 2：结构主相位多目标 Kalman 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D591D-4630-4206-A647-6B0954B7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0C169-A93A-48E8-B76D-11CF6098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A931A-FDAF-4C8E-8A3B-BFF35B39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A7770-D83A-494A-ACA3-C1C0C57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多个 target 是同一结构状态的多通道观测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99261-E1B1-4276-8944-E879287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14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AFD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90328-0D81-454E-84E3-D3BE6DD9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rPr>
              <a:t>zᵢ,k = κᵢ Θₖ + bᵢ + vᵢ,k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26AE5-E16A-4EAB-B0C7-7F0EADAB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Hᵢ = [ κᵢ, 0 ]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F6600-229E-4D36-95C3-F240B8E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Θₖ = 4π·δqₖ / 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3E917-C51D-4EA5-87B6-DD24751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3DC0B-A273-4591-9845-01FBBEC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5EDA9-57C6-4E26-9834-D23C053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B558C-D194-4015-AA44-F637D9F5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C4604-BBCC-4781-BCA0-E8DF462E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35583-7ADD-4ED9-BC04-1E35B75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2B8D2-6344-4538-9141-A0AA106F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F0AE7-4F87-4692-9EC6-EAE4993B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F8652-7061-4415-8F8F-2AE093D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01AA3-94EA-435A-9DEA-F1BA97C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51F41-1BFC-40BD-89DD-830232BA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7177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结构主相位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Kalman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F522C-28A0-44A9-B0A6-A897B84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863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target-wise R 位于这里：根据观测质量调整每个 target 的更新权重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56D9A-6C18-4A21-BBE3-38520AEB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BB4C9-BFBC-46BC-A00C-249A5DB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446F0-C94F-4E0D-B603-FEDA08F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不是多个 target 各自反算位移后平均，而是在相位状态层统一融合。</a:t>
            </a:r>
          </a:p>
        </p:txBody>
      </p:sp>
    </p:spTree>
    <p:extLst>
      <p:ext uri="{BB962C8B-B14F-4D97-AF65-F5344CB8AC3E}">
        <p14:creationId xmlns:p14="http://schemas.microsoft.com/office/powerpoint/2010/main" val="2081033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747D29-8B2E-40AE-BC4B-075AE7A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713E6-10AA-4D63-817D-F418181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8B298-D05D-4C00-AA7B-A582D812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预测辅助相位校正：解决强 wrapping 下的分支选择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5466-856C-44D6-B285-BF72C02E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9A5AB-5C83-406A-9ACD-014C426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20648-4FD7-4D0E-8D32-36ACB156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47655-3809-4434-99B3-31F3BEBF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191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BE851-B140-459E-8584-7440B440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00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校正思想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2708C-69C1-4A28-A5A1-2B81FA23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rPr>
              <a:t>φᵢ,k⁻ = κᵢ Θₖ⁻ + bᵢ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BA2BE-AD81-49EF-A4E8-6F88CDD1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zᶜᵒʳʳᵢ,k = ψᵢ,k + 2π round((φᵢ,k⁻ - ψᵢ,k)/2π)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95D75-5C69-4716-B083-718EEFEF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加速度驱动的结构主相位预测先映射到每个 target 的 LoS 相位，再选择 wrapped phase 的最近分支。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0AB2C-740B-44B3-B04E-1DAB966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14450"/>
            <a:ext cx="5715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1d6fda52a4d2a"/>
          <a:stretch xmlns:a="http://schemas.openxmlformats.org/drawingml/2006/main"/>
        </p:blipFill>
        <p:spPr>
          <a:xfrm xmlns:a="http://schemas.openxmlformats.org/drawingml/2006/main">
            <a:off x="5524500" y="1601391"/>
            <a:ext cx="5429250" cy="31218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0EA68-A4B5-47F5-AEFE-9FD53694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strong wrapping 场景：wrapped phase、校正相位与真实 LoS phase 对比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C53D3-AC4B-4AA9-9E07-66C11798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42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45D9B-2303-44AF-9D0F-64DADCE1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FCC8B-A2F2-466C-849E-747B36F5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48350"/>
            <a:ext cx="912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结果层面：本文方法在 strong_wrapping 场景 RMSE = 0.0143 mm，unwrap error rate = 0。</a:t>
            </a:r>
          </a:p>
        </p:txBody>
      </p:sp>
    </p:spTree>
    <p:extLst>
      <p:ext uri="{BB962C8B-B14F-4D97-AF65-F5344CB8AC3E}">
        <p14:creationId xmlns:p14="http://schemas.microsoft.com/office/powerpoint/2010/main" val="9780123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85BAD-878F-476F-8800-BB5ABA06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E0073-588D-46C6-BB7E-096AC400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82C85-ABD4-4D58-90C7-A67E58B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创新点 3：AoA 冷启动与 online kappa bootstrap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6DFFA-ED27-47A1-9506-7BB1AB38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EA4F0-3F4F-4619-ABF8-A66F1000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C8394-6C9D-49C7-A0AB-C49890E5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6E36-22DA-418D-8BBF-2245FC2D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9F367-87C7-4CA8-B8DF-01A68494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AoA cold start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κᵢ,0 = cos θᵢ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BD282-FEFD-4183-A95F-784C047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954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72E93-9C1C-4793-974A-B1CF8D37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9BCA0-88DC-4CC7-BF6C-6C9FC5B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71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预测校正相位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zᶜᵒʳʳᵢ,k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8C4DF-EAED-4123-8F86-35B63415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954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CAA9D-9FE1-4456-AD16-12D9FA98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B707B-9893-4D94-9D71-415523E0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短窗口 LS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更新 κᵢ,k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F4708-D955-4BBC-990A-18DDD4BC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AoA 只提供可启动的几何初值，不作为最终固定转换系数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同一个 z_corr 同时用于 Kalman update 和 kappa bootstrap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8"/>
              </a:spcAft>
              <a:buNone/>
              <a:def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kappa 不确定时通过有效 R 降低对应 target 的观测权重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EEE11-B9AD-475E-8BD1-44C004A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85875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134e1d7b14d2e"/>
          <a:stretch xmlns:a="http://schemas.openxmlformats.org/drawingml/2006/main"/>
        </p:blipFill>
        <p:spPr>
          <a:xfrm xmlns:a="http://schemas.openxmlformats.org/drawingml/2006/main">
            <a:off x="6715125" y="1808559"/>
            <a:ext cx="4476750" cy="2574131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7A0CE-A452-45A5-868D-A7A5DF60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AoA 初值误差场景：κ 在线估计逐步收敛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AD767-B99C-4C81-BAE1-C937A82C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54FFE-753D-4D10-8147-B871B22E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10714-08B3-44B5-ADD4-1E951A3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48350"/>
            <a:ext cx="950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在 AoA error bootstrap 场景，固定 kappa baseline RMSE = 0.0540 mm；本文方法 RMSE = 0.0153 mm。</a:t>
            </a:r>
          </a:p>
        </p:txBody>
      </p:sp>
    </p:spTree>
    <p:extLst>
      <p:ext uri="{BB962C8B-B14F-4D97-AF65-F5344CB8AC3E}">
        <p14:creationId xmlns:p14="http://schemas.microsoft.com/office/powerpoint/2010/main" val="14535342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29240-0D10-49A8-BBDC-7C2B46F3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B8374-6F73-490D-AF75-C5C189E1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9C8D8-716F-49D0-8B76-66C5A3EE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完整算法流程框图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B004-3611-48C5-A7A5-61C30D20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55A9E-6043-49A4-81AF-3FC0CEE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6AFF5-1ABA-458C-9D90-C4D5C3E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084F3-C832-44AF-97E7-9CEB947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BE43F-E2B4-4FBC-B03C-5357EB22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Radar ADC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9478F-1807-4417-88F1-3070F68F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96697-55FA-4CA5-95DF-C606BA8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BC997-602D-4F5B-A1DC-A8DCAEEF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Range FFT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Angle FFT / DBF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ACB4A-D0B4-4F9F-992B-69CAD9B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CFEFD-A471-4F25-9DBE-EBE455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749E2-908C-4D15-8FCB-22F17FE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2D peak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Range-Angle targets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C71F5-E24F-4789-857E-A026758E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D3432-B21B-4DC2-A3ED-089716D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C3BCD-1F5E-4025-A30D-CDEA8956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Target selection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presence / SNR / band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A8110-30EF-4D7C-AC7D-5A5D1A82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81558-57A2-4E6F-9618-697A4BC9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499B-99F0-4BB1-AF5B-77D142A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AoA cold start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κᵢ,0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A6D60-443A-4096-B082-F71A0D68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9EDEA-2FFF-47F5-8013-F0395432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3AF30-51A9-4685-BEAE-FA7B9A2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Structural-main-phase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Kalman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DD50D-7431-49DF-B75F-23916D0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F478F-3DA0-4B46-B777-F586478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Acceleration input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x⁻ = A x + B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31FA6-BC5F-4873-9C91-AFE6849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F491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25536-03C5-49DB-BCAF-AA4E67DA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Prediction-aided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phase correction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77881-44EB-4D5B-B891-8EBAAC8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902F1-9DF3-42C2-AEA8-724E4F2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online κ bootstrap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+ target-wise 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062BD0-D7CD-48C7-8EFC-0544EC9C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6192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60E8C6-CBE8-4830-93BF-46138E8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385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Displacement output</a:t>
            </a:r>
          </a:p>
          <a:p xmlns:a="http://schemas.openxmlformats.org/drawingml/2006/main">
            <a:pPr algn="ctr">
              <a:def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δq = λΘ / 4π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A0EFB-8D69-48F2-AED9-6A559EC4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3A8C6-425B-4F39-B4A9-7210AF7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3AC624-9EF0-4362-B29F-EA8C40DB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918E7D-CFAE-4DD2-BB58-CA333C44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FBE603-91D5-47ED-BF70-589BFAF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DD96D-7FB5-4D37-937F-DEB618E4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Kalman 闭环：预测 -&gt; 分支校正 -&gt; 更新 -&gt; κ/R 权重更新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28507A-E9DB-4B1A-A304-8EFB7E26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866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2309D0-20E7-403E-9C73-CBBD67A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Phase 1 验证重点：synthetic ADC / Range-Angle 前端 + selected targets + 结构主相位融合的完整算法闭环</a:t>
            </a:r>
          </a:p>
        </p:txBody>
      </p:sp>
    </p:spTree>
    <p:extLst>
      <p:ext uri="{BB962C8B-B14F-4D97-AF65-F5344CB8AC3E}">
        <p14:creationId xmlns:p14="http://schemas.microsoft.com/office/powerpoint/2010/main" val="11863547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55933-156F-46E9-A9BD-D9B9400D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36473-8CD9-4F0D-9C28-388FB3AF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8AFF9-7C62-4E9F-94AB-DB03BF6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Phase 1 仿真实验设计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F4FDE-1280-458D-B4F8-275FE67E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仿真验证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096E-CC31-4773-9728-39BCFE9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CE08B-66C1-45CF-978D-E33F980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CCE81-2F62-492D-8B07-77CEB9B2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六个主实验场景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8ABAD-86ED-414F-A843-0092052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0C53E-F996-4497-B5DE-005F9BD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文献主频磁浮梁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A131D-7725-4CC7-96B2-D0F481AE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7.7737 / 11.5742 / 26.5642 Hz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AE40E-DE62-434F-9A40-52A9C7A2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58AC5-BD1F-44A4-AC0D-4A1996F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95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强相位缠绕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457C4-2F51-4C1A-A7C9-E469CA46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71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约 5 mm 峰值位移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77585-EBC6-40EB-8EF1-AA75B355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18EFD-ADF2-49D3-95A6-89A2906F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同 range 远角度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58C0D-3CC1-431A-BEF8-54F3D0F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验证 angle-bin 分离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65311-28DA-4D4C-B5E7-EF5283F2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9B78C-7493-4EA3-B43D-C1BCB95D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95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AoA 初值误差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BFEF1-A211-4AAD-90DE-94ADFC05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718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验证 κ bootstrap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BE0FA-E0FF-49FD-B393-1D482660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CAE90-71EF-4E90-BA77-22F44513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target SNR drop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FE486-57E8-4F4F-A017-EEC0161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验证坏目标降权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54D0C-E749-4245-BEB4-4EFE5F6B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F5BDE-9F8B-4C25-8179-F31E0F99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95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车辆非平稳事件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F0464-9744-4EB2-8A6C-CEC0C6E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719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验证完整闭环运行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65C79-1A2D-408E-8254-488F74F5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57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默认主对比方法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8D0B5-2180-44C3-91E5-276D77F4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90700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C314F-26D0-4621-BF23-E4C9ADAB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range_bin_itoh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82ACE-401E-4917-951B-1096FC95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传统 range-bin phase + Itoh unwrap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E09CB-ABA3-4F83-8E07-33F1666C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81275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6A5B3-3A49-4BD2-8D77-FD38D2E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ma2026_reproduction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E4F057-8A71-4513-A1EF-ED4F39DA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正式 Ma-family staged baseline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F8C8B-3951-4AC9-A526-1DEECCFF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21E51C-C8AD-47A7-936E-A13AAA2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selected_aoa_fixed_kappa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2E08F-C52A-4F1D-9845-0D94F2E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957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筛选 target + 固定 AoA kappa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A8EF00-4B59-4FF3-9E96-7D748B33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62425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10478">
            <a:solidFill>
              <a:srgbClr val="0F6F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1EDF8-FF9B-4F56-89EC-E28FCD5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57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6FC6"/>
                </a:solidFill>
                <a:latin typeface="Microsoft YaHei"/>
                <a:ea typeface="Microsoft YaHei"/>
                <a:cs typeface="Microsoft YaHei"/>
              </a:rPr>
              <a:t>proposed_full_pipeline_kappa_confidence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88C37C-68A0-4BC1-954F-63350B41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862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本文完整链路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5625C1-8F23-4EDA-91BB-77EFFE2B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923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F491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D5165D-81F3-4BAD-B450-9A08EF6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A482E0-5C06-4ABB-8F67-D05C0062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4835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边界：当前为算法级 synthetic ADC / Range-Angle 验证，不声称完成真实 IWR1843 ADC 实测闭环。</a:t>
            </a:r>
          </a:p>
        </p:txBody>
      </p:sp>
    </p:spTree>
    <p:extLst>
      <p:ext uri="{BB962C8B-B14F-4D97-AF65-F5344CB8AC3E}">
        <p14:creationId xmlns:p14="http://schemas.microsoft.com/office/powerpoint/2010/main" val="9197515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464D4-30E8-4596-8DA2-2718C28F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6BE55-F89D-4505-B298-B12555BE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578E5-7B14-4DD0-B2BD-48D64B3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实验结果：主场景 RMSE 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32DF-9B5E-4480-ACDF-5EB08C55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仿真验证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1F04-43DB-4624-84AF-7039089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057B1-D53D-4400-8590-158F121F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D8E13-13BF-4253-A687-A68D4126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A5E93-DBBE-4C0D-9F5F-F3073A2D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573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15606-BEC1-4E92-B47C-6482484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8B52C-3AC4-4484-8E30-F2EEF534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range-bin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702E7-F419-424F-8E54-482E968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C8A22-7181-4495-A976-FD8988A6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ADFD6-A3D9-4F47-A0BD-C05CB17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E5ABD-4464-4110-8F86-564213B9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fixed 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647B3-F218-4248-BA37-BFF88106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8112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40323-5F84-4C85-AF06-9A2E902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573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1409E-020A-43FD-AD61-14121ED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29BDB-1C5E-4AEE-94BF-1FBBD4A9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literature_maglev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A4B74-4BDC-43AD-90BD-F0E1BCE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EA961-6BAB-4E89-8855-4888DFAF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0.0136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1F8BD-4159-42EB-832B-C1E8F7E9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536BE-29E0-4AFC-9739-721AFE0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0.0122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F5E89-356B-4E6C-85A0-5F171C9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F96A8-3F8B-4DBB-A2AF-0040DDC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0.0589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BE28A-0C4D-455F-BF78-0DE9591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3AACB-A9FE-4772-824D-74449E2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0.0087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FE3BE-E29D-4F45-9CA0-52151FA5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24BF2-4B7B-4A64-8DD6-510CC3E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strong_wrapping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23A10-4337-492F-8031-443FB764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DCF414-EDDE-4F6F-892E-C1DA27B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5.5477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65379-2469-4E5C-9603-BE7FDDC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D1BBD0-C6E3-4FC7-9109-5095D2F1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0.0341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0F0FD3-9434-44BE-9072-7441641B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4180D-619B-48B7-B96E-2823E97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12.3861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4941A2-FA98-4EA5-B5A6-888EC7A6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4317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19EA24-527D-4975-B8B7-57C445A0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0.0143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26D814-5AE4-46DD-9886-6D5581ED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3AEA7-D02D-425F-A63C-D028AA3D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same_range_far_angles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F8C19B-5261-41F1-8973-3F97E343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C3D5C9-1187-439F-94B3-9677AEC1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0.0745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0A95DD-A9A6-4E8C-9842-746A612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63D1B8-0DB3-43FB-91E4-245603CA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0.0906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59F7E5-D472-4589-8CD7-2E545DD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F54512-F763-4971-B4D0-A52CD45C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0.0514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ABD4C7-4C02-45A5-9CD4-DB890344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243FFE-0DB8-4BD7-93E7-CF8F0B4C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0.0140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13AA57-5977-4B1D-9EF1-A7C3896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AA1218-ED32-4626-A989-D9862150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aoa_error_bootstrap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ADF479-8070-4A69-B400-E693D56A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582E13-FB77-4386-89AE-F41C119F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0.0167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71A0D8-EFB4-4418-827E-62B06B0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E27C8D-33F8-42F6-956C-44207FD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0.0386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36283C-1AC5-4FC2-92DF-7BAA21A5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3AC1B9-62BD-4F89-B979-F1F77949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0.0540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564A88-A8B3-40CC-9C1A-B8D54375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0522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BC9C5C-5D70-4EFC-88A3-D6B3E654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0.0153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63DEAF-5B91-4872-88E3-BE63C28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2D248D-76EA-4635-AA2F-269E090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target_snr_drop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755863-F1CF-4D21-87F7-D2C9323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2351A4-310D-4812-867B-3003758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2.4951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D404B8-CC69-4D15-A19B-6B2CA3AA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5338E4-45FB-47D0-90CE-1FBC7350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0.1777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A46906-9885-4284-9766-36845376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4DD1A3-6B53-4471-B8A1-6461924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0.0773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DF37D6-4CEE-4129-8C64-A684337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EA38D3-9F07-449E-94B8-7CD0BF0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0.0604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05FBED-DAC4-460C-AB01-B38599E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1592D2-4D49-47A8-B206-F2505036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vehicle_event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5ED2FA-4222-4836-B56B-6FCF7E2B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7DFFF6-CF1D-4565-875D-5D7A11C1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0.0224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6E931B-02FD-455A-892C-7C55C6C2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44472E-B421-45F6-888F-83DEF34B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0.0354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82E178-1E87-4C0C-AD13-5F17DF10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FCF79F-5D60-4240-A6AF-00706E2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0.0295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8303D2-71AA-4177-9E31-F5CDBDF8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6727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CC3753-6BBE-424A-AB7D-DA76D89A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4347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0.0143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6E1043-B50A-42A6-9B43-40B75F02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单位：mm；数值越小表示相对位移估计误差越低。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ED1CE0-1B42-4EAD-9B97-8234890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2B7868-80AA-4FFF-8575-22AAE5C6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DB0531-57F2-4E8A-8544-AC4E618C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483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观察：本文方法在强 wrapping、同 range 远角度、AoA 初值误差和车辆事件等关键场景均保持低误差。</a:t>
            </a:r>
          </a:p>
        </p:txBody>
      </p:sp>
    </p:spTree>
    <p:extLst>
      <p:ext uri="{BB962C8B-B14F-4D97-AF65-F5344CB8AC3E}">
        <p14:creationId xmlns:p14="http://schemas.microsoft.com/office/powerpoint/2010/main" val="11064129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31DB3-915D-40AE-A452-5D3DC516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54F42-D2DF-4744-9F17-9DB824C4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C5E53-5B86-45BD-BF7D-1A16A76F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仿真数据：时域与频域响应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CC8C5-006D-4AD9-A57D-4BB44170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仿真验证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0CEE0-2649-41F7-8894-BFACF452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2DAA1-E6C0-4F8F-A418-8FC1A4C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59DE6-F940-4C1C-83D2-F7D65E45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车辆非平稳事件场景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8D725-8C95-4ED9-8626-5062512F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用于检查 truth 位移是否具有 quiet start、弱振动 bootstrap、车辆事件主响应和非平稳频谱特征。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EB3AE-623F-4F41-A717-8E75767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C07D8-A9D2-464B-9C4F-7579BC56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27a7d536447ac"/>
          <a:stretch xmlns:a="http://schemas.openxmlformats.org/drawingml/2006/main"/>
        </p:blipFill>
        <p:spPr>
          <a:xfrm xmlns:a="http://schemas.openxmlformats.org/drawingml/2006/main">
            <a:off x="914400" y="2481957"/>
            <a:ext cx="4781550" cy="2141736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23bbf66854ab3"/>
          <a:stretch xmlns:a="http://schemas.openxmlformats.org/drawingml/2006/main"/>
        </p:blipFill>
        <p:spPr>
          <a:xfrm xmlns:a="http://schemas.openxmlformats.org/drawingml/2006/main">
            <a:off x="6467475" y="2481957"/>
            <a:ext cx="4781550" cy="214173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90E75-B1FC-4E45-9B31-B8D77C3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时域位移：由静止段逐步进入车辆事件响应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ADB5E-2BB9-4584-87C4-61AD25FF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43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频域位移：主响应频带与非平稳包络共同形成谱峰/泄漏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393AF-C6F7-4498-9C4B-85AD31D5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05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3F044-EDE9-4EA4-8411-3C18F790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725D7-F0BE-4D79-81ED-52665CE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43600"/>
            <a:ext cx="860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这页只展示仿真输入数据形态；算法效果在下一页通过退化场景诊断图和 RMSE 表体现。</a:t>
            </a:r>
          </a:p>
        </p:txBody>
      </p:sp>
    </p:spTree>
    <p:extLst>
      <p:ext uri="{BB962C8B-B14F-4D97-AF65-F5344CB8AC3E}">
        <p14:creationId xmlns:p14="http://schemas.microsoft.com/office/powerpoint/2010/main" val="15118917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A7115C-1549-4E25-918B-46C65626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A5A7-7641-495B-8A2A-2D417B3C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8A578-D1C0-4F9C-861F-33C904F2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关键场景图像结果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5C8CF-BFC4-4876-9E43-A3F6D1D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仿真验证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9FB26-9CE9-4CCC-AE7A-EA2844FC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D7CAC-7EF4-441F-ABD2-B870D534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A1924-3D68-4A62-BB30-C05665A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13A12-F1A4-4C53-9FCF-E35F79C3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382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C0210-6682-461A-8A48-41A1D4C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EDB61-29AD-4DE5-AFD9-5C29947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47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4343b876d4e07"/>
          <a:stretch xmlns:a="http://schemas.openxmlformats.org/drawingml/2006/main"/>
        </p:blipFill>
        <p:spPr>
          <a:xfrm xmlns:a="http://schemas.openxmlformats.org/drawingml/2006/main">
            <a:off x="1709323" y="1381125"/>
            <a:ext cx="2915478" cy="16764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38a72c15f4db2"/>
          <a:stretch xmlns:a="http://schemas.openxmlformats.org/drawingml/2006/main"/>
        </p:blipFill>
        <p:spPr>
          <a:xfrm xmlns:a="http://schemas.openxmlformats.org/drawingml/2006/main">
            <a:off x="7138573" y="1381125"/>
            <a:ext cx="2915478" cy="16764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f92e6e240473a"/>
          <a:stretch xmlns:a="http://schemas.openxmlformats.org/drawingml/2006/main"/>
        </p:blipFill>
        <p:spPr>
          <a:xfrm xmlns:a="http://schemas.openxmlformats.org/drawingml/2006/main">
            <a:off x="1709323" y="3857625"/>
            <a:ext cx="2915478" cy="16764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14ab9ecc34bb3"/>
          <a:stretch xmlns:a="http://schemas.openxmlformats.org/drawingml/2006/main"/>
        </p:blipFill>
        <p:spPr>
          <a:xfrm xmlns:a="http://schemas.openxmlformats.org/drawingml/2006/main">
            <a:off x="7138573" y="3857625"/>
            <a:ext cx="2915478" cy="1676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558B7-6516-4676-BA85-85E8AE2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强 wrapping：预测辅助相位校正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1CCF2-19D1-4364-9FA1-59DC0F9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AoA 误差：κ bootstrap 收敛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D27B7-60D0-4550-8208-DAD57AB0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target SNR drop：观测权重调整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32275-1F59-487B-9EB8-A3C733A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150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车辆事件：位移估计对比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8F907-F2D4-4895-AC86-4EB1C46D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008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第一版先保留核心诊断图，后续可按老师反馈替换为更论文风格的统一制图。</a:t>
            </a:r>
          </a:p>
        </p:txBody>
      </p:sp>
    </p:spTree>
    <p:extLst>
      <p:ext uri="{BB962C8B-B14F-4D97-AF65-F5344CB8AC3E}">
        <p14:creationId xmlns:p14="http://schemas.microsoft.com/office/powerpoint/2010/main" val="6145772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9B92F9-9631-4DBD-A592-D67DA9CE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F09AB-07C5-4116-904C-3790B278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D3B17-065D-4DDD-B11F-E7898C6D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7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阶段结论与下一步工作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EB9EA-5CB5-4761-8196-1BA2239E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2DE2D-D7B7-453A-8628-19FC60C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A8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49E24-576B-4F74-80D3-1913A05B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B6E36-A33A-4874-94C1-EB02EB2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当前已完成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43023-29C2-49DE-AA21-7842575E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synthetic ADC / Range-Angle frontend 完整接入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Range-Angle target selection 与同 range 远角度分离已实现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结构主相位 Kalman、预测辅助解缠、online κ bootstrap 已形成闭环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默认 validation feasibility gates：12/12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F2F0D-3920-42CF-A795-6EC2957C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3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后续工作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89EBD-A01A-41A3-93C9-04A19F2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85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接入真实 IWR1843 raw ADC 文件解析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开展天线幅相标定与 TDM-MIMO 相位补偿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建立雷达、加速度、激光参考的时间同步流程</a:t>
            </a:r>
          </a:p>
          <a:p xmlns:a="http://schemas.openxmlformats.org/drawingml/2006/main">
            <a:pPr marL="20" indent="-12">
              <a:lnSpc>
                <a:spcPct val="115000"/>
              </a:lnSpc>
              <a:spcAft>
                <a:spcPts val="11"/>
              </a:spcAft>
              <a:buNone/>
              <a:def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6384D"/>
                </a:solidFill>
                <a:latin typeface="Microsoft YaHei"/>
                <a:ea typeface="Microsoft YaHei"/>
                <a:cs typeface="Microsoft YaHei"/>
              </a:rPr>
              <a:t>推进实桥/磁浮轨道梁场景下的同步实测验证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62309-EE99-4E22-8005-6F37361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CC7CB-D97B-4E22-84C5-4FE2FAD0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625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当前结论来自 Phase 1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合成仿真与实测位移驱动半实测仿真，尚不替代真实毫米波雷达现场验证。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226103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2026-06-22T15:18:48.2740000Z</dcterms:created>
  <dcterms:modified xsi:type="dcterms:W3CDTF">2026-06-22T15:18:48.2740000Z</dcterms:modified>
</coreProperties>
</file>