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embeddedFontLst>
    <p:embeddedFont>
      <p:font typeface="DejaVu Math TeX Gyre" panose="02000503000000000000" charset="0"/>
      <p:regular r:id="rId27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23950"/>
            <a:ext cx="12192000" cy="6667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228600"/>
            <a:ext cx="704850" cy="70485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476375" y="2762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硕士论文阶段汇报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272665"/>
            <a:ext cx="876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基于多源数据融合的</a:t>
            </a:r>
            <a:endParaRPr sz="315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  <a:p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磁浮轨道振动监测方法研究</a:t>
            </a:r>
            <a:endParaRPr sz="315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1225" y="3543300"/>
            <a:ext cx="4953000" cy="38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165340" y="299656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60590" y="314896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倒挂式雷达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165590" y="299656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009D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260840" y="314896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静止散射体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8736965" y="3187065"/>
            <a:ext cx="40005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7165340" y="412051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10CF9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60590" y="431101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加速度预测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65590" y="412051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260840" y="431101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结构主相位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8736965" y="4311015"/>
            <a:ext cx="400050" cy="266700"/>
          </a:xfrm>
          <a:prstGeom prst="rightArrow">
            <a:avLst/>
          </a:prstGeom>
          <a:solidFill>
            <a:srgbClr val="0F6FC6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汇报内容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98575" y="1844675"/>
            <a:ext cx="742950" cy="742950"/>
          </a:xfrm>
          <a:prstGeom prst="ellipse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985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251075" y="2082800"/>
            <a:ext cx="742950" cy="323850"/>
          </a:xfrm>
          <a:prstGeom prst="rightArrow">
            <a:avLst/>
          </a:prstGeom>
          <a:solidFill>
            <a:srgbClr val="A9D9E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66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研究背景与问题定义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42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从静态参考点依赖引出倒挂式毫米波雷达测振需求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4079875" y="1844675"/>
            <a:ext cx="742950" cy="7429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798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5032375" y="2082800"/>
            <a:ext cx="742950" cy="323850"/>
          </a:xfrm>
          <a:prstGeom prst="rightArrow">
            <a:avLst/>
          </a:prstGeom>
          <a:solidFill>
            <a:srgbClr val="A9D9E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179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毫米波雷达位移测量原理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655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FMCW 测距、相位微位移、Range-Angle Map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861175" y="1844675"/>
            <a:ext cx="742950" cy="7429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611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7813675" y="2082800"/>
            <a:ext cx="742950" cy="323850"/>
          </a:xfrm>
          <a:prstGeom prst="rightArrow">
            <a:avLst/>
          </a:prstGeom>
          <a:solidFill>
            <a:srgbClr val="A9D9E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992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本文方法与关键创新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468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多目标参考点、结构主相位 Kalman、转换系数自举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642475" y="1844675"/>
            <a:ext cx="742950" cy="7429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6424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805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281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主场景、对比方法、RMSE 表格与关键图像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924115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研究背景：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高精度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结构位移监测需要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安装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在静态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参考点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研究背景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28587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桥梁与磁浮轨道梁位移响应</a:t>
            </a:r>
            <a:endParaRPr sz="21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866900"/>
            <a:ext cx="4476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动态位移直接反映结构刚度、车辆荷载响应与服役状态</a:t>
            </a: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143625" y="1257300"/>
            <a:ext cx="5398770" cy="3486150"/>
          </a:xfrm>
          <a:prstGeom prst="roundRect">
            <a:avLst>
              <a:gd name="adj" fmla="val 2186"/>
            </a:avLst>
          </a:prstGeom>
          <a:solidFill>
            <a:srgbClr val="F4FAFD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15240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传统位移测量的现场约束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2047875"/>
            <a:ext cx="1190625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553200" y="21240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67625" y="2047875"/>
            <a:ext cx="142875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43825" y="21240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主要依赖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96375" y="2047875"/>
            <a:ext cx="1952625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72575" y="21240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现场局限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2581275"/>
            <a:ext cx="1190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53200" y="26574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激光/LVDT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67625" y="2581275"/>
            <a:ext cx="1428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43825" y="26574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稳定基准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96375" y="2581275"/>
            <a:ext cx="1952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72575" y="26574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布设空间与安全约束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77000" y="3114675"/>
            <a:ext cx="1190625" cy="533400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553200" y="31908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视觉测量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67625" y="3114675"/>
            <a:ext cx="1428750" cy="533400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743825" y="31908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固定相机/视线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96375" y="3114675"/>
            <a:ext cx="1952625" cy="533400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72575" y="31908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光照、遮挡与标靶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3648075"/>
            <a:ext cx="1190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53200" y="37242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GNSS/组合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67625" y="3648075"/>
            <a:ext cx="1428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743825" y="37242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开阔天空/多源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96375" y="3648075"/>
            <a:ext cx="1952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72575" y="37242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精度与成本受限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76300" y="5191125"/>
            <a:ext cx="9620250" cy="666750"/>
          </a:xfrm>
          <a:prstGeom prst="roundRect">
            <a:avLst>
              <a:gd name="adj" fmla="val 11429"/>
            </a:avLst>
          </a:prstGeom>
          <a:solidFill>
            <a:srgbClr val="F7FBFE"/>
          </a:solidFill>
          <a:ln w="15240">
            <a:solidFill>
              <a:srgbClr val="F4910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5191125"/>
            <a:ext cx="76200" cy="666750"/>
          </a:xfrm>
          <a:prstGeom prst="rect">
            <a:avLst/>
          </a:prstGeom>
          <a:solidFill>
            <a:srgbClr val="F4910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66800" y="5381625"/>
            <a:ext cx="9315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核心矛盾：高精度位移测量通常需要静态参考点，而桥梁现场恰恰难以稳定布设参考点。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7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2809875"/>
            <a:ext cx="5114925" cy="1980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倒挂式毫米波雷达：关键挑战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问题定义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619250"/>
            <a:ext cx="4000500" cy="36195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16764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梁体 / 磁浮轨道梁</a:t>
            </a:r>
            <a:endParaRPr sz="15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266950" y="2076450"/>
            <a:ext cx="1333500" cy="571500"/>
          </a:xfrm>
          <a:prstGeom prst="roundRect">
            <a:avLst>
              <a:gd name="adj" fmla="val 13333"/>
            </a:avLst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400300" y="2143125"/>
            <a:ext cx="1066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雷达 +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加速度计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等腰三角形 11"/>
          <p:cNvSpPr>
            <a:spLocks noGrp="1"/>
          </p:cNvSpPr>
          <p:nvPr/>
        </p:nvSpPr>
        <p:spPr>
          <a:xfrm>
            <a:off x="552450" y="2635885"/>
            <a:ext cx="4705350" cy="2771140"/>
          </a:xfrm>
          <a:prstGeom prst="triangle">
            <a:avLst/>
          </a:prstGeom>
          <a:solidFill>
            <a:srgbClr val="DDF2FB"/>
          </a:solidFill>
          <a:ln w="12383">
            <a:solidFill>
              <a:srgbClr val="009DD9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285875" y="4762500"/>
            <a:ext cx="495300" cy="495300"/>
          </a:xfrm>
          <a:prstGeom prst="ellipse">
            <a:avLst/>
          </a:prstGeom>
          <a:solidFill>
            <a:srgbClr val="B8DFE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85875" y="4876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T1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2571750" y="4362450"/>
            <a:ext cx="495300" cy="495300"/>
          </a:xfrm>
          <a:prstGeom prst="ellipse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571750" y="44767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3647440" y="4267200"/>
            <a:ext cx="495300" cy="495300"/>
          </a:xfrm>
          <a:prstGeom prst="ellipse">
            <a:avLst/>
          </a:prstGeom>
          <a:solidFill>
            <a:srgbClr val="B8DFE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47440" y="4381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T3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4400" y="54768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环境静止散射体作为参考目标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15050" y="1314450"/>
            <a:ext cx="857250" cy="323850"/>
          </a:xfrm>
          <a:prstGeom prst="roundRect">
            <a:avLst>
              <a:gd name="adj" fmla="val 23529"/>
            </a:avLst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136461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1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91375" y="13049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bin 多角度混合</a:t>
            </a:r>
            <a:endParaRPr sz="17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91375" y="1657350"/>
            <a:ext cx="3810000" cy="4933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复数相量叠加后相位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再通过拟合得到的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转换系数适配性差，导致精度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降低。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15050" y="2381250"/>
            <a:ext cx="857250" cy="323850"/>
          </a:xfrm>
          <a:prstGeom prst="roundRect">
            <a:avLst>
              <a:gd name="adj" fmla="val 23529"/>
            </a:avLst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243141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2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91375" y="23717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丢失或退化</a:t>
            </a:r>
            <a:endParaRPr sz="17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91375" y="27241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遮挡、低 SNR、移动干扰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导致精度降低、监测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不连续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115050" y="3481705"/>
            <a:ext cx="857250" cy="323850"/>
          </a:xfrm>
          <a:prstGeom prst="roundRect">
            <a:avLst>
              <a:gd name="adj" fmla="val 23529"/>
            </a:avLst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91250" y="351472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3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91375" y="34385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phase wrapping</a:t>
            </a:r>
            <a:endParaRPr sz="17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191375" y="37909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毫米级强响应会导致相位跨越多个周期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，传统方法无法解决强包裹问题，现有方法的解缠步骤割裂，没能实现处理流程闭环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一体化。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115050" y="4655820"/>
            <a:ext cx="857250" cy="323850"/>
          </a:xfrm>
          <a:prstGeom prst="roundRect">
            <a:avLst>
              <a:gd name="adj" fmla="val 23529"/>
            </a:avLst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191250" y="472249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4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91375" y="464629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转换系数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需人工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标定</a:t>
            </a:r>
            <a:endParaRPr sz="17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91375" y="499872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传统用法要求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必须垂直于雷达，否则需要自己测量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的角度，安装使用非常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不方便。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从问题引出本文的三组创新设计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创新点总览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428750"/>
            <a:ext cx="3857625" cy="647700"/>
          </a:xfrm>
          <a:prstGeom prst="rect">
            <a:avLst/>
          </a:prstGeom>
          <a:solidFill>
            <a:srgbClr val="184A78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543050"/>
            <a:ext cx="3514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现场问题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19625" y="1428750"/>
            <a:ext cx="3762375" cy="647700"/>
          </a:xfrm>
          <a:prstGeom prst="rect">
            <a:avLst/>
          </a:prstGeom>
          <a:solidFill>
            <a:srgbClr val="184A78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91075" y="1543050"/>
            <a:ext cx="34194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本文处理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0" y="1428750"/>
            <a:ext cx="2333625" cy="647700"/>
          </a:xfrm>
          <a:prstGeom prst="rect">
            <a:avLst/>
          </a:prstGeom>
          <a:solidFill>
            <a:srgbClr val="184A78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53450" y="1543050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对应创新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076450"/>
            <a:ext cx="3857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" y="2190750"/>
            <a:ext cx="3514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同一距离单元多角度散射体混合，</a:t>
            </a:r>
            <a:endParaRPr sz="1240" b="0">
              <a:solidFill>
                <a:srgbClr val="20364F"/>
              </a:solidFill>
            </a:endParaRPr>
          </a:p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target 退化或丢失（挑战 1、2）</a:t>
            </a:r>
            <a:endParaRPr sz="1240" b="0">
              <a:solidFill>
                <a:srgbClr val="20364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19625" y="2076450"/>
            <a:ext cx="3762375" cy="990600"/>
          </a:xfrm>
          <a:prstGeom prst="rect">
            <a:avLst/>
          </a:prstGeom>
          <a:solidFill>
            <a:srgbClr val="E6F4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91075" y="2190750"/>
            <a:ext cx="3419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Range-Angle 在线参考 target</a:t>
            </a:r>
            <a:endParaRPr sz="1240" b="1">
              <a:solidFill>
                <a:srgbClr val="113B67"/>
              </a:solidFill>
            </a:endParaRPr>
          </a:p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提取、筛选与维护</a:t>
            </a:r>
            <a:endParaRPr sz="1240" b="1">
              <a:solidFill>
                <a:srgbClr val="113B6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20764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53450" y="2190750"/>
            <a:ext cx="1990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1</a:t>
            </a:r>
            <a:endParaRPr sz="1275" b="1">
              <a:solidFill>
                <a:srgbClr val="113B6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3067050"/>
            <a:ext cx="3857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3181350"/>
            <a:ext cx="3514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强响应相位分支易错，</a:t>
            </a:r>
            <a:endParaRPr sz="1240" b="0">
              <a:solidFill>
                <a:srgbClr val="20364F"/>
              </a:solidFill>
            </a:endParaRPr>
          </a:p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单目标 LoS 状态难融多 target（挑战 3）</a:t>
            </a:r>
            <a:endParaRPr sz="1240" b="0">
              <a:solidFill>
                <a:srgbClr val="20364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19625" y="3067050"/>
            <a:ext cx="3762375" cy="990600"/>
          </a:xfrm>
          <a:prstGeom prst="rect">
            <a:avLst/>
          </a:prstGeom>
          <a:solidFill>
            <a:srgbClr val="E6F4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91075" y="3181350"/>
            <a:ext cx="3419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结构主相位多 target Kalman 融合</a:t>
            </a:r>
            <a:endParaRPr sz="1240" b="1">
              <a:solidFill>
                <a:srgbClr val="113B67"/>
              </a:solidFill>
            </a:endParaRPr>
          </a:p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预测辅助相位校正</a:t>
            </a:r>
            <a:endParaRPr sz="1240" b="1">
              <a:solidFill>
                <a:srgbClr val="113B6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0" y="30670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553450" y="3181350"/>
            <a:ext cx="1990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2</a:t>
            </a:r>
            <a:endParaRPr sz="1275" b="1">
              <a:solidFill>
                <a:srgbClr val="113B6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4057650"/>
            <a:ext cx="3857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" y="4171950"/>
            <a:ext cx="3514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LoS 转换系数依赖人工测角/标定，</a:t>
            </a:r>
            <a:endParaRPr sz="1240" b="0">
              <a:solidFill>
                <a:srgbClr val="20364F"/>
              </a:solidFill>
            </a:endParaRPr>
          </a:p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现场安装与 target 切换不便（挑战 4）</a:t>
            </a:r>
            <a:endParaRPr sz="1240" b="0">
              <a:solidFill>
                <a:srgbClr val="20364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619625" y="4057650"/>
            <a:ext cx="3762375" cy="990600"/>
          </a:xfrm>
          <a:prstGeom prst="rect">
            <a:avLst/>
          </a:prstGeom>
          <a:solidFill>
            <a:srgbClr val="E6F4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791075" y="4171950"/>
            <a:ext cx="3419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AoA 几何初值</a:t>
            </a:r>
            <a:endParaRPr sz="1240" b="1">
              <a:solidFill>
                <a:srgbClr val="113B67"/>
              </a:solidFill>
            </a:endParaRPr>
          </a:p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转换系数在线自举修正</a:t>
            </a:r>
            <a:endParaRPr sz="1240" b="1">
              <a:solidFill>
                <a:srgbClr val="113B6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40576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553450" y="4171950"/>
            <a:ext cx="1990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3</a:t>
            </a:r>
            <a:endParaRPr sz="1275" b="1">
              <a:solidFill>
                <a:srgbClr val="113B67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381125" y="5676900"/>
            <a:ext cx="8953500" cy="533400"/>
          </a:xfrm>
          <a:prstGeom prst="roundRect">
            <a:avLst>
              <a:gd name="adj" fmla="val 14286"/>
            </a:avLst>
          </a:prstGeom>
          <a:solidFill>
            <a:srgbClr val="F8FBFF"/>
          </a:solidFill>
          <a:ln w="14288">
            <a:solidFill>
              <a:srgbClr val="009FE3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381125" y="5676900"/>
            <a:ext cx="76200" cy="533400"/>
          </a:xfrm>
          <a:prstGeom prst="rect">
            <a:avLst/>
          </a:prstGeom>
          <a:solidFill>
            <a:srgbClr val="009FE3"/>
          </a:solidFill>
          <a:ln w="0">
            <a:solidFill>
              <a:srgbClr val="009FE3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666875" y="581025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2385F"/>
                </a:solidFill>
              </a:defRPr>
            </a:pPr>
            <a:r>
              <a:rPr sz="1425" b="1">
                <a:solidFill>
                  <a:srgbClr val="12385F"/>
                </a:solidFill>
              </a:rPr>
              <a:t>注：逐目标观测权重、自适应观测噪声等机制并入多目标 Kalman 融合框架中展开。</a:t>
            </a:r>
            <a:endParaRPr sz="1425" b="1">
              <a:solidFill>
                <a:srgbClr val="12385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毫米波雷达位移测量基本原理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381125"/>
            <a:ext cx="3095625" cy="2619375"/>
          </a:xfrm>
          <a:prstGeom prst="roundRect">
            <a:avLst>
              <a:gd name="adj" fmla="val 2909"/>
            </a:avLst>
          </a:prstGeom>
          <a:solidFill>
            <a:srgbClr val="F5FBFE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885950" y="1638300"/>
            <a:ext cx="838200" cy="83820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885950" y="18383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2714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FMCW 测距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200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发射线性调频信号，回波拍频用于估计距离单元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81500" y="1381125"/>
            <a:ext cx="3095625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5505450" y="1638300"/>
            <a:ext cx="838200" cy="838200"/>
          </a:xfrm>
          <a:prstGeom prst="ellipse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05450" y="18383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05350" y="2714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相位微位移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05350" y="3200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同一目标的斜距微小变化会引起回波相位变化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001000" y="1381125"/>
            <a:ext cx="3095625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9124950" y="1638300"/>
            <a:ext cx="838200" cy="838200"/>
          </a:xfrm>
          <a:prstGeom prst="ellipse">
            <a:avLst/>
          </a:prstGeom>
          <a:solidFill>
            <a:srgbClr val="F4910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24950" y="18383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2714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相位缠绕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24850" y="3200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雷达输出主值相位存在周期限制，大位移需要解缠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076450" y="4572000"/>
            <a:ext cx="8039100" cy="742950"/>
          </a:xfrm>
          <a:prstGeom prst="roundRect">
            <a:avLst>
              <a:gd name="adj" fmla="val 12821"/>
            </a:avLst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810250" y="475297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EAF7FC"/>
                </a:solidFill>
                <a:latin typeface="微软雅黑"/>
                <a:ea typeface="微软雅黑"/>
                <a:cs typeface="微软雅黑"/>
              </a:rPr>
              <a:t>77 GHz 波长约 3.9 mm，因此毫米级位移已经可能跨越多个相位周期。</a:t>
            </a:r>
            <a:endParaRPr sz="1425" b="0">
              <a:solidFill>
                <a:srgbClr val="EAF7FC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native-equation-6"/>
              <p:cNvSpPr>
                <a:spLocks noGrp="1"/>
              </p:cNvSpPr>
              <p:nvPr/>
            </p:nvSpPr>
            <p:spPr>
              <a:xfrm>
                <a:off x="3143250" y="4791710"/>
                <a:ext cx="1809750" cy="476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725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DejaVu Math TeX Gyre" panose="02000503000000000000" charset="0"/>
                        </a:rPr>
                        <m:t>𝛥</m:t>
                      </m:r>
                      <m:r>
                        <a:rPr>
                          <a:latin typeface="DejaVu Math TeX Gyre" panose="02000503000000000000" charset="0"/>
                        </a:rPr>
                        <m:t>𝜑</m:t>
                      </m:r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4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/</m:t>
                      </m:r>
                      <m:r>
                        <a:rPr>
                          <a:latin typeface="DejaVu Math TeX Gyre" panose="02000503000000000000" charset="0"/>
                        </a:rPr>
                        <m:t>𝜆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𝛥</m:t>
                      </m:r>
                      <m:r>
                        <a:rPr>
                          <a:latin typeface="DejaVu Math TeX Gyre" panose="02000503000000000000" charset="0"/>
                        </a:rPr>
                        <m:t>𝑑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6" name="native-equation-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0" y="4791710"/>
                <a:ext cx="1809750" cy="4762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ADC 到 Range-Angle Map：多目标参考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571625"/>
            <a:ext cx="152400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17406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16668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ADC cube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305050" y="1762125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2724150" y="1571625"/>
            <a:ext cx="152400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19400" y="16668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305300" y="1762125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724400" y="1571625"/>
            <a:ext cx="152400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16668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305550" y="1762125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24650" y="1571625"/>
            <a:ext cx="152400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19900" y="16668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Map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2809875"/>
            <a:ext cx="4381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 range-bin 方法只保留距离维度，容易混合同距离不同角度散射体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Range-Angle Map 在距离和角度二维空间检测候选 target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后续 Kalman 接收的是筛选后的 target wrapped phase，而不是理想真值相位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212715" y="2331085"/>
            <a:ext cx="5931535" cy="416750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0" y="2565400"/>
            <a:ext cx="5565775" cy="3409315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5880100" y="587756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示例：vehicle event 场景下的二维 Range-Angle Map 与候选 target</a:t>
            </a:r>
            <a:endParaRPr sz="120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0">
            <a:solidFill>
              <a:srgbClr val="F7FA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E4A86"/>
          </a:solidFill>
          <a:ln w="0">
            <a:solidFill>
              <a:srgbClr val="0E4A86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7AA7D9"/>
          </a:solidFill>
          <a:ln w="0">
            <a:solidFill>
              <a:srgbClr val="7AA7D9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34290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B2F5B"/>
                </a:solidFill>
              </a:defRPr>
            </a:pPr>
            <a:r>
              <a:rPr sz="2550" b="1">
                <a:solidFill>
                  <a:srgbClr val="0B2F5B"/>
                </a:solidFill>
              </a:rPr>
              <a:t>转换系数为何要在 Range-Angle target 上估计</a:t>
            </a:r>
            <a:endParaRPr sz="2550" b="1">
              <a:solidFill>
                <a:srgbClr val="0B2F5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4B6380"/>
                </a:solidFill>
              </a:defRPr>
            </a:pPr>
            <a:r>
              <a:rPr sz="1350" b="1">
                <a:solidFill>
                  <a:srgbClr val="4B6380"/>
                </a:solidFill>
              </a:rPr>
              <a:t>前置理论</a:t>
            </a:r>
            <a:endParaRPr sz="1350" b="1">
              <a:solidFill>
                <a:srgbClr val="4B638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>
                <a:solidFill>
                  <a:srgbClr val="6B7F99"/>
                </a:solidFill>
              </a:defRPr>
            </a:pPr>
            <a:r>
              <a:rPr sz="1200">
                <a:solidFill>
                  <a:srgbClr val="6B7F99"/>
                </a:solidFill>
              </a:rPr>
              <a:t>08</a:t>
            </a:r>
            <a:endParaRPr sz="1200">
              <a:solidFill>
                <a:srgbClr val="6B7F99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C8D8EA"/>
          </a:solidFill>
          <a:ln w="0">
            <a:solidFill>
              <a:srgbClr val="C8D8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1620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40566F"/>
                </a:solidFill>
              </a:defRPr>
            </a:pPr>
            <a:r>
              <a:rPr sz="1425">
                <a:solidFill>
                  <a:srgbClr val="40566F"/>
                </a:solidFill>
              </a:rPr>
              <a:t>range bin 总相位可能由多个散射体叠加而成；直接拟合得到的转换系数可能只是混合等效系数。</a:t>
            </a:r>
            <a:endParaRPr sz="1425">
              <a:solidFill>
                <a:srgbClr val="40566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33550"/>
            <a:ext cx="328612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FE0F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733550"/>
            <a:ext cx="66675" cy="2381250"/>
          </a:xfrm>
          <a:prstGeom prst="rect">
            <a:avLst/>
          </a:prstGeom>
          <a:solidFill>
            <a:srgbClr val="1D6FB8"/>
          </a:solidFill>
          <a:ln w="0">
            <a:solidFill>
              <a:srgbClr val="1D6FB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1924050"/>
            <a:ext cx="27908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E3A6D"/>
                </a:solidFill>
              </a:defRPr>
            </a:pPr>
            <a:r>
              <a:rPr sz="1575" b="1">
                <a:solidFill>
                  <a:srgbClr val="0E3A6D"/>
                </a:solidFill>
              </a:rPr>
              <a:t>1 复合散射响应</a:t>
            </a:r>
            <a:endParaRPr sz="1575" b="1">
              <a:solidFill>
                <a:srgbClr val="0E3A6D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331470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5">
                <a:solidFill>
                  <a:srgbClr val="50627A"/>
                </a:solidFill>
              </a:defRPr>
            </a:pPr>
            <a:r>
              <a:rPr sz="1165">
                <a:solidFill>
                  <a:srgbClr val="50627A"/>
                </a:solidFill>
              </a:rPr>
              <a:t>同一观测单元内的多个散射体具有不同 LoS 投影系数 ηℓ，总相位不是单一物理点相位。</a:t>
            </a:r>
            <a:endParaRPr sz="1165">
              <a:solidFill>
                <a:srgbClr val="50627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62450" y="1733550"/>
            <a:ext cx="328612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FE0F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62450" y="1733550"/>
            <a:ext cx="66675" cy="2381250"/>
          </a:xfrm>
          <a:prstGeom prst="rect">
            <a:avLst/>
          </a:prstGeom>
          <a:solidFill>
            <a:srgbClr val="2F8F83"/>
          </a:solidFill>
          <a:ln w="0">
            <a:solidFill>
              <a:srgbClr val="2F8F8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10100" y="1924050"/>
            <a:ext cx="27908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E3A6D"/>
                </a:solidFill>
              </a:defRPr>
            </a:pPr>
            <a:r>
              <a:rPr sz="1575" b="1">
                <a:solidFill>
                  <a:srgbClr val="0E3A6D"/>
                </a:solidFill>
              </a:rPr>
              <a:t>2 稳定等效条件</a:t>
            </a:r>
            <a:endParaRPr sz="1575" b="1">
              <a:solidFill>
                <a:srgbClr val="0E3A6D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48200" y="331470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5">
                <a:solidFill>
                  <a:srgbClr val="50627A"/>
                </a:solidFill>
              </a:defRPr>
            </a:pPr>
            <a:r>
              <a:rPr sz="1165">
                <a:solidFill>
                  <a:srgbClr val="50627A"/>
                </a:solidFill>
              </a:rPr>
              <a:t>角度接近或单一散射体占主导时，观测单元可以作为等效 target 使用，固定转换系数近似有效。</a:t>
            </a:r>
            <a:endParaRPr sz="1165">
              <a:solidFill>
                <a:srgbClr val="50627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1950" y="1714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0B2F5B"/>
                </a:solidFill>
              </a:defRPr>
            </a:pPr>
            <a:r>
              <a:rPr sz="1800" b="1">
                <a:solidFill>
                  <a:srgbClr val="0B2F5B"/>
                </a:solidFill>
              </a:rPr>
              <a:t>Range-Angle 处理规则</a:t>
            </a:r>
            <a:endParaRPr sz="1800" b="1">
              <a:solidFill>
                <a:srgbClr val="0B2F5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981950" y="217170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EEF6FF"/>
          </a:solidFill>
          <a:ln w="9525">
            <a:solidFill>
              <a:srgbClr val="CAD8E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91500" y="2286000"/>
            <a:ext cx="2724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E3A6D"/>
                </a:solidFill>
              </a:defRPr>
            </a:pPr>
            <a:r>
              <a:rPr sz="1275" b="1">
                <a:solidFill>
                  <a:srgbClr val="0E3A6D"/>
                </a:solidFill>
              </a:rPr>
              <a:t>角度近</a:t>
            </a:r>
            <a:endParaRPr sz="1275" b="1">
              <a:solidFill>
                <a:srgbClr val="0E3A6D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25717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合并为一个等效 angle cluster</a:t>
            </a:r>
            <a:endParaRPr sz="1125">
              <a:solidFill>
                <a:srgbClr val="50627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981950" y="310515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F2FBF8"/>
          </a:solidFill>
          <a:ln w="9525">
            <a:solidFill>
              <a:srgbClr val="CAD8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91500" y="3219450"/>
            <a:ext cx="2724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E3A6D"/>
                </a:solidFill>
              </a:defRPr>
            </a:pPr>
            <a:r>
              <a:rPr sz="1275" b="1">
                <a:solidFill>
                  <a:srgbClr val="0E3A6D"/>
                </a:solidFill>
              </a:rPr>
              <a:t>角度远</a:t>
            </a:r>
            <a:endParaRPr sz="1275" b="1">
              <a:solidFill>
                <a:srgbClr val="0E3A6D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91500" y="35052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在 range-angle map 中拆开</a:t>
            </a:r>
            <a:endParaRPr sz="1125">
              <a:solidFill>
                <a:srgbClr val="50627A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981950" y="403860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9525">
            <a:solidFill>
              <a:srgbClr val="CAD8E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191500" y="4152900"/>
            <a:ext cx="2724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8A4A0D"/>
                </a:solidFill>
              </a:defRPr>
            </a:pPr>
            <a:r>
              <a:rPr sz="1275" b="1">
                <a:solidFill>
                  <a:srgbClr val="8A4A0D"/>
                </a:solidFill>
              </a:rPr>
              <a:t>仍不稳定</a:t>
            </a:r>
            <a:endParaRPr sz="1275" b="1">
              <a:solidFill>
                <a:srgbClr val="8A4A0D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91500" y="44386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后续质量检查中降权或剔除</a:t>
            </a:r>
            <a:endParaRPr sz="1125">
              <a:solidFill>
                <a:srgbClr val="50627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381125" y="5219700"/>
            <a:ext cx="94297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BCD0E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81125" y="5219700"/>
            <a:ext cx="76200" cy="704850"/>
          </a:xfrm>
          <a:prstGeom prst="rect">
            <a:avLst/>
          </a:prstGeom>
          <a:solidFill>
            <a:srgbClr val="0E4A86"/>
          </a:solidFill>
          <a:ln w="0">
            <a:solidFill>
              <a:srgbClr val="0E4A8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647825" y="54102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2F5B"/>
                </a:solidFill>
              </a:defRPr>
            </a:pPr>
            <a:r>
              <a:rPr sz="1500" b="1">
                <a:solidFill>
                  <a:srgbClr val="0B2F5B"/>
                </a:solidFill>
              </a:rPr>
              <a:t>推导结论</a:t>
            </a:r>
            <a:endParaRPr sz="1500" b="1">
              <a:solidFill>
                <a:srgbClr val="0B2F5B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5353050"/>
            <a:ext cx="752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0233F"/>
                </a:solidFill>
              </a:defRPr>
            </a:pPr>
            <a:r>
              <a:rPr sz="1575">
                <a:solidFill>
                  <a:srgbClr val="10233F"/>
                </a:solidFill>
              </a:rPr>
              <a:t>转换系数不再直接作用于整个 range bin，而应作用于筛选后的 range-angle target。</a:t>
            </a:r>
            <a:endParaRPr sz="1575">
              <a:solidFill>
                <a:srgbClr val="10233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native-equation-8"/>
              <p:cNvSpPr>
                <a:spLocks noGrp="1"/>
              </p:cNvSpPr>
              <p:nvPr/>
            </p:nvSpPr>
            <p:spPr>
              <a:xfrm>
                <a:off x="952500" y="2362200"/>
                <a:ext cx="2905125" cy="666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27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𝑇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𝑞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𝑙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𝑒𝑥𝑝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−</m:t>
                      </m:r>
                      <m:r>
                        <a:rPr>
                          <a:latin typeface="DejaVu Math TeX Gyre" panose="02000503000000000000" charset="0"/>
                        </a:rPr>
                        <m:t>𝑗</m:t>
                      </m:r>
                      <m:r>
                        <a:rPr>
                          <a:latin typeface="DejaVu Math TeX Gyre" panose="02000503000000000000" charset="0"/>
                        </a:rPr>
                        <m:t>𝛾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𝑙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𝑞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r>
                        <a:rPr>
                          <a:latin typeface="DejaVu Math TeX Gyre" panose="02000503000000000000" charset="0"/>
                        </a:rPr>
                        <m:t>𝛾</m:t>
                      </m:r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4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/</m:t>
                      </m:r>
                      <m:r>
                        <a:rPr>
                          <a:latin typeface="DejaVu Math TeX Gyre" panose="02000503000000000000" charset="0"/>
                        </a:rPr>
                        <m:t>𝜆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6" name="native-equation-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362200"/>
                <a:ext cx="2905125" cy="6667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native-equation-8"/>
              <p:cNvSpPr>
                <a:spLocks noGrp="1"/>
              </p:cNvSpPr>
              <p:nvPr/>
            </p:nvSpPr>
            <p:spPr>
              <a:xfrm>
                <a:off x="4591050" y="2400300"/>
                <a:ext cx="28575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27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≈</m:t>
                      </m:r>
                      <m:r>
                        <a:rPr>
                          <a:latin typeface="DejaVu Math TeX Gyre" panose="02000503000000000000" charset="0"/>
                        </a:rPr>
                        <m:t>⋯</m:t>
                      </m:r>
                      <m:r>
                        <a:rPr>
                          <a:latin typeface="DejaVu Math TeX Gyre" panose="02000503000000000000" charset="0"/>
                        </a:rPr>
                        <m:t>≈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𝐿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≈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𝑒𝑞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𝑒𝑞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≈</m:t>
                      </m:r>
                      <m:r>
                        <a:rPr>
                          <a:latin typeface="DejaVu Math TeX Gyre" panose="02000503000000000000" charset="0"/>
                        </a:rPr>
                        <m:t>1</m:t>
                      </m:r>
                      <m:r>
                        <a:rPr>
                          <a:latin typeface="DejaVu Math TeX Gyre" panose="02000503000000000000" charset="0"/>
                        </a:rPr>
                        <m:t>/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𝑒𝑞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7" name="native-equation-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050" y="2400300"/>
                <a:ext cx="2857500" cy="6286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为什么不能只用单 range bin 相位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问题动机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904875" y="1845945"/>
            <a:ext cx="4095750" cy="3476625"/>
          </a:xfrm>
          <a:prstGeom prst="roundRect">
            <a:avLst>
              <a:gd name="adj" fmla="val 2192"/>
            </a:avLst>
          </a:prstGeom>
          <a:solidFill>
            <a:srgbClr val="F7FBFE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90625" y="2112645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同一 range bin 内的相干混合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24000" y="2636520"/>
            <a:ext cx="2857500" cy="438150"/>
          </a:xfrm>
          <a:prstGeom prst="rect">
            <a:avLst/>
          </a:prstGeom>
          <a:solidFill>
            <a:srgbClr val="DBEFF9"/>
          </a:solidFill>
          <a:ln w="11430">
            <a:solidFill>
              <a:srgbClr val="0F6F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524000" y="273177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 bin 12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571625" y="3717925"/>
            <a:ext cx="609600" cy="60960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571625" y="388937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1790700" y="3380105"/>
            <a:ext cx="209550" cy="227965"/>
          </a:xfrm>
          <a:prstGeom prst="rightArrow">
            <a:avLst/>
          </a:prstGeom>
          <a:solidFill>
            <a:srgbClr val="9BCFE6"/>
          </a:solidFill>
          <a:ln w="0">
            <a:noFill/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2476500" y="3739515"/>
            <a:ext cx="609600" cy="609600"/>
          </a:xfrm>
          <a:prstGeom prst="ellipse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391096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2695575" y="3364865"/>
            <a:ext cx="209550" cy="266700"/>
          </a:xfrm>
          <a:prstGeom prst="rightArrow">
            <a:avLst/>
          </a:prstGeom>
          <a:solidFill>
            <a:srgbClr val="9BCFE6"/>
          </a:solidFill>
          <a:ln w="0">
            <a:noFill/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3381375" y="3717925"/>
            <a:ext cx="609600" cy="609600"/>
          </a:xfrm>
          <a:prstGeom prst="ellipse">
            <a:avLst/>
          </a:prstGeom>
          <a:solidFill>
            <a:srgbClr val="10CF9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381375" y="388937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3631565" y="3357880"/>
            <a:ext cx="209550" cy="266065"/>
          </a:xfrm>
          <a:prstGeom prst="rightArrow">
            <a:avLst/>
          </a:prstGeom>
          <a:solidFill>
            <a:srgbClr val="9BCFE6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90625" y="4540885"/>
            <a:ext cx="3524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单 bin 复数相位来自多个 LoS 投影相位的相干叠加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1428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带来的后果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2019300"/>
            <a:ext cx="433387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最强 range bin 不一定对应稳定物理 target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同距离不同角度目标会形成 pseudo target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等效转换系数随散射状态漂移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 wrapping 或 target 退化时误差被放大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91250" y="3860800"/>
            <a:ext cx="4333875" cy="666750"/>
          </a:xfrm>
          <a:prstGeom prst="roundRect">
            <a:avLst>
              <a:gd name="adj" fmla="val 11429"/>
            </a:avLst>
          </a:prstGeom>
          <a:solidFill>
            <a:srgbClr val="F7FBFE"/>
          </a:solidFill>
          <a:ln w="15240">
            <a:solidFill>
              <a:srgbClr val="0F6FC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3860800"/>
            <a:ext cx="76200" cy="666750"/>
          </a:xfrm>
          <a:prstGeom prst="rect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381750" y="3932555"/>
            <a:ext cx="4029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因此本文先在 Range-Angle 维度分离 target，再进入结构主相位融合。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1：Range-Angle 多目标提取与筛选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1428750"/>
            <a:ext cx="1428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15240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检测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171700" y="1638300"/>
            <a:ext cx="428625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2714625" y="1428750"/>
            <a:ext cx="1428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09875" y="15240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近角度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合并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219575" y="1638300"/>
            <a:ext cx="428625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762500" y="1428750"/>
            <a:ext cx="1428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57750" y="15240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远角度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分离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267450" y="1638300"/>
            <a:ext cx="428625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10375" y="1428750"/>
            <a:ext cx="1428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905625" y="15240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频带筛选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8315325" y="1638300"/>
            <a:ext cx="428625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58250" y="1428750"/>
            <a:ext cx="1428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10CF9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53500" y="15240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selected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targets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2476500"/>
            <a:ext cx="428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 range bin 且角度接近的 peak 合并为等效 target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 range bin 但角度差较大的 peak 保留为不同 target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通过 presence、SNR 与结构频带一致性剔除不稳定 target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572125" y="2476500"/>
            <a:ext cx="55245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708" y="2619375"/>
            <a:ext cx="4233333" cy="23812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5715000" y="52197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车辆事件场景：候选 target 的在线选择状态</a:t>
            </a:r>
            <a:endParaRPr sz="120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104900" y="5572125"/>
            <a:ext cx="9048750" cy="514350"/>
          </a:xfrm>
          <a:prstGeom prst="roundRect">
            <a:avLst>
              <a:gd name="adj" fmla="val 14815"/>
            </a:avLst>
          </a:prstGeom>
          <a:solidFill>
            <a:srgbClr val="F7FBFE"/>
          </a:solidFill>
          <a:ln w="15240">
            <a:solidFill>
              <a:srgbClr val="009DD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04900" y="5572125"/>
            <a:ext cx="76200" cy="5143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95400" y="5705475"/>
            <a:ext cx="874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目标筛选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目的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是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过滤掉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坏 target 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防止进入</a:t>
            </a:r>
            <a:r>
              <a:t> Kalman </a:t>
            </a:r>
            <a:r>
              <a:t>滤波框架，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污染主状态。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从单目标 LoS 相位到结构主相位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838200" y="1476375"/>
            <a:ext cx="4476750" cy="3381375"/>
          </a:xfrm>
          <a:prstGeom prst="roundRect">
            <a:avLst>
              <a:gd name="adj" fmla="val 2254"/>
            </a:avLst>
          </a:prstGeom>
          <a:solidFill>
            <a:srgbClr val="F8FBFD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17621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Ma-family baseline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85875" y="3238500"/>
            <a:ext cx="342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状态表示单个 target 的 LoS 连续相位</a:t>
            </a:r>
            <a:endParaRPr sz="135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加速度需要映射到该 target 的 LoS 方向</a:t>
            </a:r>
            <a:endParaRPr sz="135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 target 需要围绕某一个目标状态组织</a:t>
            </a:r>
            <a:endParaRPr sz="135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77050" y="1476375"/>
            <a:ext cx="4476750" cy="3381375"/>
          </a:xfrm>
          <a:prstGeom prst="roundRect">
            <a:avLst>
              <a:gd name="adj" fmla="val 2254"/>
            </a:avLst>
          </a:prstGeom>
          <a:solidFill>
            <a:srgbClr val="F3FAFE"/>
          </a:solidFill>
          <a:ln w="13335">
            <a:solidFill>
              <a:srgbClr val="009D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162800" y="17621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34250" y="3238500"/>
            <a:ext cx="342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状态表示结构主振动方向连续相位</a:t>
            </a:r>
            <a:endParaRPr sz="135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加速度直接预测结构主相位</a:t>
            </a:r>
            <a:endParaRPr sz="135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各 target 差异进入观测矩阵 H</a:t>
            </a:r>
            <a:endParaRPr sz="135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562600" y="2762250"/>
            <a:ext cx="1000125" cy="400050"/>
          </a:xfrm>
          <a:prstGeom prst="rightArrow">
            <a:avLst/>
          </a:prstGeom>
          <a:solidFill>
            <a:srgbClr val="F4910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286375" y="32861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rPr>
              <a:t>状态物理含义</a:t>
            </a:r>
            <a:r>
              <a:rPr lang="zh-CN"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rPr>
              <a:t>转变</a:t>
            </a:r>
            <a:endParaRPr lang="zh-CN" sz="1200" b="1">
              <a:solidFill>
                <a:srgbClr val="F491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809750" y="5572125"/>
            <a:ext cx="8572500" cy="514350"/>
          </a:xfrm>
          <a:prstGeom prst="roundRect">
            <a:avLst>
              <a:gd name="adj" fmla="val 14815"/>
            </a:avLst>
          </a:prstGeom>
          <a:solidFill>
            <a:srgbClr val="F7FBFE"/>
          </a:solidFill>
          <a:ln w="15240">
            <a:solidFill>
              <a:srgbClr val="0F6FC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809750" y="5572125"/>
            <a:ext cx="76200" cy="514350"/>
          </a:xfrm>
          <a:prstGeom prst="rect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000250" y="5705475"/>
            <a:ext cx="826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关键转变：状态不再依附某个单一 target，而是表示所有 target 共同观测的结构主相位。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native-equation-11"/>
              <p:cNvSpPr>
                <a:spLocks noGrp="1"/>
              </p:cNvSpPr>
              <p:nvPr/>
            </p:nvSpPr>
            <p:spPr>
              <a:xfrm>
                <a:off x="1352550" y="2400300"/>
                <a:ext cx="342900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72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𝑥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𝑀𝑎</m:t>
                          </m:r>
                        </m:sup>
                      </m:s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[</m:t>
                      </m:r>
                      <m:r>
                        <a:rPr>
                          <a:latin typeface="DejaVu Math TeX Gyre" panose="02000503000000000000" charset="0"/>
                        </a:rPr>
                        <m:t>𝜑</m:t>
                      </m:r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>
                              <a:latin typeface="DejaVu Math TeX Gyre" panose="02000503000000000000" charset="0"/>
                            </a:rPr>
                            <m:t>𝑑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num>
                        <m:den>
                          <m:r>
                            <a:rPr>
                              <a:latin typeface="DejaVu Math TeX Gyre" panose="02000503000000000000" charset="0"/>
                            </a:rPr>
                            <m:t>𝑑𝑡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]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3" name="native-equation-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550" y="2400300"/>
                <a:ext cx="3429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native-equation-11"/>
              <p:cNvSpPr>
                <a:spLocks noGrp="1"/>
              </p:cNvSpPr>
              <p:nvPr/>
            </p:nvSpPr>
            <p:spPr>
              <a:xfrm>
                <a:off x="7448550" y="2400300"/>
                <a:ext cx="342900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72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DejaVu Math TeX Gyre" panose="02000503000000000000" charset="0"/>
                        </a:rPr>
                        <m:t>𝑥</m:t>
                      </m:r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[</m:t>
                      </m:r>
                      <m:r>
                        <a:rPr>
                          <a:latin typeface="DejaVu Math TeX Gyre" panose="02000503000000000000" charset="0"/>
                        </a:rPr>
                        <m:t>𝛩</m:t>
                      </m:r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>
                              <a:latin typeface="DejaVu Math TeX Gyre" panose="02000503000000000000" charset="0"/>
                            </a:rPr>
                            <m:t>𝑑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num>
                        <m:den>
                          <m:r>
                            <a:rPr>
                              <a:latin typeface="DejaVu Math TeX Gyre" panose="02000503000000000000" charset="0"/>
                            </a:rPr>
                            <m:t>𝑑𝑡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]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4" name="native-equation-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550" y="2400300"/>
                <a:ext cx="3429000" cy="5524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2：结构主相位多目标 Kalman 融合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2858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多个 target 是同一结构状态的多通道观测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57250" y="1905000"/>
            <a:ext cx="4714875" cy="2476500"/>
          </a:xfrm>
          <a:prstGeom prst="roundRect">
            <a:avLst>
              <a:gd name="adj" fmla="val 3077"/>
            </a:avLst>
          </a:prstGeom>
          <a:solidFill>
            <a:srgbClr val="F4FAFD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6858000" y="1809750"/>
            <a:ext cx="666750" cy="6667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20193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T1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7715250" y="2000250"/>
            <a:ext cx="819150" cy="266700"/>
          </a:xfrm>
          <a:prstGeom prst="rightArrow">
            <a:avLst/>
          </a:prstGeom>
          <a:solidFill>
            <a:srgbClr val="9BD7ED"/>
          </a:solidFill>
          <a:ln w="0">
            <a:noFill/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6858000" y="2809875"/>
            <a:ext cx="666750" cy="666750"/>
          </a:xfrm>
          <a:prstGeom prst="ellipse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301942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7715250" y="3000375"/>
            <a:ext cx="819150" cy="266700"/>
          </a:xfrm>
          <a:prstGeom prst="rightArrow">
            <a:avLst/>
          </a:prstGeom>
          <a:solidFill>
            <a:srgbClr val="9BD7ED"/>
          </a:solidFill>
          <a:ln w="0">
            <a:noFill/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858000" y="3810000"/>
            <a:ext cx="666750" cy="666750"/>
          </a:xfrm>
          <a:prstGeom prst="ellipse">
            <a:avLst/>
          </a:prstGeom>
          <a:solidFill>
            <a:srgbClr val="10CF9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0" y="40195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T3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7715250" y="4000500"/>
            <a:ext cx="819150" cy="266700"/>
          </a:xfrm>
          <a:prstGeom prst="rightArrow">
            <a:avLst/>
          </a:prstGeom>
          <a:solidFill>
            <a:srgbClr val="9BD7ED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810625" y="2571750"/>
            <a:ext cx="2000250" cy="1000125"/>
          </a:xfrm>
          <a:prstGeom prst="roundRect">
            <a:avLst>
              <a:gd name="adj" fmla="val 11429"/>
            </a:avLst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010650" y="2771775"/>
            <a:ext cx="1600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结构主相位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Kalman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24625" y="46863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逐目标观测权重位于这里：根据观测质量调整每个 target 的更新权重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504950" y="5572125"/>
            <a:ext cx="8953500" cy="514350"/>
          </a:xfrm>
          <a:prstGeom prst="roundRect">
            <a:avLst>
              <a:gd name="adj" fmla="val 14815"/>
            </a:avLst>
          </a:prstGeom>
          <a:solidFill>
            <a:srgbClr val="F7FBFE"/>
          </a:solidFill>
          <a:ln w="15240">
            <a:solidFill>
              <a:srgbClr val="009DD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504950" y="5572125"/>
            <a:ext cx="76200" cy="5143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695450" y="5705475"/>
            <a:ext cx="864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不是多个 target 各自反算位移后平均，而是在相位状态层统一融合。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native-equation-12"/>
              <p:cNvSpPr>
                <a:spLocks noGrp="1"/>
              </p:cNvSpPr>
              <p:nvPr/>
            </p:nvSpPr>
            <p:spPr>
              <a:xfrm>
                <a:off x="1123950" y="2266950"/>
                <a:ext cx="4191000" cy="4610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72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1" name="native-equation-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50" y="2266950"/>
                <a:ext cx="4191000" cy="4610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native-equation-12"/>
              <p:cNvSpPr>
                <a:spLocks noGrp="1"/>
              </p:cNvSpPr>
              <p:nvPr/>
            </p:nvSpPr>
            <p:spPr>
              <a:xfrm>
                <a:off x="1762125" y="2961640"/>
                <a:ext cx="2952750" cy="476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87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𝐻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[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r>
                        <a:rPr>
                          <a:latin typeface="DejaVu Math TeX Gyre" panose="02000503000000000000" charset="0"/>
                        </a:rPr>
                        <m:t>0</m:t>
                      </m:r>
                      <m:r>
                        <a:rPr>
                          <a:latin typeface="DejaVu Math TeX Gyre" panose="02000503000000000000" charset="0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2" name="native-equation-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25" y="2961640"/>
                <a:ext cx="2952750" cy="4762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native-equation-12"/>
              <p:cNvSpPr>
                <a:spLocks noGrp="1"/>
              </p:cNvSpPr>
              <p:nvPr/>
            </p:nvSpPr>
            <p:spPr>
              <a:xfrm>
                <a:off x="1885950" y="3714750"/>
                <a:ext cx="27622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725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4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/</m:t>
                      </m:r>
                      <m:r>
                        <a:rPr>
                          <a:latin typeface="DejaVu Math TeX Gyre" panose="02000503000000000000" charset="0"/>
                        </a:rPr>
                        <m:t>𝜆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𝛿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𝑞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3" name="native-equation-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950" y="3714750"/>
                <a:ext cx="2762250" cy="457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预测辅助相位校正：解决强 wrapping 下的分支选择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314450"/>
            <a:ext cx="4191000" cy="3714750"/>
          </a:xfrm>
          <a:prstGeom prst="roundRect">
            <a:avLst>
              <a:gd name="adj" fmla="val 2051"/>
            </a:avLst>
          </a:prstGeom>
          <a:solidFill>
            <a:srgbClr val="F7FBFE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00125" y="16002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校正思想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4095750"/>
            <a:ext cx="3286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加速度驱动的结构主相位预测先映射到每个 target 的 LoS 相位，再选择 wrapped phase 的最近分支。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381625" y="1314450"/>
            <a:ext cx="5715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pic>
        <p:nvPicPr>
          <p:cNvPr id="33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1601391"/>
            <a:ext cx="5429250" cy="3121819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619750" y="51435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strong wrapping 场景：wrapped phase、校正相位与真实 LoS phase 对比</a:t>
            </a:r>
            <a:endParaRPr sz="120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381125" y="5715000"/>
            <a:ext cx="9429750" cy="476250"/>
          </a:xfrm>
          <a:prstGeom prst="roundRect">
            <a:avLst>
              <a:gd name="adj" fmla="val 16000"/>
            </a:avLst>
          </a:prstGeom>
          <a:solidFill>
            <a:srgbClr val="F7FBFE"/>
          </a:solidFill>
          <a:ln w="15240">
            <a:solidFill>
              <a:srgbClr val="0F6FC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81125" y="5715000"/>
            <a:ext cx="76200" cy="476250"/>
          </a:xfrm>
          <a:prstGeom prst="rect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571625" y="5848350"/>
            <a:ext cx="912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结果层面：本文方法在 strong wrapping 场景 RMSE 为 0.0143 mm，解缠错误率为 0。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native-equation-13"/>
              <p:cNvSpPr>
                <a:spLocks noGrp="1"/>
              </p:cNvSpPr>
              <p:nvPr/>
            </p:nvSpPr>
            <p:spPr>
              <a:xfrm>
                <a:off x="1000125" y="2152650"/>
                <a:ext cx="3429000" cy="590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6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" name="native-equation-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5" y="2152650"/>
                <a:ext cx="3429000" cy="590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native-equation-13"/>
              <p:cNvSpPr>
                <a:spLocks noGrp="1"/>
              </p:cNvSpPr>
              <p:nvPr/>
            </p:nvSpPr>
            <p:spPr>
              <a:xfrm>
                <a:off x="914400" y="2857500"/>
                <a:ext cx="3619500" cy="1047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3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𝑐𝑜𝑟𝑟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𝜓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r>
                        <a:rPr>
                          <a:latin typeface="DejaVu Math TeX Gyre" panose="02000503000000000000" charset="0"/>
                        </a:rPr>
                        <m:t>2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𝑟𝑜𝑢𝑛𝑑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𝜓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/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2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2" name="native-equation-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57500"/>
                <a:ext cx="3619500" cy="10477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3：AoA 冷启动与转换系数在线自举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14375" y="1476375"/>
            <a:ext cx="1524000" cy="704850"/>
          </a:xfrm>
          <a:prstGeom prst="roundRect">
            <a:avLst>
              <a:gd name="adj" fmla="val 12162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2314575" y="1695450"/>
            <a:ext cx="4572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09875" y="1476375"/>
            <a:ext cx="1524000" cy="704850"/>
          </a:xfrm>
          <a:prstGeom prst="roundRect">
            <a:avLst>
              <a:gd name="adj" fmla="val 12162"/>
            </a:avLst>
          </a:prstGeom>
          <a:solidFill>
            <a:srgbClr val="F8FCFF"/>
          </a:solidFill>
          <a:ln w="13335">
            <a:solidFill>
              <a:srgbClr val="009DD9"/>
            </a:solidFill>
            <a:prstDash val="solid"/>
          </a:ln>
        </p:spPr>
      </p:sp>
      <p:sp>
        <p:nvSpPr>
          <p:cNvPr id="13" name="右箭头 12"/>
          <p:cNvSpPr>
            <a:spLocks noGrp="1"/>
          </p:cNvSpPr>
          <p:nvPr/>
        </p:nvSpPr>
        <p:spPr>
          <a:xfrm>
            <a:off x="4410075" y="1695450"/>
            <a:ext cx="4572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905375" y="1476375"/>
            <a:ext cx="1524000" cy="704850"/>
          </a:xfrm>
          <a:prstGeom prst="roundRect">
            <a:avLst>
              <a:gd name="adj" fmla="val 12162"/>
            </a:avLst>
          </a:prstGeom>
          <a:solidFill>
            <a:srgbClr val="F8FCFF"/>
          </a:solidFill>
          <a:ln w="13335">
            <a:solidFill>
              <a:srgbClr val="10CF9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000625" y="1571625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短窗口 LS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更新转换系数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257175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AoA 只提供可启动的几何初值，不作为最终固定转换系数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校正后的目标观测同时用于 Kalman 更新与转换系数自举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转换系数不确定时降低对应 target 的观测权重</a:t>
            </a:r>
            <a:endParaRPr sz="142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572250" y="1285875"/>
            <a:ext cx="47625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pic>
        <p:nvPicPr>
          <p:cNvPr id="45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25" y="1836491"/>
            <a:ext cx="4476750" cy="2518172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6762750" y="50482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AoA 初值误差场景：转换系数在线估计逐步收敛</a:t>
            </a:r>
            <a:endParaRPr sz="120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90625" y="5715000"/>
            <a:ext cx="9810750" cy="476250"/>
          </a:xfrm>
          <a:prstGeom prst="roundRect">
            <a:avLst>
              <a:gd name="adj" fmla="val 16000"/>
            </a:avLst>
          </a:prstGeom>
          <a:solidFill>
            <a:srgbClr val="F7FBFE"/>
          </a:solidFill>
          <a:ln w="15240">
            <a:solidFill>
              <a:srgbClr val="009DD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190625" y="5715000"/>
            <a:ext cx="76200" cy="4762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81125" y="5848350"/>
            <a:ext cx="950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在 AoA 初值误差场景，固定转换系数基线 RMSE 为 0.0540 mm；本文方法 RMSE 为 0.0153 mm。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9625" y="16097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AoA cold start</a:t>
            </a:r>
            <a:endParaRPr sz="975" b="1">
              <a:solidFill>
                <a:srgbClr val="10233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05125" y="16097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预测校正相位</a:t>
            </a:r>
            <a:endParaRPr sz="975" b="1">
              <a:solidFill>
                <a:srgbClr val="10233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native-equation-14"/>
              <p:cNvSpPr>
                <a:spLocks noGrp="1"/>
              </p:cNvSpPr>
              <p:nvPr/>
            </p:nvSpPr>
            <p:spPr>
              <a:xfrm>
                <a:off x="819150" y="1790700"/>
                <a:ext cx="131445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3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𝑐𝑜𝑠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9" name="native-equation-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1790700"/>
                <a:ext cx="1314450" cy="3429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native-equation-14"/>
              <p:cNvSpPr>
                <a:spLocks noGrp="1"/>
              </p:cNvSpPr>
              <p:nvPr/>
            </p:nvSpPr>
            <p:spPr>
              <a:xfrm>
                <a:off x="2924175" y="1790700"/>
                <a:ext cx="131445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3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𝑐𝑜𝑟𝑟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0" name="native-equation-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75" y="1790700"/>
                <a:ext cx="1314450" cy="3429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完整算法流程框图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71500" y="1333500"/>
            <a:ext cx="1381125" cy="714375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28750"/>
            <a:ext cx="1190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Radar ADC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009775" y="1562100"/>
            <a:ext cx="323850" cy="238125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2333625" y="1333500"/>
            <a:ext cx="1381125" cy="714375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428875" y="1428750"/>
            <a:ext cx="1190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3771900" y="1562100"/>
            <a:ext cx="323850" cy="238125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095750" y="1333500"/>
            <a:ext cx="1381125" cy="714375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191000" y="1428750"/>
            <a:ext cx="1190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targets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534025" y="1562100"/>
            <a:ext cx="323850" cy="238125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5857875" y="1333500"/>
            <a:ext cx="1381125" cy="714375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53125" y="1428750"/>
            <a:ext cx="1190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selection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 / band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7296150" y="1562100"/>
            <a:ext cx="323850" cy="238125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20000" y="1333500"/>
            <a:ext cx="1381125" cy="714375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9058275" y="1562100"/>
            <a:ext cx="323850" cy="238125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9382125" y="1333500"/>
            <a:ext cx="1381125" cy="714375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 w="13335">
            <a:solidFill>
              <a:srgbClr val="17406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477375" y="1428750"/>
            <a:ext cx="1190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Structural-main-phase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Kalman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857500" y="3143250"/>
            <a:ext cx="1809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10CF9B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5238750" y="3143250"/>
            <a:ext cx="1809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F4910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334000" y="32385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Prediction-aided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phase correction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620000" y="3143250"/>
            <a:ext cx="18097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009DD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715250" y="32385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转换系数在线自举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逐目标观测权重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667875" y="3143250"/>
            <a:ext cx="1619250" cy="666750"/>
          </a:xfrm>
          <a:prstGeom prst="roundRect">
            <a:avLst>
              <a:gd name="adj" fmla="val 12857"/>
            </a:avLst>
          </a:prstGeom>
          <a:solidFill>
            <a:srgbClr val="F8FCFF"/>
          </a:solidFill>
          <a:ln w="13335">
            <a:solidFill>
              <a:srgbClr val="17406D"/>
            </a:solidFill>
            <a:prstDash val="solid"/>
          </a:ln>
        </p:spPr>
      </p:sp>
      <p:sp>
        <p:nvSpPr>
          <p:cNvPr id="33" name="右箭头 32"/>
          <p:cNvSpPr>
            <a:spLocks noGrp="1"/>
          </p:cNvSpPr>
          <p:nvPr/>
        </p:nvSpPr>
        <p:spPr>
          <a:xfrm>
            <a:off x="4648200" y="3333750"/>
            <a:ext cx="523875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4" name="右箭头 33"/>
          <p:cNvSpPr>
            <a:spLocks noGrp="1"/>
          </p:cNvSpPr>
          <p:nvPr/>
        </p:nvSpPr>
        <p:spPr>
          <a:xfrm>
            <a:off x="7029450" y="3333750"/>
            <a:ext cx="523875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5" name="右箭头 34"/>
          <p:cNvSpPr>
            <a:spLocks noGrp="1"/>
          </p:cNvSpPr>
          <p:nvPr/>
        </p:nvSpPr>
        <p:spPr>
          <a:xfrm>
            <a:off x="9448800" y="3333750"/>
            <a:ext cx="28575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191750" y="2047875"/>
            <a:ext cx="19050" cy="106680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143625" y="2047875"/>
            <a:ext cx="19050" cy="106680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067050" y="4286250"/>
            <a:ext cx="676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Kalman 闭环：预测、分支校正、更新、转换系数与观测权重更新</a:t>
            </a:r>
            <a:endParaRPr sz="18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1733550" y="4953000"/>
            <a:ext cx="8667750" cy="666750"/>
          </a:xfrm>
          <a:prstGeom prst="roundRect">
            <a:avLst>
              <a:gd name="adj" fmla="val 11429"/>
            </a:avLst>
          </a:prstGeom>
          <a:solidFill>
            <a:srgbClr val="F7FBFE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095500" y="514350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Phase 1 验证重点：synthetic ADC / Range-Angle 前端 + selected targets + 结构主相位融合的完整算法闭环</a:t>
            </a:r>
            <a:endParaRPr sz="1500" b="1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715250" y="1466850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AoA cold start</a:t>
            </a:r>
            <a:endParaRPr sz="975" b="1">
              <a:solidFill>
                <a:srgbClr val="10233F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52750" y="32766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0233F"/>
                </a:solidFill>
              </a:defRPr>
            </a:pPr>
            <a:r>
              <a:rPr sz="900" b="1">
                <a:solidFill>
                  <a:srgbClr val="10233F"/>
                </a:solidFill>
              </a:rPr>
              <a:t>Acceleration input</a:t>
            </a:r>
            <a:endParaRPr sz="900" b="1">
              <a:solidFill>
                <a:srgbClr val="10233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763125" y="32766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0233F"/>
                </a:solidFill>
              </a:defRPr>
            </a:pPr>
            <a:r>
              <a:rPr sz="900" b="1">
                <a:solidFill>
                  <a:srgbClr val="10233F"/>
                </a:solidFill>
              </a:rPr>
              <a:t>Displacement output</a:t>
            </a:r>
            <a:endParaRPr sz="900" b="1">
              <a:solidFill>
                <a:srgbClr val="10233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native-equation-15"/>
              <p:cNvSpPr>
                <a:spLocks noGrp="1"/>
              </p:cNvSpPr>
              <p:nvPr/>
            </p:nvSpPr>
            <p:spPr>
              <a:xfrm>
                <a:off x="7734300" y="1714500"/>
                <a:ext cx="1162050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3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native-equation-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1714500"/>
                <a:ext cx="1162050" cy="2667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native-equation-15"/>
              <p:cNvSpPr>
                <a:spLocks noGrp="1"/>
              </p:cNvSpPr>
              <p:nvPr/>
            </p:nvSpPr>
            <p:spPr>
              <a:xfrm>
                <a:off x="2952750" y="3476625"/>
                <a:ext cx="1619250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3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𝑥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𝐴𝑥</m:t>
                      </m:r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r>
                        <a:rPr>
                          <a:latin typeface="DejaVu Math TeX Gyre" panose="02000503000000000000" charset="0"/>
                        </a:rPr>
                        <m:t>𝐵𝑎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0" name="native-equation-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750" y="3476625"/>
                <a:ext cx="1619250" cy="2667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native-equation-15"/>
              <p:cNvSpPr>
                <a:spLocks noGrp="1"/>
              </p:cNvSpPr>
              <p:nvPr/>
            </p:nvSpPr>
            <p:spPr>
              <a:xfrm>
                <a:off x="9763125" y="3476625"/>
                <a:ext cx="1428750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defRPr sz="1050">
                    <a:solidFill>
                      <a:srgbClr val="10233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DejaVu Math TeX Gyre" panose="02000503000000000000" charset="0"/>
                        </a:rPr>
                        <m:t>𝛿</m:t>
                      </m:r>
                      <m:r>
                        <a:rPr>
                          <a:latin typeface="DejaVu Math TeX Gyre" panose="02000503000000000000" charset="0"/>
                        </a:rPr>
                        <m:t>𝑞</m:t>
                      </m:r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𝜆</m:t>
                      </m:r>
                      <m:r>
                        <a:rPr>
                          <a:latin typeface="DejaVu Math TeX Gyre" panose="02000503000000000000" charset="0"/>
                        </a:rPr>
                        <m:t>/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r>
                        <a:rPr>
                          <a:latin typeface="DejaVu Math TeX Gyre" panose="02000503000000000000" charset="0"/>
                        </a:rPr>
                        <m:t>4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  <m:r>
                        <a:rPr>
                          <a:latin typeface="DejaVu Math TeX Gyre" panose="02000503000000000000" charset="0"/>
                        </a:rPr>
                        <m:t>𝛩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1" name="native-equation-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3125" y="3476625"/>
                <a:ext cx="1428750" cy="266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Phase 1 仿真实验设计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2573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六个主实验场景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2000" y="176212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7FBFE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895475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  <a:endParaRPr sz="14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171700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7.7737 / 11.5742 / 26.5642 Hz</a:t>
            </a:r>
            <a:endParaRPr sz="105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476625" y="176212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29025" y="1895475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强相位缠绕</a:t>
            </a:r>
            <a:endParaRPr sz="14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29025" y="2171700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约 5 mm 峰值位移</a:t>
            </a:r>
            <a:endParaRPr sz="105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62000" y="2762250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7FBFE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28956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远角度</a:t>
            </a:r>
            <a:endParaRPr sz="14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3171825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 angle-bin 分离</a:t>
            </a:r>
            <a:endParaRPr sz="105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476625" y="2762250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629025" y="28956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AoA 初值误差</a:t>
            </a:r>
            <a:endParaRPr sz="14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29025" y="3171825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验证转换系数自举</a:t>
            </a:r>
            <a:endParaRPr sz="105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62000" y="376237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7FBFE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3895725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SNR drop</a:t>
            </a:r>
            <a:endParaRPr sz="14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4171950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验证坏目标降权</a:t>
            </a:r>
            <a:endParaRPr sz="105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476625" y="376237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629025" y="3895725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</a:t>
            </a:r>
            <a:endParaRPr sz="14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629025" y="4171950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验证完整闭环运行</a:t>
            </a:r>
            <a:endParaRPr sz="105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05625" y="12573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默认主对比方法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905625" y="1790700"/>
            <a:ext cx="3952875" cy="552450"/>
          </a:xfrm>
          <a:prstGeom prst="roundRect">
            <a:avLst>
              <a:gd name="adj" fmla="val 13793"/>
            </a:avLst>
          </a:prstGeom>
          <a:solidFill>
            <a:srgbClr val="F8FBFD"/>
          </a:solidFill>
          <a:ln w="10478">
            <a:solidFill>
              <a:srgbClr val="B9D7E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086600" y="18859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Range-bin Itoh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86600" y="21145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 range-bin phase + Itoh unwrap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905625" y="2581275"/>
            <a:ext cx="3952875" cy="552450"/>
          </a:xfrm>
          <a:prstGeom prst="roundRect">
            <a:avLst>
              <a:gd name="adj" fmla="val 13793"/>
            </a:avLst>
          </a:prstGeom>
          <a:solidFill>
            <a:srgbClr val="F8FBFD"/>
          </a:solidFill>
          <a:ln w="10478">
            <a:solidFill>
              <a:srgbClr val="B9D7E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086600" y="267652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Ma2026 reproduction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86600" y="290512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正式 Ma-family staged baseline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905625" y="3371850"/>
            <a:ext cx="3952875" cy="552450"/>
          </a:xfrm>
          <a:prstGeom prst="roundRect">
            <a:avLst>
              <a:gd name="adj" fmla="val 13793"/>
            </a:avLst>
          </a:prstGeom>
          <a:solidFill>
            <a:srgbClr val="F8FBFD"/>
          </a:solidFill>
          <a:ln w="10478">
            <a:solidFill>
              <a:srgbClr val="B9D7E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086600" y="3467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Selected AoA fixed coefficient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86600" y="36957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筛选 target + 固定 AoA 转换系数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905625" y="4162425"/>
            <a:ext cx="3952875" cy="552450"/>
          </a:xfrm>
          <a:prstGeom prst="roundRect">
            <a:avLst>
              <a:gd name="adj" fmla="val 13793"/>
            </a:avLst>
          </a:prstGeom>
          <a:solidFill>
            <a:srgbClr val="E8F6FF"/>
          </a:solidFill>
          <a:ln w="10478">
            <a:solidFill>
              <a:srgbClr val="0F6FC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086600" y="425767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6FC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6FC6"/>
                </a:solidFill>
                <a:latin typeface="微软雅黑"/>
                <a:ea typeface="微软雅黑"/>
                <a:cs typeface="微软雅黑"/>
              </a:rPr>
              <a:t>Proposed full pipeline</a:t>
            </a:r>
            <a:endParaRPr sz="1275" b="1">
              <a:solidFill>
                <a:srgbClr val="0F6FC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086600" y="448627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本文完整链路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476375" y="5715000"/>
            <a:ext cx="9239250" cy="476250"/>
          </a:xfrm>
          <a:prstGeom prst="roundRect">
            <a:avLst>
              <a:gd name="adj" fmla="val 16000"/>
            </a:avLst>
          </a:prstGeom>
          <a:solidFill>
            <a:srgbClr val="F7FBFE"/>
          </a:solidFill>
          <a:ln w="15240">
            <a:solidFill>
              <a:srgbClr val="F4910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76375" y="5715000"/>
            <a:ext cx="76200" cy="476250"/>
          </a:xfrm>
          <a:prstGeom prst="rect">
            <a:avLst/>
          </a:prstGeom>
          <a:solidFill>
            <a:srgbClr val="F49100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666875" y="5848350"/>
            <a:ext cx="893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边界：当前为算法级 synthetic ADC / Range-Angle 验证，不声称完成真实 IWR1843 ADC 实测闭环。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实验结果：主场景 RMSE 对比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381125"/>
            <a:ext cx="2952750" cy="581025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1457325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95700" y="1381125"/>
            <a:ext cx="1524000" cy="581025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771900" y="145732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range-bin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19700" y="1381125"/>
            <a:ext cx="1524000" cy="581025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95900" y="145732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Ma2026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43700" y="1381125"/>
            <a:ext cx="1524000" cy="581025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19900" y="145732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fixed coefficient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67700" y="1381125"/>
            <a:ext cx="1714500" cy="581025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1457325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1962150"/>
            <a:ext cx="29527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2038350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95700" y="196215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771900" y="203835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0.0136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19700" y="196215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295900" y="203835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0.0122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43700" y="196215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19900" y="203835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0.0589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67700" y="1962150"/>
            <a:ext cx="1714500" cy="581025"/>
          </a:xfrm>
          <a:prstGeom prst="rect">
            <a:avLst/>
          </a:prstGeom>
          <a:solidFill>
            <a:srgbClr val="E8F6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43900" y="2038350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0.0087</a:t>
            </a:r>
            <a:endParaRPr sz="10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2543175"/>
            <a:ext cx="295275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19150" y="2619375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强相位缠绕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95700" y="254317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771900" y="261937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5.5477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19700" y="254317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295900" y="261937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0.0341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43700" y="254317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819900" y="261937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12.3861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267700" y="2543175"/>
            <a:ext cx="1714500" cy="581025"/>
          </a:xfrm>
          <a:prstGeom prst="rect">
            <a:avLst/>
          </a:prstGeom>
          <a:solidFill>
            <a:srgbClr val="E8F6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43900" y="2619375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0.0143</a:t>
            </a:r>
            <a:endParaRPr sz="10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42950" y="3124200"/>
            <a:ext cx="29527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19150" y="3200400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同距离远角度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695700" y="312420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3771900" y="320040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0.0745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219700" y="312420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295900" y="320040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0.0906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743700" y="312420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819900" y="320040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0.0514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267700" y="3124200"/>
            <a:ext cx="1714500" cy="581025"/>
          </a:xfrm>
          <a:prstGeom prst="rect">
            <a:avLst/>
          </a:prstGeom>
          <a:solidFill>
            <a:srgbClr val="E8F6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343900" y="3200400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0.0140</a:t>
            </a:r>
            <a:endParaRPr sz="10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42950" y="3705225"/>
            <a:ext cx="295275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19150" y="3781425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AoA 初值误差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695700" y="370522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771900" y="378142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0.0167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219700" y="370522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295900" y="378142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0.0386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743700" y="370522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819900" y="378142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0.0540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267700" y="3705225"/>
            <a:ext cx="1714500" cy="581025"/>
          </a:xfrm>
          <a:prstGeom prst="rect">
            <a:avLst/>
          </a:prstGeom>
          <a:solidFill>
            <a:srgbClr val="E8F6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343900" y="3781425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0.0153</a:t>
            </a:r>
            <a:endParaRPr sz="10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42950" y="4286250"/>
            <a:ext cx="29527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19150" y="4362450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 SNR 下降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3695700" y="428625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771900" y="436245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2.4951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219700" y="428625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295900" y="436245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0.1777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743700" y="4286250"/>
            <a:ext cx="1524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819900" y="4362450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0.0773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267700" y="4286250"/>
            <a:ext cx="1714500" cy="581025"/>
          </a:xfrm>
          <a:prstGeom prst="rect">
            <a:avLst/>
          </a:prstGeom>
          <a:solidFill>
            <a:srgbClr val="E8F6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8343900" y="4362450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0.0604</a:t>
            </a:r>
            <a:endParaRPr sz="10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742950" y="4867275"/>
            <a:ext cx="295275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19150" y="4943475"/>
            <a:ext cx="2800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车辆事件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3695700" y="486727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3771900" y="494347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0.0224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219700" y="486727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5295900" y="494347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0.0354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6743700" y="4867275"/>
            <a:ext cx="1524000" cy="581025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6819900" y="4943475"/>
            <a:ext cx="1371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0.0295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8267700" y="4867275"/>
            <a:ext cx="1714500" cy="581025"/>
          </a:xfrm>
          <a:prstGeom prst="rect">
            <a:avLst/>
          </a:prstGeom>
          <a:solidFill>
            <a:srgbClr val="E8F6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8343900" y="4943475"/>
            <a:ext cx="1562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0.0143</a:t>
            </a:r>
            <a:endParaRPr sz="10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19150" y="5619750"/>
            <a:ext cx="552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单位：mm；数值越小表示相对位移估计误差越低。</a:t>
            </a:r>
            <a:endParaRPr sz="1200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191250" y="5476875"/>
            <a:ext cx="4953000" cy="628650"/>
          </a:xfrm>
          <a:prstGeom prst="roundRect">
            <a:avLst>
              <a:gd name="adj" fmla="val 12121"/>
            </a:avLst>
          </a:prstGeom>
          <a:solidFill>
            <a:srgbClr val="F7FBFE"/>
          </a:solidFill>
          <a:ln w="15240">
            <a:solidFill>
              <a:srgbClr val="0F6FC6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6191250" y="5476875"/>
            <a:ext cx="76200" cy="628650"/>
          </a:xfrm>
          <a:prstGeom prst="rect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29375" y="564832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观察：本文方法在强 wrapping、同 range 远角度、AoA 初值误差和车辆事件等关键场景均保持低误差。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仿真数据：时域与频域响应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2573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车辆非平稳事件场景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6573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用于检查真值位移是否具有静止起始、弱振动起振、车辆事件主响应和非平稳频谱特征。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81050" y="2143125"/>
            <a:ext cx="5048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34125" y="2143125"/>
            <a:ext cx="5048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81957"/>
            <a:ext cx="4781550" cy="214173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2481957"/>
            <a:ext cx="4781550" cy="2141736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000125" y="51435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时域位移：由静止段逐步进入车辆事件响应</a:t>
            </a:r>
            <a:endParaRPr sz="12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51435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频域位移：主响应频带与非平稳包络共同形成谱峰/泄漏</a:t>
            </a:r>
            <a:endParaRPr sz="12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638300" y="5810250"/>
            <a:ext cx="8905875" cy="457200"/>
          </a:xfrm>
          <a:prstGeom prst="roundRect">
            <a:avLst>
              <a:gd name="adj" fmla="val 16667"/>
            </a:avLst>
          </a:prstGeom>
          <a:solidFill>
            <a:srgbClr val="F7FBFE"/>
          </a:solidFill>
          <a:ln w="15240">
            <a:solidFill>
              <a:srgbClr val="009DD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638300" y="5810250"/>
            <a:ext cx="76200" cy="4572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28800" y="5943600"/>
            <a:ext cx="860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这页只展示仿真输入数据形态；算法效果在下一页通过退化场景诊断图和 RMSE 表体现。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关键场景图像结果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14375" y="1238250"/>
            <a:ext cx="49053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143625" y="1238250"/>
            <a:ext cx="49053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14375" y="3714750"/>
            <a:ext cx="49053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43625" y="3714750"/>
            <a:ext cx="49053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6E8F2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1238250"/>
            <a:ext cx="3432810" cy="197421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573" y="1381125"/>
            <a:ext cx="2915478" cy="16764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23" y="3857625"/>
            <a:ext cx="2915478" cy="167640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573" y="3857625"/>
            <a:ext cx="2915478" cy="167640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714375" y="3238500"/>
            <a:ext cx="490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强 wrapping：预测辅助相位校正</a:t>
            </a:r>
            <a:endParaRPr sz="12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43625" y="3238500"/>
            <a:ext cx="490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AoA 误差：转换系数自举收敛</a:t>
            </a:r>
            <a:endParaRPr sz="12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14375" y="5715000"/>
            <a:ext cx="490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SNR drop：观测权重调整</a:t>
            </a:r>
            <a:endParaRPr sz="12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43625" y="5715000"/>
            <a:ext cx="490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车辆事件：位移估计对比</a:t>
            </a:r>
            <a:endParaRPr sz="12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阶段结论与下一步工作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总结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97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333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当前已完成</a:t>
            </a:r>
            <a:endParaRPr sz="21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188595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synthetic ADC / Range-Angle frontend 完整接入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Range-Angle target selection 与同 range 远角度分离已实现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结构主相位 Kalman、预测辅助解缠、转换系数在线自举已形成闭环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默认 validation feasibility gates：12/12 passed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10375" y="1333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后续工作</a:t>
            </a:r>
            <a:endParaRPr sz="21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05625" y="188595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接入真实 IWR1843 raw ADC 文件解析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开展天线幅相标定与 TDM-MIMO 相位补偿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建立雷达、加速度、激光参考的时间同步流程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推进实桥/磁浮轨道梁场景下的同步实测验证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809750" y="4953000"/>
            <a:ext cx="8572500" cy="838200"/>
          </a:xfrm>
          <a:prstGeom prst="roundRect">
            <a:avLst>
              <a:gd name="adj" fmla="val 10227"/>
            </a:avLst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143125" y="51625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当前结论来自 Phase 1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合成仿真与实测位移驱动半实测仿真，尚不替代真实毫米波雷达现场验证。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5059</Words>
  <Application>WPS 演示</Application>
  <PresentationFormat>Converted Presentation</PresentationFormat>
  <Paragraphs>629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汉仪旗黑</vt:lpstr>
      <vt:lpstr>黑体</vt:lpstr>
      <vt:lpstr>汉仪中黑KW</vt:lpstr>
      <vt:lpstr>Cambria Math</vt:lpstr>
      <vt:lpstr>DejaVu Math TeX Gyre</vt:lpstr>
      <vt:lpstr>微软雅黑</vt:lpstr>
      <vt:lpstr>宋体</vt:lpstr>
      <vt:lpstr>Arial Unicode MS</vt:lpstr>
      <vt:lpstr>汉仪书宋二KW</vt:lpstr>
      <vt:lpstr>Calibri</vt:lpstr>
      <vt:lpstr>Helvetica Neue</vt:lpstr>
      <vt:lpstr>Kingsoft Math</vt:lpstr>
      <vt:lpstr>Cambria Math</vt:lpstr>
      <vt:lpstr>微软雅黑</vt:lpstr>
      <vt:lpstr>黑体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黄世宇</cp:lastModifiedBy>
  <cp:revision>2</cp:revision>
  <dcterms:created xsi:type="dcterms:W3CDTF">2026-06-25T16:07:59Z</dcterms:created>
  <dcterms:modified xsi:type="dcterms:W3CDTF">2026-06-25T16:07:59Z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311FE7D1A051017920363D6A176CB2CA_42</vt:lpwstr>
  </property>
  <property fmtid="{D5CDD505-2E9C-101B-9397-08002B2CF9AE}" pid="3" name="KSOProductBuildVer">
    <vt:lpwstr>2052-12.1.26016.26016</vt:lpwstr>
  </property>
</Properties>
</file>