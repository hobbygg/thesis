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31d22337d804bae" /><Relationship Type="http://schemas.openxmlformats.org/officeDocument/2006/relationships/extended-properties" Target="/docProps/app.xml" Id="Re1c3af6267fc4f31" /><Relationship Type="http://schemas.openxmlformats.org/officeDocument/2006/relationships/officeDocument" Target="/ppt/presentation.xml" Id="R3dcae7b3542d45c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35dcabbbe97420e"/>
  </p:sldMasterIdLst>
  <p:notesMasterIdLst>
    <p:notesMasterId xmlns:r="http://schemas.openxmlformats.org/officeDocument/2006/relationships" r:id="R3c6a2ef330054f45"/>
  </p:notesMasterIdLst>
  <p:sldIdLst>
    <p:sldId xmlns:r="http://schemas.openxmlformats.org/officeDocument/2006/relationships" id="256" r:id="R544098502f924f13"/>
    <p:sldId xmlns:r="http://schemas.openxmlformats.org/officeDocument/2006/relationships" id="257" r:id="R034e5d4c7e904b7f"/>
    <p:sldId xmlns:r="http://schemas.openxmlformats.org/officeDocument/2006/relationships" id="258" r:id="R971cebbcd9384c9a"/>
    <p:sldId xmlns:r="http://schemas.openxmlformats.org/officeDocument/2006/relationships" id="259" r:id="Re481659ef3b84fbd"/>
    <p:sldId xmlns:r="http://schemas.openxmlformats.org/officeDocument/2006/relationships" id="260" r:id="R3b9439d0235a4c7d"/>
    <p:sldId xmlns:r="http://schemas.openxmlformats.org/officeDocument/2006/relationships" id="261" r:id="R5bcfff5e73454435"/>
    <p:sldId xmlns:r="http://schemas.openxmlformats.org/officeDocument/2006/relationships" id="262" r:id="R76172cd3953149fe"/>
    <p:sldId xmlns:r="http://schemas.openxmlformats.org/officeDocument/2006/relationships" id="263" r:id="Rffa2588a265a4485"/>
    <p:sldId xmlns:r="http://schemas.openxmlformats.org/officeDocument/2006/relationships" id="264" r:id="R91b31e994fa944a9"/>
    <p:sldId xmlns:r="http://schemas.openxmlformats.org/officeDocument/2006/relationships" id="265" r:id="Rdb5b64b36a704436"/>
    <p:sldId xmlns:r="http://schemas.openxmlformats.org/officeDocument/2006/relationships" id="266" r:id="R46657759034f47df"/>
    <p:sldId xmlns:r="http://schemas.openxmlformats.org/officeDocument/2006/relationships" id="267" r:id="Rd2a16e5c23b8486a"/>
    <p:sldId xmlns:r="http://schemas.openxmlformats.org/officeDocument/2006/relationships" id="268" r:id="Rd4d6f7da3e3a4d0e"/>
    <p:sldId xmlns:r="http://schemas.openxmlformats.org/officeDocument/2006/relationships" id="269" r:id="R58caa347ed264d95"/>
    <p:sldId xmlns:r="http://schemas.openxmlformats.org/officeDocument/2006/relationships" id="270" r:id="R61683db5452f40fa"/>
    <p:sldId xmlns:r="http://schemas.openxmlformats.org/officeDocument/2006/relationships" id="271" r:id="R9283162eeb0143af"/>
    <p:sldId xmlns:r="http://schemas.openxmlformats.org/officeDocument/2006/relationships" id="272" r:id="R8bbcd75263ba444b"/>
    <p:sldId xmlns:r="http://schemas.openxmlformats.org/officeDocument/2006/relationships" id="273" r:id="R167a0c9135244f56"/>
    <p:sldId xmlns:r="http://schemas.openxmlformats.org/officeDocument/2006/relationships" id="274" r:id="Rb4e73dbaf35b441e"/>
    <p:sldId xmlns:r="http://schemas.openxmlformats.org/officeDocument/2006/relationships" id="275" r:id="R61a3f2c82d9643b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577001a0afb4f58" /><Relationship Type="http://schemas.openxmlformats.org/officeDocument/2006/relationships/slideMaster" Target="/ppt/slideMasters/slideMaster1.xml" Id="R135dcabbbe97420e" /><Relationship Type="http://schemas.openxmlformats.org/officeDocument/2006/relationships/notesMaster" Target="/ppt/notesMasters/notesMaster1.xml" Id="R3c6a2ef330054f45" /><Relationship Type="http://schemas.openxmlformats.org/officeDocument/2006/relationships/presProps" Target="/ppt/presProps.xml" Id="Re16bd421e0744ba2" /><Relationship Type="http://schemas.openxmlformats.org/officeDocument/2006/relationships/tableStyles" Target="/ppt/tableStyles.xml" Id="R1ab8daf0aa1a4594" /><Relationship Type="http://schemas.openxmlformats.org/officeDocument/2006/relationships/slide" Target="/ppt/slides/slide1.xml" Id="R544098502f924f13" /><Relationship Type="http://schemas.openxmlformats.org/officeDocument/2006/relationships/slide" Target="/ppt/slides/slide2.xml" Id="R034e5d4c7e904b7f" /><Relationship Type="http://schemas.openxmlformats.org/officeDocument/2006/relationships/slide" Target="/ppt/slides/slide3.xml" Id="R971cebbcd9384c9a" /><Relationship Type="http://schemas.openxmlformats.org/officeDocument/2006/relationships/slide" Target="/ppt/slides/slide4.xml" Id="Re481659ef3b84fbd" /><Relationship Type="http://schemas.openxmlformats.org/officeDocument/2006/relationships/slide" Target="/ppt/slides/slide5.xml" Id="R3b9439d0235a4c7d" /><Relationship Type="http://schemas.openxmlformats.org/officeDocument/2006/relationships/slide" Target="/ppt/slides/slide6.xml" Id="R5bcfff5e73454435" /><Relationship Type="http://schemas.openxmlformats.org/officeDocument/2006/relationships/slide" Target="/ppt/slides/slide7.xml" Id="R76172cd3953149fe" /><Relationship Type="http://schemas.openxmlformats.org/officeDocument/2006/relationships/slide" Target="/ppt/slides/slide8.xml" Id="Rffa2588a265a4485" /><Relationship Type="http://schemas.openxmlformats.org/officeDocument/2006/relationships/slide" Target="/ppt/slides/slide9.xml" Id="R91b31e994fa944a9" /><Relationship Type="http://schemas.openxmlformats.org/officeDocument/2006/relationships/slide" Target="/ppt/slides/slide10.xml" Id="Rdb5b64b36a704436" /><Relationship Type="http://schemas.openxmlformats.org/officeDocument/2006/relationships/slide" Target="/ppt/slides/slide11.xml" Id="R46657759034f47df" /><Relationship Type="http://schemas.openxmlformats.org/officeDocument/2006/relationships/slide" Target="/ppt/slides/slide12.xml" Id="Rd2a16e5c23b8486a" /><Relationship Type="http://schemas.openxmlformats.org/officeDocument/2006/relationships/slide" Target="/ppt/slides/slide13.xml" Id="Rd4d6f7da3e3a4d0e" /><Relationship Type="http://schemas.openxmlformats.org/officeDocument/2006/relationships/slide" Target="/ppt/slides/slide14.xml" Id="R58caa347ed264d95" /><Relationship Type="http://schemas.openxmlformats.org/officeDocument/2006/relationships/slide" Target="/ppt/slides/slide15.xml" Id="R61683db5452f40fa" /><Relationship Type="http://schemas.openxmlformats.org/officeDocument/2006/relationships/slide" Target="/ppt/slides/slide16.xml" Id="R9283162eeb0143af" /><Relationship Type="http://schemas.openxmlformats.org/officeDocument/2006/relationships/slide" Target="/ppt/slides/slide17.xml" Id="R8bbcd75263ba444b" /><Relationship Type="http://schemas.openxmlformats.org/officeDocument/2006/relationships/slide" Target="/ppt/slides/slide18.xml" Id="R167a0c9135244f56" /><Relationship Type="http://schemas.openxmlformats.org/officeDocument/2006/relationships/slide" Target="/ppt/slides/slide19.xml" Id="Rb4e73dbaf35b441e" /><Relationship Type="http://schemas.openxmlformats.org/officeDocument/2006/relationships/slide" Target="/ppt/slides/slide20.xml" Id="R61a3f2c82d9643b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08e6ca574ca402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4032f8a509c4a96" /><Relationship Type="http://schemas.openxmlformats.org/officeDocument/2006/relationships/notesMaster" Target="/ppt/notesMasters/notesMaster1.xml" Id="Rff232b79a40240b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d76357e0055453c" /><Relationship Type="http://schemas.openxmlformats.org/officeDocument/2006/relationships/notesMaster" Target="/ppt/notesMasters/notesMaster1.xml" Id="R8fb536094d1a426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0c36dfc5e6f4855" /><Relationship Type="http://schemas.openxmlformats.org/officeDocument/2006/relationships/notesMaster" Target="/ppt/notesMasters/notesMaster1.xml" Id="Ra90bab0422d3442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f9268acf01c4ebb" /><Relationship Type="http://schemas.openxmlformats.org/officeDocument/2006/relationships/notesMaster" Target="/ppt/notesMasters/notesMaster1.xml" Id="Rc0e73a176bdf440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eea224be1944f80" /><Relationship Type="http://schemas.openxmlformats.org/officeDocument/2006/relationships/notesMaster" Target="/ppt/notesMasters/notesMaster1.xml" Id="R764fe47073494e7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8d1762c6e454fd0" /><Relationship Type="http://schemas.openxmlformats.org/officeDocument/2006/relationships/notesMaster" Target="/ppt/notesMasters/notesMaster1.xml" Id="R399ff5b2b145473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90cc03d1d1a4358" /><Relationship Type="http://schemas.openxmlformats.org/officeDocument/2006/relationships/notesMaster" Target="/ppt/notesMasters/notesMaster1.xml" Id="Re2fd0d9717344e0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cea154eb0e54fe3" /><Relationship Type="http://schemas.openxmlformats.org/officeDocument/2006/relationships/notesMaster" Target="/ppt/notesMasters/notesMaster1.xml" Id="R77c4f40c625a41c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b337b0a0dd445db" /><Relationship Type="http://schemas.openxmlformats.org/officeDocument/2006/relationships/notesMaster" Target="/ppt/notesMasters/notesMaster1.xml" Id="Rf3edc1e8320e4a3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b05c64278e6478a" /><Relationship Type="http://schemas.openxmlformats.org/officeDocument/2006/relationships/notesMaster" Target="/ppt/notesMasters/notesMaster1.xml" Id="R9ca14a69ef1c416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e055230b25f4d86" /><Relationship Type="http://schemas.openxmlformats.org/officeDocument/2006/relationships/notesMaster" Target="/ppt/notesMasters/notesMaster1.xml" Id="Ref31fe61fbda4a0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5db76f00a3b4b61" /><Relationship Type="http://schemas.openxmlformats.org/officeDocument/2006/relationships/notesMaster" Target="/ppt/notesMasters/notesMaster1.xml" Id="Rec7d73c084034ba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117394451c441c3" /><Relationship Type="http://schemas.openxmlformats.org/officeDocument/2006/relationships/notesMaster" Target="/ppt/notesMasters/notesMaster1.xml" Id="R8dd3751bf40e425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6f5f3e645814532" /><Relationship Type="http://schemas.openxmlformats.org/officeDocument/2006/relationships/notesMaster" Target="/ppt/notesMasters/notesMaster1.xml" Id="R72e2cfecbb13489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3f7bab9e08442d1" /><Relationship Type="http://schemas.openxmlformats.org/officeDocument/2006/relationships/notesMaster" Target="/ppt/notesMasters/notesMaster1.xml" Id="R2e3842d3afbb4f2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51cc26d2e284115" /><Relationship Type="http://schemas.openxmlformats.org/officeDocument/2006/relationships/notesMaster" Target="/ppt/notesMasters/notesMaster1.xml" Id="Re62c13e6c20641f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94aeb36437740d2" /><Relationship Type="http://schemas.openxmlformats.org/officeDocument/2006/relationships/notesMaster" Target="/ppt/notesMasters/notesMaster1.xml" Id="R7ed8db7411fe4faa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49c726c562c4c0f" /><Relationship Type="http://schemas.openxmlformats.org/officeDocument/2006/relationships/notesMaster" Target="/ppt/notesMasters/notesMaster1.xml" Id="R6fdd86ae74f248d3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63f2e351e8c4930" /><Relationship Type="http://schemas.openxmlformats.org/officeDocument/2006/relationships/notesMaster" Target="/ppt/notesMasters/notesMaster1.xml" Id="Rbc3b65ad534942e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e023f5191d974af9" /><Relationship Type="http://schemas.openxmlformats.org/officeDocument/2006/relationships/notesMaster" Target="/ppt/notesMasters/notesMaster1.xml" Id="R5de73bb0bbe44e7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b122620f5f4a2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7df8b681dfd4637" /><Relationship Type="http://schemas.openxmlformats.org/officeDocument/2006/relationships/slideLayout" Target="/ppt/slideLayouts/slideLayout1.xml" Id="Rf31f366e702d4bc3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31f366e702d4bc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9fef674c414476" /><Relationship Type="http://schemas.openxmlformats.org/officeDocument/2006/relationships/image" Target="/ppt/media/image.png" Id="R8074c41cdd7a4838" /><Relationship Type="http://schemas.openxmlformats.org/officeDocument/2006/relationships/notesSlide" Target="/ppt/notesSlides/notesSlide1.xml" Id="Rf955e74ef93c4d9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5614b79a3e4180" /><Relationship Type="http://schemas.openxmlformats.org/officeDocument/2006/relationships/notesSlide" Target="/ppt/notesSlides/notesSlide2.xml" Id="R6ef860710c90458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6dc6d6e3674b99" /><Relationship Type="http://schemas.openxmlformats.org/officeDocument/2006/relationships/image" Target="/ppt/media/image2.png" Id="R67481ee78be54a7b" /><Relationship Type="http://schemas.openxmlformats.org/officeDocument/2006/relationships/notesSlide" Target="/ppt/notesSlides/notesSlide3.xml" Id="R59434aa3efdd485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00a2404e22459e" /><Relationship Type="http://schemas.openxmlformats.org/officeDocument/2006/relationships/notesSlide" Target="/ppt/notesSlides/notesSlide4.xml" Id="R53ecf0bf337e46f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9e3c8d589b4380" /><Relationship Type="http://schemas.openxmlformats.org/officeDocument/2006/relationships/notesSlide" Target="/ppt/notesSlides/notesSlide5.xml" Id="R16ab74ee8e594cd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15ea0b0d984305" /><Relationship Type="http://schemas.openxmlformats.org/officeDocument/2006/relationships/image" Target="/ppt/media/image3.png" Id="Rb3377bbfe42f4a2b" /><Relationship Type="http://schemas.openxmlformats.org/officeDocument/2006/relationships/notesSlide" Target="/ppt/notesSlides/notesSlide6.xml" Id="R1c865bb974224f5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822d1b5dfb4245" /><Relationship Type="http://schemas.openxmlformats.org/officeDocument/2006/relationships/image" Target="/ppt/media/image4.png" Id="R80e5131a2df74bd0" /><Relationship Type="http://schemas.openxmlformats.org/officeDocument/2006/relationships/notesSlide" Target="/ppt/notesSlides/notesSlide7.xml" Id="R707ed78979d544e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968bb472744fca" /><Relationship Type="http://schemas.openxmlformats.org/officeDocument/2006/relationships/image" Target="/ppt/media/image5.png" Id="Ra31e3aecec1d4a3b" /><Relationship Type="http://schemas.openxmlformats.org/officeDocument/2006/relationships/image" Target="/ppt/media/image6.png" Id="R748c6ab1b9e3459e" /><Relationship Type="http://schemas.openxmlformats.org/officeDocument/2006/relationships/notesSlide" Target="/ppt/notesSlides/notesSlide8.xml" Id="R5208a036c54548a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0d30793e4a4454" /><Relationship Type="http://schemas.openxmlformats.org/officeDocument/2006/relationships/notesSlide" Target="/ppt/notesSlides/notesSlide9.xml" Id="R4d0b2fbc89b94b6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00b890f62d4e40" /><Relationship Type="http://schemas.openxmlformats.org/officeDocument/2006/relationships/image" Target="/ppt/media/image7.png" Id="R78adc1ab0d6640bb" /><Relationship Type="http://schemas.openxmlformats.org/officeDocument/2006/relationships/notesSlide" Target="/ppt/notesSlides/notesSlide10.xml" Id="R5dae8e8541274b5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0f7aee16e14987" /><Relationship Type="http://schemas.openxmlformats.org/officeDocument/2006/relationships/image" Target="/ppt/media/image8.png" Id="R10d972ef437b4f02" /><Relationship Type="http://schemas.openxmlformats.org/officeDocument/2006/relationships/image" Target="/ppt/media/image9.png" Id="R4211a218fa904ea6" /><Relationship Type="http://schemas.openxmlformats.org/officeDocument/2006/relationships/notesSlide" Target="/ppt/notesSlides/notesSlide11.xml" Id="R8fc76d0509eb41a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f561875dae40b0" /><Relationship Type="http://schemas.openxmlformats.org/officeDocument/2006/relationships/image" Target="/ppt/media/image10.png" Id="Rf38f4861dad44cd9" /><Relationship Type="http://schemas.openxmlformats.org/officeDocument/2006/relationships/image" Target="/ppt/media/image11.png" Id="R28cbf5ce4040470d" /><Relationship Type="http://schemas.openxmlformats.org/officeDocument/2006/relationships/image" Target="/ppt/media/image12.png" Id="Rc1550536f687486a" /><Relationship Type="http://schemas.openxmlformats.org/officeDocument/2006/relationships/notesSlide" Target="/ppt/notesSlides/notesSlide12.xml" Id="R4e250d0689d140e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7480eef7b64dd2" /><Relationship Type="http://schemas.openxmlformats.org/officeDocument/2006/relationships/image" Target="/ppt/media/image13.png" Id="R0e29bc6bac024cf9" /><Relationship Type="http://schemas.openxmlformats.org/officeDocument/2006/relationships/image" Target="/ppt/media/image14.png" Id="R41f4d14b546f47fe" /><Relationship Type="http://schemas.openxmlformats.org/officeDocument/2006/relationships/image" Target="/ppt/media/image15.png" Id="R997b2dd81d2f47f7" /><Relationship Type="http://schemas.openxmlformats.org/officeDocument/2006/relationships/notesSlide" Target="/ppt/notesSlides/notesSlide13.xml" Id="R3e30fba0675f40c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7a9e32ed574f52" /><Relationship Type="http://schemas.openxmlformats.org/officeDocument/2006/relationships/image" Target="/ppt/media/image16.png" Id="R7a22372413414ff2" /><Relationship Type="http://schemas.openxmlformats.org/officeDocument/2006/relationships/image" Target="/ppt/media/image17.png" Id="R6965fa9ae8ce495a" /><Relationship Type="http://schemas.openxmlformats.org/officeDocument/2006/relationships/image" Target="/ppt/media/image18.png" Id="R7612942f460c44dc" /><Relationship Type="http://schemas.openxmlformats.org/officeDocument/2006/relationships/notesSlide" Target="/ppt/notesSlides/notesSlide14.xml" Id="Rc18e6203a522445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11ed1bf36b49ef" /><Relationship Type="http://schemas.openxmlformats.org/officeDocument/2006/relationships/image" Target="/ppt/media/image19.png" Id="R758c4c2670034430" /><Relationship Type="http://schemas.openxmlformats.org/officeDocument/2006/relationships/image" Target="/ppt/media/image20.png" Id="Rfe8de26fcfa14877" /><Relationship Type="http://schemas.openxmlformats.org/officeDocument/2006/relationships/image" Target="/ppt/media/image21.png" Id="R957fd9c75c25445c" /><Relationship Type="http://schemas.openxmlformats.org/officeDocument/2006/relationships/notesSlide" Target="/ppt/notesSlides/notesSlide15.xml" Id="Rdc6d0b1c7c7b4b4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167219020e47ac" /><Relationship Type="http://schemas.openxmlformats.org/officeDocument/2006/relationships/notesSlide" Target="/ppt/notesSlides/notesSlide16.xml" Id="Rce0a89fed8c646a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99e68778664137" /><Relationship Type="http://schemas.openxmlformats.org/officeDocument/2006/relationships/notesSlide" Target="/ppt/notesSlides/notesSlide17.xml" Id="R83ca8cd6ab9e44d5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d09499a947420a" /><Relationship Type="http://schemas.openxmlformats.org/officeDocument/2006/relationships/image" Target="/ppt/media/image22.png" Id="Rde9d7074ad134714" /><Relationship Type="http://schemas.openxmlformats.org/officeDocument/2006/relationships/image" Target="/ppt/media/image23.png" Id="R344406d3742b4c8b" /><Relationship Type="http://schemas.openxmlformats.org/officeDocument/2006/relationships/notesSlide" Target="/ppt/notesSlides/notesSlide18.xml" Id="R4d99dcfdc64040b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773354f00242ab" /><Relationship Type="http://schemas.openxmlformats.org/officeDocument/2006/relationships/image" Target="/ppt/media/image13.png" Id="R4625363fe63c4254" /><Relationship Type="http://schemas.openxmlformats.org/officeDocument/2006/relationships/image" Target="/ppt/media/image16.png" Id="Rabc5ecc3f7794eb2" /><Relationship Type="http://schemas.openxmlformats.org/officeDocument/2006/relationships/image" Target="/ppt/media/image24.png" Id="R3000002469164692" /><Relationship Type="http://schemas.openxmlformats.org/officeDocument/2006/relationships/image" Target="/ppt/media/image25.png" Id="Ref3bc56cc3fc45e4" /><Relationship Type="http://schemas.openxmlformats.org/officeDocument/2006/relationships/notesSlide" Target="/ppt/notesSlides/notesSlide19.xml" Id="R6ebe7b0505714a4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65b0426cd446f2" /><Relationship Type="http://schemas.openxmlformats.org/officeDocument/2006/relationships/notesSlide" Target="/ppt/notesSlides/notesSlide20.xml" Id="R0046ddbc699841b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CABB9CCD-785C-4933-9254-DDCA206C7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0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723FC576-FDB2-4C29-88C9-EC4E1FA2D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23950"/>
            <a:ext cx="121920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DD9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3" name="图片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74c41cdd7a48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0550" y="228600"/>
            <a:ext cx="704850" cy="704850"/>
          </a:xfrm>
          <a:prstGeom xmlns:a="http://schemas.openxmlformats.org/drawingml/2006/main" prst="rect">
            <a:avLst/>
          </a:prstGeom>
        </p:spPr>
      </p:pic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AF5F42D3-FC9F-4BCA-9FD6-9E298B345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76225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硕士论文阶段汇报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1D2B830C-12A8-4D67-9A15-6A7931B42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72665"/>
            <a:ext cx="8763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17406D"/>
                </a:solidFill>
                <a:latin typeface="黑体"/>
                <a:ea typeface="黑体"/>
                <a:cs typeface="黑体"/>
              </a:defRPr>
            </a:pPr>
            <a:r>
              <a:rPr sz="3150" b="1">
                <a:solidFill>
                  <a:srgbClr val="17406D"/>
                </a:solidFill>
                <a:latin typeface="黑体"/>
                <a:ea typeface="黑体"/>
                <a:cs typeface="黑体"/>
              </a:rPr>
              <a:t>基于多源数据融合的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17406D"/>
                </a:solidFill>
                <a:latin typeface="黑体"/>
                <a:ea typeface="黑体"/>
                <a:cs typeface="黑体"/>
              </a:defRPr>
            </a:pPr>
            <a:r>
              <a:rPr sz="3150" b="1">
                <a:solidFill>
                  <a:srgbClr val="17406D"/>
                </a:solidFill>
                <a:latin typeface="黑体"/>
                <a:ea typeface="黑体"/>
                <a:cs typeface="黑体"/>
              </a:rPr>
              <a:t>磁浮轨道振动监测方法研究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C152C7A6-FACB-47BD-A5E0-2BB82B8ED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225" y="3543300"/>
            <a:ext cx="495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D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圆角矩形 9">
            <a:extLst xmlns:a="http://schemas.openxmlformats.org/drawingml/2006/main">
              <a:ext uri="{FF2B5EF4-FFF2-40B4-BE49-F238E27FC236}">
                <a16:creationId xmlns:a16="http://schemas.microsoft.com/office/drawing/2014/main" id="{55107833-FBF3-46F3-8A07-61A962467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5340" y="2996565"/>
            <a:ext cx="1619250" cy="647700"/>
          </a:xfrm>
          <a:prstGeom xmlns:a="http://schemas.openxmlformats.org/drawingml/2006/main" prst="roundRect">
            <a:avLst>
              <a:gd name="adj" fmla="val 13235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13335">
            <a:solidFill>
              <a:srgbClr val="0F6FC6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9AB10D0A-C2F4-46A3-8D5F-39BC2DE8C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0590" y="3148965"/>
            <a:ext cx="142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倒挂式雷达</a:t>
            </a:r>
          </a:p>
        </p:txBody>
      </p:sp>
      <p:sp>
        <p:nvSpPr>
          <p:cNvPr id="12" name="圆角矩形 11">
            <a:extLst xmlns:a="http://schemas.openxmlformats.org/drawingml/2006/main">
              <a:ext uri="{FF2B5EF4-FFF2-40B4-BE49-F238E27FC236}">
                <a16:creationId xmlns:a16="http://schemas.microsoft.com/office/drawing/2014/main" id="{90D1DF63-4173-4999-A022-3DBAE79A1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5590" y="2996565"/>
            <a:ext cx="1619250" cy="647700"/>
          </a:xfrm>
          <a:prstGeom xmlns:a="http://schemas.openxmlformats.org/drawingml/2006/main" prst="roundRect">
            <a:avLst>
              <a:gd name="adj" fmla="val 13235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13335">
            <a:solidFill>
              <a:srgbClr val="009DD9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E4A21CFD-231E-4FBB-93FF-C9CA2FB96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0840" y="3148965"/>
            <a:ext cx="142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静止散射体</a:t>
            </a:r>
          </a:p>
        </p:txBody>
      </p:sp>
      <p:sp>
        <p:nvSpPr>
          <p:cNvPr id="14" name="右箭头 13">
            <a:extLst xmlns:a="http://schemas.openxmlformats.org/drawingml/2006/main">
              <a:ext uri="{FF2B5EF4-FFF2-40B4-BE49-F238E27FC236}">
                <a16:creationId xmlns:a16="http://schemas.microsoft.com/office/drawing/2014/main" id="{A864628B-C95C-437E-839E-B77220F9C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6965" y="3187065"/>
            <a:ext cx="4000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9D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圆角矩形 14">
            <a:extLst xmlns:a="http://schemas.openxmlformats.org/drawingml/2006/main">
              <a:ext uri="{FF2B5EF4-FFF2-40B4-BE49-F238E27FC236}">
                <a16:creationId xmlns:a16="http://schemas.microsoft.com/office/drawing/2014/main" id="{7C47EC38-B2E1-4C00-A8EF-73A2E9DC3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5340" y="4120515"/>
            <a:ext cx="1619250" cy="647700"/>
          </a:xfrm>
          <a:prstGeom xmlns:a="http://schemas.openxmlformats.org/drawingml/2006/main" prst="roundRect">
            <a:avLst>
              <a:gd name="adj" fmla="val 13235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13335">
            <a:solidFill>
              <a:srgbClr val="10CF9B"/>
            </a:solidFill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645B9555-69C7-4EFB-A692-3BD434F3D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0590" y="4311015"/>
            <a:ext cx="142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加速度预测</a:t>
            </a:r>
          </a:p>
        </p:txBody>
      </p:sp>
      <p:sp>
        <p:nvSpPr>
          <p:cNvPr id="17" name="圆角矩形 16">
            <a:extLst xmlns:a="http://schemas.openxmlformats.org/drawingml/2006/main">
              <a:ext uri="{FF2B5EF4-FFF2-40B4-BE49-F238E27FC236}">
                <a16:creationId xmlns:a16="http://schemas.microsoft.com/office/drawing/2014/main" id="{A219EEFB-034E-44CF-9B7D-076CFFE05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5590" y="4120515"/>
            <a:ext cx="1619250" cy="647700"/>
          </a:xfrm>
          <a:prstGeom xmlns:a="http://schemas.openxmlformats.org/drawingml/2006/main" prst="roundRect">
            <a:avLst>
              <a:gd name="adj" fmla="val 13235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13335">
            <a:solidFill>
              <a:srgbClr val="0F6FC6"/>
            </a:solidFill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2C1B71AC-1FC0-403B-8818-0696B6189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0840" y="4311015"/>
            <a:ext cx="142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结构主相位</a:t>
            </a:r>
          </a:p>
        </p:txBody>
      </p:sp>
      <p:sp>
        <p:nvSpPr>
          <p:cNvPr id="19" name="右箭头 18">
            <a:extLst xmlns:a="http://schemas.openxmlformats.org/drawingml/2006/main">
              <a:ext uri="{FF2B5EF4-FFF2-40B4-BE49-F238E27FC236}">
                <a16:creationId xmlns:a16="http://schemas.microsoft.com/office/drawing/2014/main" id="{758DCF65-B16E-4AC7-981F-1766AAEE9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6965" y="4311015"/>
            <a:ext cx="4000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F6FC6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4423597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D7F4B695-ACB2-48EF-A095-270B0BEAF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0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DE003DA8-5F4E-42FA-B25D-0FACAF19B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D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227B76A8-54BC-4468-9BAC-7DBA1085C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406D"/>
                </a:solidFill>
                <a:latin typeface="黑体"/>
                <a:ea typeface="黑体"/>
                <a:cs typeface="黑体"/>
              </a:defRPr>
            </a:pPr>
            <a:r>
              <a:rPr sz="2700" b="1">
                <a:solidFill>
                  <a:srgbClr val="17406D"/>
                </a:solidFill>
                <a:latin typeface="黑体"/>
                <a:ea typeface="黑体"/>
                <a:cs typeface="黑体"/>
              </a:rPr>
              <a:t>汇报内容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348217BF-C73E-40D1-A87E-EA7AC42E9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191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rPr>
              <a:t>目录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D719A31C-9EA9-45B7-8BD1-433B17016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008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4841E63D-7ADB-4FE5-969A-08992ED7E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04875"/>
            <a:ext cx="10858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椭圆 7">
            <a:extLst xmlns:a="http://schemas.openxmlformats.org/drawingml/2006/main">
              <a:ext uri="{FF2B5EF4-FFF2-40B4-BE49-F238E27FC236}">
                <a16:creationId xmlns:a16="http://schemas.microsoft.com/office/drawing/2014/main" id="{E51FA1FD-5976-4C3C-9652-FC1D1E61C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575" y="1844675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0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1E6774FA-A9C4-4945-9449-9E5AE3C43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575" y="2035175"/>
            <a:ext cx="742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  <p:sp>
        <p:nvSpPr>
          <p:cNvPr id="10" name="右箭头 9">
            <a:extLst xmlns:a="http://schemas.openxmlformats.org/drawingml/2006/main">
              <a:ext uri="{FF2B5EF4-FFF2-40B4-BE49-F238E27FC236}">
                <a16:creationId xmlns:a16="http://schemas.microsoft.com/office/drawing/2014/main" id="{86AC29E5-6FA1-4D33-9B77-743474B08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1075" y="2082800"/>
            <a:ext cx="7429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9D9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F9E3AD1F-7FB8-4325-9F05-D3F862AF2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625" y="2987675"/>
            <a:ext cx="1466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7406D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7406D"/>
                </a:solidFill>
                <a:latin typeface="微软雅黑"/>
                <a:ea typeface="微软雅黑"/>
                <a:cs typeface="微软雅黑"/>
              </a:rPr>
              <a:t>研究背景与问题定义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780D0911-16A7-48C3-8DED-3B77C4FDC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225" y="3721100"/>
            <a:ext cx="17716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75" b="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从静态参考点依赖引出倒挂式毫米波雷达测振需求</a:t>
            </a:r>
          </a:p>
        </p:txBody>
      </p:sp>
      <p:sp>
        <p:nvSpPr>
          <p:cNvPr id="13" name="椭圆 12">
            <a:extLst xmlns:a="http://schemas.openxmlformats.org/drawingml/2006/main">
              <a:ext uri="{FF2B5EF4-FFF2-40B4-BE49-F238E27FC236}">
                <a16:creationId xmlns:a16="http://schemas.microsoft.com/office/drawing/2014/main" id="{AF00DD67-69FF-4878-A026-9CB772386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9875" y="1844675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6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1041D334-1142-431B-97AD-238257A7D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9875" y="2035175"/>
            <a:ext cx="742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  <p:sp>
        <p:nvSpPr>
          <p:cNvPr id="15" name="右箭头 14">
            <a:extLst xmlns:a="http://schemas.openxmlformats.org/drawingml/2006/main">
              <a:ext uri="{FF2B5EF4-FFF2-40B4-BE49-F238E27FC236}">
                <a16:creationId xmlns:a16="http://schemas.microsoft.com/office/drawing/2014/main" id="{5BE27279-4CC7-436C-8012-BD842A125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2375" y="2082800"/>
            <a:ext cx="7429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9D9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FB660DD9-4944-4A57-90A7-943DF6511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7925" y="2987675"/>
            <a:ext cx="1466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7406D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7406D"/>
                </a:solidFill>
                <a:latin typeface="微软雅黑"/>
                <a:ea typeface="微软雅黑"/>
                <a:cs typeface="微软雅黑"/>
              </a:rPr>
              <a:t>毫米波雷达位移测量原理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8F2B2411-DB18-4BAA-B5BC-4CF8A4B1B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5525" y="3721100"/>
            <a:ext cx="17716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75" b="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FMCW 测距、相位微位移、Range-Angle Map</a:t>
            </a:r>
          </a:p>
        </p:txBody>
      </p:sp>
      <p:sp>
        <p:nvSpPr>
          <p:cNvPr id="18" name="椭圆 17">
            <a:extLst xmlns:a="http://schemas.openxmlformats.org/drawingml/2006/main">
              <a:ext uri="{FF2B5EF4-FFF2-40B4-BE49-F238E27FC236}">
                <a16:creationId xmlns:a16="http://schemas.microsoft.com/office/drawing/2014/main" id="{E32A8C1A-933A-41A3-B6A0-A700912DD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1175" y="1844675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6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077C5884-EBA0-4219-A31D-FCD0EEC75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61175" y="2035175"/>
            <a:ext cx="742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20" name="右箭头 19">
            <a:extLst xmlns:a="http://schemas.openxmlformats.org/drawingml/2006/main">
              <a:ext uri="{FF2B5EF4-FFF2-40B4-BE49-F238E27FC236}">
                <a16:creationId xmlns:a16="http://schemas.microsoft.com/office/drawing/2014/main" id="{B270F4ED-0E59-40EC-9B43-264C494BE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3675" y="2082800"/>
            <a:ext cx="742950" cy="3238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A9D9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EAA8F141-A773-4904-B5AB-9CB746F54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9225" y="2987675"/>
            <a:ext cx="1466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7406D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7406D"/>
                </a:solidFill>
                <a:latin typeface="微软雅黑"/>
                <a:ea typeface="微软雅黑"/>
                <a:cs typeface="微软雅黑"/>
              </a:rPr>
              <a:t>本文方法与关键创新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BBDB9CD8-CD6C-4225-9BBC-18F1CC473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6825" y="3721100"/>
            <a:ext cx="17716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75" b="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多目标参考点、结构主相位 Kalman、转换系数自举</a:t>
            </a:r>
          </a:p>
        </p:txBody>
      </p:sp>
      <p:sp>
        <p:nvSpPr>
          <p:cNvPr id="23" name="椭圆 22">
            <a:extLst xmlns:a="http://schemas.openxmlformats.org/drawingml/2006/main">
              <a:ext uri="{FF2B5EF4-FFF2-40B4-BE49-F238E27FC236}">
                <a16:creationId xmlns:a16="http://schemas.microsoft.com/office/drawing/2014/main" id="{620EA4F2-0B93-42B8-8CDC-23D578766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2475" y="1844675"/>
            <a:ext cx="7429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6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05392EFE-B418-4B8A-82C8-806260459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42475" y="2035175"/>
            <a:ext cx="7429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6B26F8DB-38C6-47A0-A01F-0BB19AE75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0525" y="2987675"/>
            <a:ext cx="14668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7406D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17406D"/>
                </a:solidFill>
                <a:latin typeface="微软雅黑"/>
                <a:ea typeface="微软雅黑"/>
                <a:cs typeface="微软雅黑"/>
              </a:rPr>
              <a:t>数据</a:t>
            </a:r>
            <a:r>
              <a:rPr sz="1650" b="1">
                <a:solidFill>
                  <a:srgbClr val="17406D"/>
                </a:solidFill>
                <a:latin typeface="微软雅黑"/>
                <a:ea typeface="微软雅黑"/>
                <a:cs typeface="微软雅黑"/>
              </a:rPr>
              <a:t>仿真验证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1E5E8728-75D6-48C6-9392-A08B6A801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8125" y="3721100"/>
            <a:ext cx="17716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275" b="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主场景、对比方法、RMSE 表格与关键图像</a:t>
            </a:r>
          </a:p>
        </p:txBody>
      </p:sp>
    </p:spTree>
    <p:extLst>
      <p:ext uri="{BB962C8B-B14F-4D97-AF65-F5344CB8AC3E}">
        <p14:creationId xmlns:p14="http://schemas.microsoft.com/office/powerpoint/2010/main" val="184584147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4B1D0174-54E7-4656-BE45-BD51CDB29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0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33F4C771-C6C8-4F1D-A285-514C07C7E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D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A13C2F5F-3B7D-4713-85D8-A6ED6139D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924115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406D"/>
                </a:solidFill>
                <a:latin typeface="黑体"/>
                <a:ea typeface="黑体"/>
                <a:cs typeface="黑体"/>
              </a:defRPr>
            </a:pPr>
            <a:r>
              <a:rPr sz="2700" b="1">
                <a:solidFill>
                  <a:srgbClr val="17406D"/>
                </a:solidFill>
                <a:latin typeface="黑体"/>
                <a:ea typeface="黑体"/>
                <a:cs typeface="黑体"/>
              </a:rPr>
              <a:t>研究背景：</a:t>
            </a:r>
            <a:r>
              <a:rPr sz="2700" b="1">
                <a:solidFill>
                  <a:srgbClr val="17406D"/>
                </a:solidFill>
                <a:latin typeface="黑体"/>
                <a:ea typeface="黑体"/>
                <a:cs typeface="黑体"/>
              </a:rPr>
              <a:t>高精度</a:t>
            </a:r>
            <a:r>
              <a:rPr sz="2700" b="1">
                <a:solidFill>
                  <a:srgbClr val="17406D"/>
                </a:solidFill>
                <a:latin typeface="黑体"/>
                <a:ea typeface="黑体"/>
                <a:cs typeface="黑体"/>
              </a:rPr>
              <a:t>结构位移监测需要</a:t>
            </a:r>
            <a:r>
              <a:rPr sz="2700" b="1">
                <a:solidFill>
                  <a:srgbClr val="17406D"/>
                </a:solidFill>
                <a:latin typeface="黑体"/>
                <a:ea typeface="黑体"/>
                <a:cs typeface="黑体"/>
              </a:rPr>
              <a:t>安装</a:t>
            </a:r>
            <a:r>
              <a:rPr sz="2700" b="1">
                <a:solidFill>
                  <a:srgbClr val="17406D"/>
                </a:solidFill>
                <a:latin typeface="黑体"/>
                <a:ea typeface="黑体"/>
                <a:cs typeface="黑体"/>
              </a:rPr>
              <a:t>在静态</a:t>
            </a:r>
            <a:r>
              <a:rPr sz="2700" b="1">
                <a:solidFill>
                  <a:srgbClr val="17406D"/>
                </a:solidFill>
                <a:latin typeface="黑体"/>
                <a:ea typeface="黑体"/>
                <a:cs typeface="黑体"/>
              </a:rPr>
              <a:t>参考点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1E1B1ED1-1BF4-48A8-B99D-D9A177F5C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191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rPr>
              <a:t>研究背景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DCF25CD9-1170-4F05-8FCB-D4AD67CF5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008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EB4E746-CDB1-464D-B6FB-910CF093C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04875"/>
            <a:ext cx="10858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63145E59-9046-419D-A0FD-57ED8FEBE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85875"/>
            <a:ext cx="400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7406D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17406D"/>
                </a:solidFill>
                <a:latin typeface="微软雅黑"/>
                <a:ea typeface="微软雅黑"/>
                <a:cs typeface="微软雅黑"/>
              </a:rPr>
              <a:t>桥梁与磁浮轨道梁位移响应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5C53F474-F156-4A80-B1B2-75225B273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66900"/>
            <a:ext cx="4476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spcAft>
                <a:spcPts val="10"/>
              </a:spcAft>
              <a:buNone/>
              <a:defRPr sz="150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50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动态位移直接反映结构刚度、车辆荷载响应与服役状态</a:t>
            </a:r>
            <a:r>
              <a:rPr sz="150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 </a:t>
            </a:r>
          </a:p>
          <a:p xmlns:a="http://schemas.openxmlformats.org/drawingml/2006/main">
            <a:pPr marL="0" indent="0">
              <a:lnSpc>
                <a:spcPct val="115000"/>
              </a:lnSpc>
              <a:spcAft>
                <a:spcPts val="10"/>
              </a:spcAft>
              <a:buNone/>
              <a:defRPr sz="150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</a:p>
        </p:txBody>
      </p:sp>
      <p:sp>
        <p:nvSpPr>
          <p:cNvPr id="10" name="圆角矩形 9">
            <a:extLst xmlns:a="http://schemas.openxmlformats.org/drawingml/2006/main">
              <a:ext uri="{FF2B5EF4-FFF2-40B4-BE49-F238E27FC236}">
                <a16:creationId xmlns:a16="http://schemas.microsoft.com/office/drawing/2014/main" id="{6028BD7A-2713-46BF-B17B-3878E0393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257300"/>
            <a:ext cx="5398770" cy="3486150"/>
          </a:xfrm>
          <a:prstGeom xmlns:a="http://schemas.openxmlformats.org/drawingml/2006/main" prst="roundRect">
            <a:avLst>
              <a:gd name="adj" fmla="val 2186"/>
            </a:avLst>
          </a:prstGeom>
          <a:solidFill xmlns:a="http://schemas.openxmlformats.org/drawingml/2006/main">
            <a:srgbClr val="F4FAFD"/>
          </a:solidFill>
          <a:ln xmlns:a="http://schemas.openxmlformats.org/drawingml/2006/main" w="9525">
            <a:solidFill>
              <a:srgbClr val="B9D7E8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3BF6FB0A-664D-484C-83EA-C797C9AD3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524000"/>
            <a:ext cx="409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17406D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7406D"/>
                </a:solidFill>
                <a:latin typeface="微软雅黑"/>
                <a:ea typeface="微软雅黑"/>
                <a:cs typeface="微软雅黑"/>
              </a:rPr>
              <a:t>传统位移测量的现场约束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22F3B5F3-42AE-4377-9EF3-5C363EAC8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47875"/>
            <a:ext cx="11906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06D"/>
          </a:solidFill>
          <a:ln xmlns:a="http://schemas.openxmlformats.org/drawingml/2006/main" w="9525">
            <a:solidFill>
              <a:srgbClr val="D2E4EF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7E75C0B8-6C9B-4BA6-B1E7-4D70987D6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124075"/>
            <a:ext cx="10382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方法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68772D8D-7275-4467-814B-A02CE33AA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47875"/>
            <a:ext cx="1428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06D"/>
          </a:solidFill>
          <a:ln xmlns:a="http://schemas.openxmlformats.org/drawingml/2006/main" w="9525">
            <a:solidFill>
              <a:srgbClr val="D2E4EF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DC4F2112-9D4A-402A-BFC0-5B8E74B54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2124075"/>
            <a:ext cx="1276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主要依赖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E7C5605F-138D-4B18-B888-C2A973200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047875"/>
            <a:ext cx="19526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06D"/>
          </a:solidFill>
          <a:ln xmlns:a="http://schemas.openxmlformats.org/drawingml/2006/main" w="9525">
            <a:solidFill>
              <a:srgbClr val="D2E4EF"/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FB6C185E-6C3C-4BEA-9C77-5AE9EC28F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124075"/>
            <a:ext cx="18002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现场局限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BD5599E7-B7E5-4332-B392-A1FCE4D1F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581275"/>
            <a:ext cx="11906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E4EF"/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21DF1864-870E-4623-863C-A15E4BFE0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657475"/>
            <a:ext cx="10382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激光/LVDT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2688B383-4B63-42ED-80F7-9E558EC52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581275"/>
            <a:ext cx="1428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E4EF"/>
            </a:solidFill>
            <a:prstDash val="solid"/>
          </a:ln>
        </p:spPr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762E7543-F089-402F-A3A5-9749B5507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2657475"/>
            <a:ext cx="1276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稳定基准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7FC61B16-AA46-47F7-8D19-FA0F29240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581275"/>
            <a:ext cx="19526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E4EF"/>
            </a:solidFill>
            <a:prstDash val="solid"/>
          </a:ln>
        </p:spPr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AF0FC711-5C85-4E34-B289-40F6723DC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2657475"/>
            <a:ext cx="18002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布设空间与安全约束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6652410D-DC4B-4908-94EB-2981D9765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14675"/>
            <a:ext cx="11906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2E4EF"/>
            </a:solidFill>
            <a:prstDash val="solid"/>
          </a:ln>
        </p:spPr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79CCD5A7-3198-4916-B844-AD33AB3E4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190875"/>
            <a:ext cx="10382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视觉测量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EACA4AC8-738A-4C18-95CA-047928EF5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114675"/>
            <a:ext cx="1428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2E4EF"/>
            </a:solidFill>
            <a:prstDash val="solid"/>
          </a:ln>
        </p:spPr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4C35AC7C-72F9-4A20-8A70-62A682941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3190875"/>
            <a:ext cx="1276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固定相机/视线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069E19C4-455D-4124-91FA-7A106F453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114675"/>
            <a:ext cx="19526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2E4EF"/>
            </a:solidFill>
            <a:prstDash val="solid"/>
          </a:ln>
        </p:spPr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C7804BC9-1730-40D7-BA08-178108A1E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190875"/>
            <a:ext cx="18002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光照、遮挡与标靶</a:t>
            </a: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C0072135-45B5-436B-BEBE-8BDA963F5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48075"/>
            <a:ext cx="11906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E4EF"/>
            </a:solidFill>
            <a:prstDash val="solid"/>
          </a:ln>
        </p:spPr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1F87A7AA-2269-4288-818E-97B7F3D18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724275"/>
            <a:ext cx="10382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GNSS/组合</a:t>
            </a: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E2CD3AE3-A4C8-4DFD-952F-9EEAD89CA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648075"/>
            <a:ext cx="14287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E4EF"/>
            </a:solidFill>
            <a:prstDash val="solid"/>
          </a:ln>
        </p:spPr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789DAB8E-8AAD-4255-B454-AB47BA0EA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3724275"/>
            <a:ext cx="1276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开阔天空/多源</a:t>
            </a: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A8DBEAEC-34BB-4223-A7FB-5E5141EE1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648075"/>
            <a:ext cx="195262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E4EF"/>
            </a:solidFill>
            <a:prstDash val="solid"/>
          </a:ln>
        </p:spPr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91DA0F9B-337F-4FA2-9ECB-0276D5CCF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724275"/>
            <a:ext cx="18002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精度与成本受限</a:t>
            </a:r>
          </a:p>
        </p:txBody>
      </p:sp>
      <p:sp>
        <p:nvSpPr>
          <p:cNvPr id="36" name="圆角矩形 35">
            <a:extLst xmlns:a="http://schemas.openxmlformats.org/drawingml/2006/main">
              <a:ext uri="{FF2B5EF4-FFF2-40B4-BE49-F238E27FC236}">
                <a16:creationId xmlns:a16="http://schemas.microsoft.com/office/drawing/2014/main" id="{30D6CE3F-3470-4570-B236-16E12BD6A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91125"/>
            <a:ext cx="9620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7FBFE"/>
          </a:solidFill>
          <a:ln xmlns:a="http://schemas.openxmlformats.org/drawingml/2006/main" w="15240">
            <a:solidFill>
              <a:srgbClr val="F49100"/>
            </a:solidFill>
            <a:prstDash val="solid"/>
          </a:ln>
        </p:spPr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BAB64710-C437-430C-8926-8CA66FA38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91125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91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E1494334-060A-4812-8D2F-AD5B65472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381625"/>
            <a:ext cx="9315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核心矛盾：高精度位移测量通常需要静态参考点，而桥梁现场恰恰难以稳定布设参考点。</a:t>
            </a:r>
          </a:p>
        </p:txBody>
      </p:sp>
      <p:pic>
        <p:nvPicPr>
          <p:cNvPr id="77" name="图片 3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481ee78be54a7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9470" y="2809875"/>
            <a:ext cx="5114925" cy="198056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575514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EE5173C6-85A7-4466-8700-EACEDC6F2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0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A4BA781F-3F21-4F74-A040-54599CD1F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D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AC64819E-0871-4E2D-848D-D8AEE8EF8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406D"/>
                </a:solidFill>
                <a:latin typeface="黑体"/>
                <a:ea typeface="黑体"/>
                <a:cs typeface="黑体"/>
              </a:defRPr>
            </a:pPr>
            <a:r>
              <a:rPr sz="2700" b="1">
                <a:solidFill>
                  <a:srgbClr val="17406D"/>
                </a:solidFill>
                <a:latin typeface="黑体"/>
                <a:ea typeface="黑体"/>
                <a:cs typeface="黑体"/>
              </a:rPr>
              <a:t>倒挂式毫米波雷达：关键挑战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C3CA1E3C-F03A-4F88-B445-4299B6D58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191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rPr>
              <a:t>问题定义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C0AA2C01-6638-49F2-BE19-7D1D5C14A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008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6FE13902-0428-4A1C-B66A-B73032476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04875"/>
            <a:ext cx="10858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3027D77C-0DF1-4900-9A72-4E3A39B5B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4000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0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7E1D9756-38F2-4201-B2E1-527618A07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7640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梁体 / 磁浮轨道梁</a:t>
            </a:r>
          </a:p>
        </p:txBody>
      </p:sp>
      <p:sp>
        <p:nvSpPr>
          <p:cNvPr id="10" name="圆角矩形 9">
            <a:extLst xmlns:a="http://schemas.openxmlformats.org/drawingml/2006/main">
              <a:ext uri="{FF2B5EF4-FFF2-40B4-BE49-F238E27FC236}">
                <a16:creationId xmlns:a16="http://schemas.microsoft.com/office/drawing/2014/main" id="{448F280A-5FEF-4F51-A676-7283802CD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076450"/>
            <a:ext cx="13335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F6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5F91787E-7665-4C38-B6CF-C227FC617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143125"/>
            <a:ext cx="1066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雷达 +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加速度计</a:t>
            </a:r>
          </a:p>
        </p:txBody>
      </p:sp>
      <p:sp>
        <p:nvSpPr>
          <p:cNvPr id="12" name="等腰三角形 11">
            <a:extLst xmlns:a="http://schemas.openxmlformats.org/drawingml/2006/main">
              <a:ext uri="{FF2B5EF4-FFF2-40B4-BE49-F238E27FC236}">
                <a16:creationId xmlns:a16="http://schemas.microsoft.com/office/drawing/2014/main" id="{9CDAB377-40BF-4AD7-90A9-F28E6E4AF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35885"/>
            <a:ext cx="4705350" cy="277114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DDF2FB"/>
          </a:solidFill>
          <a:ln xmlns:a="http://schemas.openxmlformats.org/drawingml/2006/main" w="12383">
            <a:solidFill>
              <a:srgbClr val="009DD9"/>
            </a:solidFill>
            <a:prstDash val="solid"/>
          </a:ln>
        </p:spPr>
      </p:sp>
      <p:sp>
        <p:nvSpPr>
          <p:cNvPr id="13" name="椭圆 12">
            <a:extLst xmlns:a="http://schemas.openxmlformats.org/drawingml/2006/main">
              <a:ext uri="{FF2B5EF4-FFF2-40B4-BE49-F238E27FC236}">
                <a16:creationId xmlns:a16="http://schemas.microsoft.com/office/drawing/2014/main" id="{03A83067-2594-4F4A-8369-7C3719E27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7625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D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AC154F17-98CD-4209-A7D6-76AE45E2D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8768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T1</a:t>
            </a:r>
          </a:p>
        </p:txBody>
      </p:sp>
      <p:sp>
        <p:nvSpPr>
          <p:cNvPr id="15" name="椭圆 14">
            <a:extLst xmlns:a="http://schemas.openxmlformats.org/drawingml/2006/main">
              <a:ext uri="{FF2B5EF4-FFF2-40B4-BE49-F238E27FC236}">
                <a16:creationId xmlns:a16="http://schemas.microsoft.com/office/drawing/2014/main" id="{4A3B58EA-CE27-428B-982D-6A46BDA29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36245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D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E2E196E0-4046-4A8C-995C-DAA8072CF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47675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T2</a:t>
            </a:r>
          </a:p>
        </p:txBody>
      </p:sp>
      <p:sp>
        <p:nvSpPr>
          <p:cNvPr id="17" name="椭圆 16">
            <a:extLst xmlns:a="http://schemas.openxmlformats.org/drawingml/2006/main">
              <a:ext uri="{FF2B5EF4-FFF2-40B4-BE49-F238E27FC236}">
                <a16:creationId xmlns:a16="http://schemas.microsoft.com/office/drawing/2014/main" id="{AFE28272-26F9-4A16-8193-657F1322D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7440" y="4267200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8DF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9CD786DF-6DA7-4F7C-973F-667FD34DB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7440" y="43815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T3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706AAD02-29A7-40D4-9293-43DFEC6FE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476875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406D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7406D"/>
                </a:solidFill>
                <a:latin typeface="微软雅黑"/>
                <a:ea typeface="微软雅黑"/>
                <a:cs typeface="微软雅黑"/>
              </a:rPr>
              <a:t>环境静止散射体作为参考目标</a:t>
            </a:r>
          </a:p>
        </p:txBody>
      </p:sp>
      <p:sp>
        <p:nvSpPr>
          <p:cNvPr id="20" name="圆角矩形 19">
            <a:extLst xmlns:a="http://schemas.openxmlformats.org/drawingml/2006/main">
              <a:ext uri="{FF2B5EF4-FFF2-40B4-BE49-F238E27FC236}">
                <a16:creationId xmlns:a16="http://schemas.microsoft.com/office/drawing/2014/main" id="{275B5D8E-C2A0-4BE9-99D9-F33308297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314450"/>
            <a:ext cx="857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1740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615A5603-7C28-4C14-B404-2B8CA623C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364615"/>
            <a:ext cx="704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挑战 1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E122893E-27D5-42FD-A832-906CFEB4C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30492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7406D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7406D"/>
                </a:solidFill>
                <a:latin typeface="微软雅黑"/>
                <a:ea typeface="微软雅黑"/>
                <a:cs typeface="微软雅黑"/>
              </a:rPr>
              <a:t>同 range bin 多角度混合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AF5C64B2-69FB-41A1-B9ED-4E95416CF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1657350"/>
            <a:ext cx="3810000" cy="4933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复数相量叠加后相位</a:t>
            </a:r>
            <a:r>
              <a:rPr sz="13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再通过拟合得到的</a:t>
            </a:r>
            <a:r>
              <a:rPr sz="13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LOS</a:t>
            </a:r>
            <a:r>
              <a:rPr sz="13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转换系数适配性差，导致精度</a:t>
            </a:r>
            <a:r>
              <a:rPr sz="13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降低。</a:t>
            </a:r>
          </a:p>
        </p:txBody>
      </p:sp>
      <p:sp>
        <p:nvSpPr>
          <p:cNvPr id="24" name="圆角矩形 23">
            <a:extLst xmlns:a="http://schemas.openxmlformats.org/drawingml/2006/main">
              <a:ext uri="{FF2B5EF4-FFF2-40B4-BE49-F238E27FC236}">
                <a16:creationId xmlns:a16="http://schemas.microsoft.com/office/drawing/2014/main" id="{81E0E78D-E016-4FEC-B080-011A3EFF7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381250"/>
            <a:ext cx="857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F6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902E9EE4-398C-4F05-A86F-428531382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431415"/>
            <a:ext cx="704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挑战 2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DDE2B913-1D13-45BC-A18B-34AEBA8C8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37172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7406D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7406D"/>
                </a:solidFill>
                <a:latin typeface="微软雅黑"/>
                <a:ea typeface="微软雅黑"/>
                <a:cs typeface="微软雅黑"/>
              </a:rPr>
              <a:t>target 丢失或退化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8DB467BF-F04E-4F16-9EFB-4CF14A241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724150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遮挡、低 SNR、移动干扰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导致精度降低、监测</a:t>
            </a:r>
            <a:r>
              <a:rPr sz="13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不连续</a:t>
            </a:r>
          </a:p>
        </p:txBody>
      </p:sp>
      <p:sp>
        <p:nvSpPr>
          <p:cNvPr id="28" name="圆角矩形 27">
            <a:extLst xmlns:a="http://schemas.openxmlformats.org/drawingml/2006/main">
              <a:ext uri="{FF2B5EF4-FFF2-40B4-BE49-F238E27FC236}">
                <a16:creationId xmlns:a16="http://schemas.microsoft.com/office/drawing/2014/main" id="{BBF71FF6-BF7C-4172-9CF6-1B42302B4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481705"/>
            <a:ext cx="857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F6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7BA7F45B-5A64-48B0-8BCC-7DD0A5571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14725"/>
            <a:ext cx="704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挑战 3</a:t>
            </a: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595CD093-7C7B-4917-B763-153090AE4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43852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7406D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7406D"/>
                </a:solidFill>
                <a:latin typeface="微软雅黑"/>
                <a:ea typeface="微软雅黑"/>
                <a:cs typeface="微软雅黑"/>
              </a:rPr>
              <a:t>phase wrapping</a:t>
            </a:r>
          </a:p>
        </p:txBody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98347F6C-A69E-41E1-AE36-D3F10DEBC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790950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毫米级强响应会导致相位跨越多个周期</a:t>
            </a:r>
            <a:r>
              <a:rPr sz="13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，传统方法无法解决强包裹问题，现有方法的解缠步骤割裂，没能实现处理流程闭环</a:t>
            </a:r>
            <a:r>
              <a:rPr sz="13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一体化。</a:t>
            </a:r>
          </a:p>
        </p:txBody>
      </p:sp>
      <p:sp>
        <p:nvSpPr>
          <p:cNvPr id="32" name="圆角矩形 31">
            <a:extLst xmlns:a="http://schemas.openxmlformats.org/drawingml/2006/main">
              <a:ext uri="{FF2B5EF4-FFF2-40B4-BE49-F238E27FC236}">
                <a16:creationId xmlns:a16="http://schemas.microsoft.com/office/drawing/2014/main" id="{3B59FDE2-88F5-49AD-9F1F-AEC119D27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655820"/>
            <a:ext cx="857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0F6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2E24BD32-99A1-47A9-8D34-CCA2AD32D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22495"/>
            <a:ext cx="704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挑战 4</a:t>
            </a: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2866FA6C-8C33-45A4-B655-9E63562FE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646295"/>
            <a:ext cx="3333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7406D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7406D"/>
                </a:solidFill>
                <a:latin typeface="微软雅黑"/>
                <a:ea typeface="微软雅黑"/>
                <a:cs typeface="微软雅黑"/>
              </a:rPr>
              <a:t>LOS</a:t>
            </a:r>
            <a:r>
              <a:rPr sz="1725" b="1">
                <a:solidFill>
                  <a:srgbClr val="17406D"/>
                </a:solidFill>
                <a:latin typeface="微软雅黑"/>
                <a:ea typeface="微软雅黑"/>
                <a:cs typeface="微软雅黑"/>
              </a:rPr>
              <a:t>转换系数</a:t>
            </a:r>
            <a:r>
              <a:rPr sz="1725" b="1">
                <a:solidFill>
                  <a:srgbClr val="17406D"/>
                </a:solidFill>
                <a:latin typeface="微软雅黑"/>
                <a:ea typeface="微软雅黑"/>
                <a:cs typeface="微软雅黑"/>
              </a:rPr>
              <a:t>需人工</a:t>
            </a:r>
            <a:r>
              <a:rPr sz="1725" b="1">
                <a:solidFill>
                  <a:srgbClr val="17406D"/>
                </a:solidFill>
                <a:latin typeface="微软雅黑"/>
                <a:ea typeface="微软雅黑"/>
                <a:cs typeface="微软雅黑"/>
              </a:rPr>
              <a:t>标定</a:t>
            </a:r>
          </a:p>
        </p:txBody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4B2B4BDA-D790-4233-87E3-5B27C943D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4998720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传统用法要求</a:t>
            </a:r>
            <a:r>
              <a:rPr sz="13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target</a:t>
            </a:r>
            <a:r>
              <a:rPr sz="13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必须垂直于雷达，否则需要自己测量</a:t>
            </a:r>
            <a:r>
              <a:rPr sz="13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LOS</a:t>
            </a:r>
            <a:r>
              <a:rPr sz="13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的角度，安装使用非常</a:t>
            </a:r>
            <a:r>
              <a:rPr sz="13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不方便。</a:t>
            </a:r>
          </a:p>
        </p:txBody>
      </p:sp>
    </p:spTree>
    <p:extLst>
      <p:ext uri="{BB962C8B-B14F-4D97-AF65-F5344CB8AC3E}">
        <p14:creationId xmlns:p14="http://schemas.microsoft.com/office/powerpoint/2010/main" val="132821979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196AB0AE-B1A7-4FE1-8966-6CFFBCD8C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0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ED9D7DC6-E81F-43F6-B96C-A4A81A588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D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2D2A0248-2E8E-430F-A1C9-E96A6837F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406D"/>
                </a:solidFill>
                <a:latin typeface="黑体"/>
                <a:ea typeface="黑体"/>
                <a:cs typeface="黑体"/>
              </a:defRPr>
            </a:pPr>
            <a:r>
              <a:rPr sz="2700" b="1">
                <a:solidFill>
                  <a:srgbClr val="17406D"/>
                </a:solidFill>
                <a:latin typeface="黑体"/>
                <a:ea typeface="黑体"/>
                <a:cs typeface="黑体"/>
              </a:rPr>
              <a:t>从问题约束引出本文的三组创新设计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6E91FC78-32AC-4BC3-A4FC-874804B48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191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rPr>
              <a:t>创新点总览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29D4C74F-C082-4DF4-86D8-99A0C73B1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008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EDC259CE-77CD-49EB-A0F9-B66187F26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04875"/>
            <a:ext cx="10858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ED34BF3E-8B85-4903-81B9-9B99C057C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28750"/>
            <a:ext cx="38576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4A78"/>
          </a:solidFill>
          <a:ln xmlns:a="http://schemas.openxmlformats.org/drawingml/2006/main" w="9525">
            <a:solidFill>
              <a:srgbClr val="D8E8F5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50CEC520-5385-4203-AC1A-D8F36CFFA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543050"/>
            <a:ext cx="35147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现场问题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100D0B01-59D1-4626-A140-8FDA60B08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428750"/>
            <a:ext cx="37623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4A78"/>
          </a:solidFill>
          <a:ln xmlns:a="http://schemas.openxmlformats.org/drawingml/2006/main" w="9525">
            <a:solidFill>
              <a:srgbClr val="D8E8F5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E2A3D0B4-FF0F-49D0-A432-002D22F73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1543050"/>
            <a:ext cx="34194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本文处理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5AFF2347-EC5C-449D-A8B6-907C21B7D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428750"/>
            <a:ext cx="233362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4A78"/>
          </a:solidFill>
          <a:ln xmlns:a="http://schemas.openxmlformats.org/drawingml/2006/main" w="9525">
            <a:solidFill>
              <a:srgbClr val="D8E8F5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CCD1851A-87B1-46CD-BD5E-39138F5D1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1543050"/>
            <a:ext cx="19907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</a:defRPr>
            </a:pPr>
            <a:r>
              <a:rPr sz="1200" b="1">
                <a:solidFill>
                  <a:srgbClr val="FFFFFF"/>
                </a:solidFill>
              </a:rPr>
              <a:t>对应创新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5ED4EE38-16B4-407B-9156-EEAD08E50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76450"/>
            <a:ext cx="3857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8F5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83D10F61-04C0-4333-868F-69CA3E883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90750"/>
            <a:ext cx="35147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40" b="0">
                <a:solidFill>
                  <a:srgbClr val="20364F"/>
                </a:solidFill>
              </a:defRPr>
            </a:pPr>
            <a:r>
              <a:rPr sz="1240" b="0">
                <a:solidFill>
                  <a:srgbClr val="20364F"/>
                </a:solidFill>
              </a:rPr>
              <a:t>同一距离单元多角度散射体混合，</a:t>
            </a:r>
          </a:p>
          <a:p xmlns:a="http://schemas.openxmlformats.org/drawingml/2006/main">
            <a:pPr algn="l">
              <a:buNone/>
              <a:defRPr sz="1240" b="0">
                <a:solidFill>
                  <a:srgbClr val="20364F"/>
                </a:solidFill>
              </a:defRPr>
            </a:pPr>
            <a:r>
              <a:rPr sz="1240" b="0">
                <a:solidFill>
                  <a:srgbClr val="20364F"/>
                </a:solidFill>
              </a:rPr>
              <a:t>target 退化或丢失（挑战 1、2）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1F3F6821-61E5-4A14-9F6A-16E3A05A9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076450"/>
            <a:ext cx="37623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FF"/>
          </a:solidFill>
          <a:ln xmlns:a="http://schemas.openxmlformats.org/drawingml/2006/main" w="9525">
            <a:solidFill>
              <a:srgbClr val="D8E8F5"/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3AD44CCD-F956-4855-BDCB-BE7468596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2190750"/>
            <a:ext cx="34194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40" b="1">
                <a:solidFill>
                  <a:srgbClr val="113B67"/>
                </a:solidFill>
              </a:defRPr>
            </a:pPr>
            <a:r>
              <a:rPr sz="1240" b="1">
                <a:solidFill>
                  <a:srgbClr val="113B67"/>
                </a:solidFill>
              </a:rPr>
              <a:t>Range-Angle 在线参考 target</a:t>
            </a:r>
          </a:p>
          <a:p xmlns:a="http://schemas.openxmlformats.org/drawingml/2006/main">
            <a:pPr algn="ctr">
              <a:buNone/>
              <a:defRPr sz="1240" b="1">
                <a:solidFill>
                  <a:srgbClr val="113B67"/>
                </a:solidFill>
              </a:defRPr>
            </a:pPr>
            <a:r>
              <a:rPr sz="1240" b="1">
                <a:solidFill>
                  <a:srgbClr val="113B67"/>
                </a:solidFill>
              </a:rPr>
              <a:t>提取、筛选与维护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B245F9C4-F78B-4ADE-8363-FABF675A0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76450"/>
            <a:ext cx="2333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8F5"/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FBF5B73E-30C0-479C-9439-3482D79F5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190750"/>
            <a:ext cx="19907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13B67"/>
                </a:solidFill>
              </a:defRPr>
            </a:pPr>
            <a:r>
              <a:rPr sz="1275" b="1">
                <a:solidFill>
                  <a:srgbClr val="113B67"/>
                </a:solidFill>
              </a:rPr>
              <a:t>创新点 1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8DFF11EE-B9A8-4CBF-8814-7BBD6DAB8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67050"/>
            <a:ext cx="3857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8F5"/>
            </a:solidFill>
            <a:prstDash val="solid"/>
          </a:ln>
        </p:spPr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38B2BB05-2F43-4E74-AA0E-41188E8B3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81350"/>
            <a:ext cx="35147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40" b="0">
                <a:solidFill>
                  <a:srgbClr val="20364F"/>
                </a:solidFill>
              </a:defRPr>
            </a:pPr>
            <a:r>
              <a:rPr sz="1240" b="0">
                <a:solidFill>
                  <a:srgbClr val="20364F"/>
                </a:solidFill>
              </a:rPr>
              <a:t>强响应相位分支易错，</a:t>
            </a:r>
          </a:p>
          <a:p xmlns:a="http://schemas.openxmlformats.org/drawingml/2006/main">
            <a:pPr algn="l">
              <a:buNone/>
              <a:defRPr sz="1240" b="0">
                <a:solidFill>
                  <a:srgbClr val="20364F"/>
                </a:solidFill>
              </a:defRPr>
            </a:pPr>
            <a:r>
              <a:rPr sz="1240" b="0">
                <a:solidFill>
                  <a:srgbClr val="20364F"/>
                </a:solidFill>
              </a:rPr>
              <a:t>单目标 LoS 状态难融多 target（挑战 3）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D42A5CDA-A1B7-4A6D-861D-CFB11EA22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067050"/>
            <a:ext cx="37623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FF"/>
          </a:solidFill>
          <a:ln xmlns:a="http://schemas.openxmlformats.org/drawingml/2006/main" w="9525">
            <a:solidFill>
              <a:srgbClr val="D8E8F5"/>
            </a:solidFill>
            <a:prstDash val="solid"/>
          </a:ln>
        </p:spPr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7AFBD0C4-3894-438A-AB31-B38913973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3181350"/>
            <a:ext cx="34194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40" b="1">
                <a:solidFill>
                  <a:srgbClr val="113B67"/>
                </a:solidFill>
              </a:defRPr>
            </a:pPr>
            <a:r>
              <a:rPr sz="1240" b="1">
                <a:solidFill>
                  <a:srgbClr val="113B67"/>
                </a:solidFill>
              </a:rPr>
              <a:t>结构主相位多 target Kalman 融合</a:t>
            </a:r>
          </a:p>
          <a:p xmlns:a="http://schemas.openxmlformats.org/drawingml/2006/main">
            <a:pPr algn="ctr">
              <a:buNone/>
              <a:defRPr sz="1240" b="1">
                <a:solidFill>
                  <a:srgbClr val="113B67"/>
                </a:solidFill>
              </a:defRPr>
            </a:pPr>
            <a:r>
              <a:rPr sz="1240" b="1">
                <a:solidFill>
                  <a:srgbClr val="113B67"/>
                </a:solidFill>
              </a:rPr>
              <a:t>+ 预测辅助相位校正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9CA11603-BE8F-4CA1-9B4B-6EB4B234D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067050"/>
            <a:ext cx="2333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8F5"/>
            </a:solidFill>
            <a:prstDash val="solid"/>
          </a:ln>
        </p:spPr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F2FD0134-7CFB-4405-A3FF-87CD59F3C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181350"/>
            <a:ext cx="19907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13B67"/>
                </a:solidFill>
              </a:defRPr>
            </a:pPr>
            <a:r>
              <a:rPr sz="1275" b="1">
                <a:solidFill>
                  <a:srgbClr val="113B67"/>
                </a:solidFill>
              </a:rPr>
              <a:t>创新点 2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FC78150F-97FA-4FA1-9026-9661949D5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57650"/>
            <a:ext cx="3857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8F5"/>
            </a:solidFill>
            <a:prstDash val="solid"/>
          </a:ln>
        </p:spPr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EF9BD2A6-A0B0-45F9-93AB-D6DCFB2B9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71950"/>
            <a:ext cx="35147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40" b="0">
                <a:solidFill>
                  <a:srgbClr val="20364F"/>
                </a:solidFill>
              </a:defRPr>
            </a:pPr>
            <a:r>
              <a:rPr sz="1240" b="0">
                <a:solidFill>
                  <a:srgbClr val="20364F"/>
                </a:solidFill>
              </a:rPr>
              <a:t>LoS 转换系数依赖人工测角/标定，</a:t>
            </a:r>
          </a:p>
          <a:p xmlns:a="http://schemas.openxmlformats.org/drawingml/2006/main">
            <a:pPr algn="l">
              <a:buNone/>
              <a:defRPr sz="1240" b="0">
                <a:solidFill>
                  <a:srgbClr val="20364F"/>
                </a:solidFill>
              </a:defRPr>
            </a:pPr>
            <a:r>
              <a:rPr sz="1240" b="0">
                <a:solidFill>
                  <a:srgbClr val="20364F"/>
                </a:solidFill>
              </a:rPr>
              <a:t>现场安装与 target 切换不便（挑战 4）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17867758-5F5E-44E9-9FE3-D00E91823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057650"/>
            <a:ext cx="37623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FF"/>
          </a:solidFill>
          <a:ln xmlns:a="http://schemas.openxmlformats.org/drawingml/2006/main" w="9525">
            <a:solidFill>
              <a:srgbClr val="D8E8F5"/>
            </a:solidFill>
            <a:prstDash val="solid"/>
          </a:ln>
        </p:spPr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11B99451-F11A-4C6C-BD29-D649E7257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4171950"/>
            <a:ext cx="34194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40" b="1">
                <a:solidFill>
                  <a:srgbClr val="113B67"/>
                </a:solidFill>
              </a:defRPr>
            </a:pPr>
            <a:r>
              <a:rPr sz="1240" b="1">
                <a:solidFill>
                  <a:srgbClr val="113B67"/>
                </a:solidFill>
              </a:rPr>
              <a:t>AoA 几何初值</a:t>
            </a:r>
          </a:p>
          <a:p xmlns:a="http://schemas.openxmlformats.org/drawingml/2006/main">
            <a:pPr algn="ctr">
              <a:buNone/>
              <a:defRPr sz="1240" b="1">
                <a:solidFill>
                  <a:srgbClr val="113B67"/>
                </a:solidFill>
              </a:defRPr>
            </a:pPr>
            <a:r>
              <a:rPr sz="1240" b="1">
                <a:solidFill>
                  <a:srgbClr val="113B67"/>
                </a:solidFill>
              </a:rPr>
              <a:t>+ 转换系数在线自举修正</a:t>
            </a: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755EA0B8-DD7F-4DF7-8749-DB3506568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057650"/>
            <a:ext cx="233362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8F5"/>
            </a:solidFill>
            <a:prstDash val="solid"/>
          </a:ln>
        </p:spPr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0D81131C-548E-44E0-A268-125C464E6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171950"/>
            <a:ext cx="19907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13B67"/>
                </a:solidFill>
              </a:defRPr>
            </a:pPr>
            <a:r>
              <a:rPr sz="1275" b="1">
                <a:solidFill>
                  <a:srgbClr val="113B67"/>
                </a:solidFill>
              </a:rPr>
              <a:t>创新点 3</a:t>
            </a:r>
          </a:p>
        </p:txBody>
      </p:sp>
      <p:sp>
        <p:nvSpPr>
          <p:cNvPr id="32" name="圆角矩形 31">
            <a:extLst xmlns:a="http://schemas.openxmlformats.org/drawingml/2006/main">
              <a:ext uri="{FF2B5EF4-FFF2-40B4-BE49-F238E27FC236}">
                <a16:creationId xmlns:a16="http://schemas.microsoft.com/office/drawing/2014/main" id="{AC10AD5C-AD75-4DF0-A30B-971366861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676900"/>
            <a:ext cx="895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4288">
            <a:solidFill>
              <a:srgbClr val="009FE3"/>
            </a:solidFill>
            <a:prstDash val="solid"/>
          </a:ln>
        </p:spPr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876019FF-6D8B-4847-B52E-F6470F982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676900"/>
            <a:ext cx="762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FE3"/>
          </a:solidFill>
          <a:ln xmlns:a="http://schemas.openxmlformats.org/drawingml/2006/main" w="0">
            <a:solidFill>
              <a:srgbClr val="009FE3"/>
            </a:solidFill>
            <a:prstDash val="solid"/>
          </a:ln>
        </p:spPr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5680FE97-3142-41C5-A418-0915270C5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810250"/>
            <a:ext cx="838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12385F"/>
                </a:solidFill>
              </a:defRPr>
            </a:pPr>
            <a:r>
              <a:rPr sz="1425" b="1">
                <a:solidFill>
                  <a:srgbClr val="12385F"/>
                </a:solidFill>
              </a:rPr>
              <a:t>注：逐目标观测权重、自适应观测噪声等机制并入多目标 Kalman 融合框架中展开。</a:t>
            </a:r>
          </a:p>
        </p:txBody>
      </p:sp>
    </p:spTree>
    <p:extLst>
      <p:ext uri="{BB962C8B-B14F-4D97-AF65-F5344CB8AC3E}">
        <p14:creationId xmlns:p14="http://schemas.microsoft.com/office/powerpoint/2010/main" val="136051198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BEB7BDF7-4F1E-4D50-BEDC-4A8DAAACE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0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F2677625-4548-422A-BDD4-39CFBEB64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D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783658A3-8A44-4D64-8B15-5EDF0CC61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406D"/>
                </a:solidFill>
                <a:latin typeface="黑体"/>
                <a:ea typeface="黑体"/>
                <a:cs typeface="黑体"/>
              </a:defRPr>
            </a:pPr>
            <a:r>
              <a:rPr sz="2700" b="1">
                <a:solidFill>
                  <a:srgbClr val="17406D"/>
                </a:solidFill>
                <a:latin typeface="黑体"/>
                <a:ea typeface="黑体"/>
                <a:cs typeface="黑体"/>
              </a:rPr>
              <a:t>毫米波雷达位移测量基本原理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3A0D5EF6-11A1-47FD-AD9B-22DDFC2C5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191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rPr>
              <a:t>基础原理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790A5215-600E-47BC-BA80-7DC6ADF2E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008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32503034-F9B6-4C43-863E-E4ADE97D7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04875"/>
            <a:ext cx="10858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圆角矩形 7">
            <a:extLst xmlns:a="http://schemas.openxmlformats.org/drawingml/2006/main">
              <a:ext uri="{FF2B5EF4-FFF2-40B4-BE49-F238E27FC236}">
                <a16:creationId xmlns:a16="http://schemas.microsoft.com/office/drawing/2014/main" id="{5655DC34-515E-4310-98AE-0AA9E9746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81125"/>
            <a:ext cx="3095625" cy="2619375"/>
          </a:xfrm>
          <a:prstGeom xmlns:a="http://schemas.openxmlformats.org/drawingml/2006/main" prst="roundRect">
            <a:avLst>
              <a:gd name="adj" fmla="val 2909"/>
            </a:avLst>
          </a:prstGeom>
          <a:solidFill xmlns:a="http://schemas.openxmlformats.org/drawingml/2006/main">
            <a:srgbClr val="F5FBFE"/>
          </a:solidFill>
          <a:ln xmlns:a="http://schemas.openxmlformats.org/drawingml/2006/main" w="11430">
            <a:solidFill>
              <a:srgbClr val="B9D7E8"/>
            </a:solidFill>
            <a:prstDash val="solid"/>
          </a:ln>
        </p:spPr>
      </p:sp>
      <p:sp>
        <p:nvSpPr>
          <p:cNvPr id="9" name="椭圆 8">
            <a:extLst xmlns:a="http://schemas.openxmlformats.org/drawingml/2006/main">
              <a:ext uri="{FF2B5EF4-FFF2-40B4-BE49-F238E27FC236}">
                <a16:creationId xmlns:a16="http://schemas.microsoft.com/office/drawing/2014/main" id="{3E012F2B-BECF-4F54-9D51-CF18871C5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163830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6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33324C61-0260-4359-820B-75D21EAD1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1838325"/>
            <a:ext cx="838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64C36471-FA72-4799-B820-2DC3876CA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71462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7406D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7406D"/>
                </a:solidFill>
                <a:latin typeface="微软雅黑"/>
                <a:ea typeface="微软雅黑"/>
                <a:cs typeface="微软雅黑"/>
              </a:rPr>
              <a:t>FMCW 测距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5D757D08-BD1E-49A4-BF09-C86649775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00400"/>
            <a:ext cx="247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发射线性调频信号，回波拍频用于估计距离单元</a:t>
            </a:r>
          </a:p>
        </p:txBody>
      </p:sp>
      <p:sp>
        <p:nvSpPr>
          <p:cNvPr id="13" name="圆角矩形 12">
            <a:extLst xmlns:a="http://schemas.openxmlformats.org/drawingml/2006/main">
              <a:ext uri="{FF2B5EF4-FFF2-40B4-BE49-F238E27FC236}">
                <a16:creationId xmlns:a16="http://schemas.microsoft.com/office/drawing/2014/main" id="{AC617E13-35E4-4C93-817F-42513BB37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381125"/>
            <a:ext cx="3095625" cy="2619375"/>
          </a:xfrm>
          <a:prstGeom xmlns:a="http://schemas.openxmlformats.org/drawingml/2006/main" prst="roundRect">
            <a:avLst>
              <a:gd name="adj" fmla="val 2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9D7E8"/>
            </a:solidFill>
            <a:prstDash val="solid"/>
          </a:ln>
        </p:spPr>
      </p:sp>
      <p:sp>
        <p:nvSpPr>
          <p:cNvPr id="14" name="椭圆 13">
            <a:extLst xmlns:a="http://schemas.openxmlformats.org/drawingml/2006/main">
              <a:ext uri="{FF2B5EF4-FFF2-40B4-BE49-F238E27FC236}">
                <a16:creationId xmlns:a16="http://schemas.microsoft.com/office/drawing/2014/main" id="{612A120C-CA39-4AB7-930F-91089C016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63830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D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68B8F506-EC15-411E-AFF4-E35410D60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1838325"/>
            <a:ext cx="838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E37762BD-A58C-4B55-8CD8-12DBA14FA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71462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7406D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7406D"/>
                </a:solidFill>
                <a:latin typeface="微软雅黑"/>
                <a:ea typeface="微软雅黑"/>
                <a:cs typeface="微软雅黑"/>
              </a:rPr>
              <a:t>相位微位移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4723002F-C410-4A30-9F22-3AA4F2191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200400"/>
            <a:ext cx="247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同一目标的斜距微小变化会引起回波相位变化</a:t>
            </a:r>
          </a:p>
        </p:txBody>
      </p:sp>
      <p:sp>
        <p:nvSpPr>
          <p:cNvPr id="18" name="圆角矩形 17">
            <a:extLst xmlns:a="http://schemas.openxmlformats.org/drawingml/2006/main">
              <a:ext uri="{FF2B5EF4-FFF2-40B4-BE49-F238E27FC236}">
                <a16:creationId xmlns:a16="http://schemas.microsoft.com/office/drawing/2014/main" id="{12FE3191-9BCA-4A14-ADE1-DD5CB5C36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381125"/>
            <a:ext cx="3095625" cy="2619375"/>
          </a:xfrm>
          <a:prstGeom xmlns:a="http://schemas.openxmlformats.org/drawingml/2006/main" prst="roundRect">
            <a:avLst>
              <a:gd name="adj" fmla="val 290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9D7E8"/>
            </a:solidFill>
            <a:prstDash val="solid"/>
          </a:ln>
        </p:spPr>
      </p:sp>
      <p:sp>
        <p:nvSpPr>
          <p:cNvPr id="19" name="椭圆 18">
            <a:extLst xmlns:a="http://schemas.openxmlformats.org/drawingml/2006/main">
              <a:ext uri="{FF2B5EF4-FFF2-40B4-BE49-F238E27FC236}">
                <a16:creationId xmlns:a16="http://schemas.microsoft.com/office/drawing/2014/main" id="{3A382F5B-5A6C-4D27-8229-A4E478723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63830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91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B7E00CB3-F133-45D4-9432-8FBC06B89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838325"/>
            <a:ext cx="838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2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F52400F9-8B23-4D31-9D38-2B9676A49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714625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7406D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7406D"/>
                </a:solidFill>
                <a:latin typeface="微软雅黑"/>
                <a:ea typeface="微软雅黑"/>
                <a:cs typeface="微软雅黑"/>
              </a:rPr>
              <a:t>相位缠绕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FD3B4464-4A90-4834-A891-503C3422F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200400"/>
            <a:ext cx="247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雷达输出主值相位存在周期限制，大位移需要解缠</a:t>
            </a:r>
          </a:p>
        </p:txBody>
      </p:sp>
      <p:sp>
        <p:nvSpPr>
          <p:cNvPr id="23" name="圆角矩形 22">
            <a:extLst xmlns:a="http://schemas.openxmlformats.org/drawingml/2006/main">
              <a:ext uri="{FF2B5EF4-FFF2-40B4-BE49-F238E27FC236}">
                <a16:creationId xmlns:a16="http://schemas.microsoft.com/office/drawing/2014/main" id="{1E328201-E622-40ED-B811-414AF3343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572000"/>
            <a:ext cx="803910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1740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6580C677-09FB-484C-AA59-39BAFA06A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752975"/>
            <a:ext cx="3714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EAF7FC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>
                <a:solidFill>
                  <a:srgbClr val="EAF7FC"/>
                </a:solidFill>
                <a:latin typeface="微软雅黑"/>
                <a:ea typeface="微软雅黑"/>
                <a:cs typeface="微软雅黑"/>
              </a:rPr>
              <a:t>77 GHz 波长约 3.9 mm，因此毫米级位移已经可能跨越多个相位周期。</a:t>
            </a:r>
          </a:p>
        </p:txBody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377bbfe42f4a2b"/>
          <a:stretch xmlns:a="http://schemas.openxmlformats.org/drawingml/2006/main"/>
        </p:blipFill>
        <p:spPr>
          <a:xfrm xmlns:a="http://schemas.openxmlformats.org/drawingml/2006/main">
            <a:off x="3521869" y="4686300"/>
            <a:ext cx="1100138" cy="4000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3286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05B6E0AB-55C6-4399-A070-F30B98AD1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0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70C3F5AF-7D18-4C2E-A6D7-34574BE03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D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1E4D3883-9C65-4FEE-A13D-A0A8F4760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406D"/>
                </a:solidFill>
                <a:latin typeface="黑体"/>
                <a:ea typeface="黑体"/>
                <a:cs typeface="黑体"/>
              </a:defRPr>
            </a:pPr>
            <a:r>
              <a:rPr sz="2700" b="1">
                <a:solidFill>
                  <a:srgbClr val="17406D"/>
                </a:solidFill>
                <a:latin typeface="黑体"/>
                <a:ea typeface="黑体"/>
                <a:cs typeface="黑体"/>
              </a:rPr>
              <a:t>ADC 到 Range-Angle Map：多目标参考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19B2E5B2-7690-414D-AF2F-2D960B15E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191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rPr>
              <a:t>基础原理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590EED5A-EB64-4BCE-AEFB-39D045334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008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9156118D-BF15-4481-883E-BBD8B1860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04875"/>
            <a:ext cx="10858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圆角矩形 7">
            <a:extLst xmlns:a="http://schemas.openxmlformats.org/drawingml/2006/main">
              <a:ext uri="{FF2B5EF4-FFF2-40B4-BE49-F238E27FC236}">
                <a16:creationId xmlns:a16="http://schemas.microsoft.com/office/drawing/2014/main" id="{FA2A1F42-4BF5-45C5-9B8F-80AD1B2AD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71625"/>
            <a:ext cx="1524000" cy="666750"/>
          </a:xfrm>
          <a:prstGeom xmlns:a="http://schemas.openxmlformats.org/drawingml/2006/main" prst="roundRect">
            <a:avLst>
              <a:gd name="adj" fmla="val 12857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13335">
            <a:solidFill>
              <a:srgbClr val="17406D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D93128E0-592A-49C4-B2B3-734BEBBFA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66875"/>
            <a:ext cx="133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ADC cube</a:t>
            </a:r>
          </a:p>
        </p:txBody>
      </p:sp>
      <p:sp>
        <p:nvSpPr>
          <p:cNvPr id="10" name="右箭头 9">
            <a:extLst xmlns:a="http://schemas.openxmlformats.org/drawingml/2006/main">
              <a:ext uri="{FF2B5EF4-FFF2-40B4-BE49-F238E27FC236}">
                <a16:creationId xmlns:a16="http://schemas.microsoft.com/office/drawing/2014/main" id="{EC4A194E-CC51-4424-83BE-49646C22B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1762125"/>
            <a:ext cx="4191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9D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圆角矩形 10">
            <a:extLst xmlns:a="http://schemas.openxmlformats.org/drawingml/2006/main">
              <a:ext uri="{FF2B5EF4-FFF2-40B4-BE49-F238E27FC236}">
                <a16:creationId xmlns:a16="http://schemas.microsoft.com/office/drawing/2014/main" id="{88E2CB4E-2D7D-432F-A5AB-90ABA6AA6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571625"/>
            <a:ext cx="1524000" cy="666750"/>
          </a:xfrm>
          <a:prstGeom xmlns:a="http://schemas.openxmlformats.org/drawingml/2006/main" prst="roundRect">
            <a:avLst>
              <a:gd name="adj" fmla="val 12857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13335">
            <a:solidFill>
              <a:srgbClr val="0F6FC6"/>
            </a:solidFill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4B134243-CB1E-452F-867D-617D2D4C8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666875"/>
            <a:ext cx="133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Range FFT</a:t>
            </a:r>
          </a:p>
        </p:txBody>
      </p:sp>
      <p:sp>
        <p:nvSpPr>
          <p:cNvPr id="13" name="右箭头 12">
            <a:extLst xmlns:a="http://schemas.openxmlformats.org/drawingml/2006/main">
              <a:ext uri="{FF2B5EF4-FFF2-40B4-BE49-F238E27FC236}">
                <a16:creationId xmlns:a16="http://schemas.microsoft.com/office/drawing/2014/main" id="{C7919DF4-23DE-46CE-B3B8-0CD211F10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762125"/>
            <a:ext cx="4191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9D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圆角矩形 13">
            <a:extLst xmlns:a="http://schemas.openxmlformats.org/drawingml/2006/main">
              <a:ext uri="{FF2B5EF4-FFF2-40B4-BE49-F238E27FC236}">
                <a16:creationId xmlns:a16="http://schemas.microsoft.com/office/drawing/2014/main" id="{0F5E7261-27FB-48F3-93EC-5A8EE0856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1571625"/>
            <a:ext cx="1524000" cy="666750"/>
          </a:xfrm>
          <a:prstGeom xmlns:a="http://schemas.openxmlformats.org/drawingml/2006/main" prst="roundRect">
            <a:avLst>
              <a:gd name="adj" fmla="val 12857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13335">
            <a:solidFill>
              <a:srgbClr val="0F6FC6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DD7610C1-6052-494E-ACD7-8859D8A75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1666875"/>
            <a:ext cx="133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Angle FFT / DBF</a:t>
            </a:r>
          </a:p>
        </p:txBody>
      </p:sp>
      <p:sp>
        <p:nvSpPr>
          <p:cNvPr id="16" name="右箭头 15">
            <a:extLst xmlns:a="http://schemas.openxmlformats.org/drawingml/2006/main">
              <a:ext uri="{FF2B5EF4-FFF2-40B4-BE49-F238E27FC236}">
                <a16:creationId xmlns:a16="http://schemas.microsoft.com/office/drawing/2014/main" id="{5F5BD222-ECDD-4DBB-A357-A79FD3B8E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762125"/>
            <a:ext cx="4191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9D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圆角矩形 16">
            <a:extLst xmlns:a="http://schemas.openxmlformats.org/drawingml/2006/main">
              <a:ext uri="{FF2B5EF4-FFF2-40B4-BE49-F238E27FC236}">
                <a16:creationId xmlns:a16="http://schemas.microsoft.com/office/drawing/2014/main" id="{A91824A3-6B29-4E61-9C61-017BBD51F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571625"/>
            <a:ext cx="1524000" cy="666750"/>
          </a:xfrm>
          <a:prstGeom xmlns:a="http://schemas.openxmlformats.org/drawingml/2006/main" prst="roundRect">
            <a:avLst>
              <a:gd name="adj" fmla="val 12857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13335">
            <a:solidFill>
              <a:srgbClr val="0F6FC6"/>
            </a:solidFill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0CE3E314-565C-4607-955C-73AF3E652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666875"/>
            <a:ext cx="1333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Range-Angle Map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FA112599-4D09-4DDE-8899-82C423931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09875"/>
            <a:ext cx="4381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spcAft>
                <a:spcPts val="10"/>
              </a:spcAft>
              <a:buNone/>
              <a:defRPr sz="1425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425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传统 range-bin 方法只保留距离维度，容易混合同距离不同角度散射体</a:t>
            </a:r>
          </a:p>
          <a:p xmlns:a="http://schemas.openxmlformats.org/drawingml/2006/main">
            <a:pPr marL="0" indent="0">
              <a:lnSpc>
                <a:spcPct val="115000"/>
              </a:lnSpc>
              <a:spcAft>
                <a:spcPts val="10"/>
              </a:spcAft>
              <a:buNone/>
              <a:defRPr sz="1425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425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Range-Angle Map 在距离和角度二维空间检测候选 target</a:t>
            </a:r>
          </a:p>
          <a:p xmlns:a="http://schemas.openxmlformats.org/drawingml/2006/main">
            <a:pPr marL="0" indent="0">
              <a:lnSpc>
                <a:spcPct val="115000"/>
              </a:lnSpc>
              <a:spcAft>
                <a:spcPts val="10"/>
              </a:spcAft>
              <a:buNone/>
              <a:defRPr sz="1425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425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后续 Kalman 接收的是筛选后的 target wrapped phase，而不是理想真值相位</a:t>
            </a:r>
          </a:p>
        </p:txBody>
      </p:sp>
      <p:sp>
        <p:nvSpPr>
          <p:cNvPr id="20" name="圆角矩形 19">
            <a:extLst xmlns:a="http://schemas.openxmlformats.org/drawingml/2006/main">
              <a:ext uri="{FF2B5EF4-FFF2-40B4-BE49-F238E27FC236}">
                <a16:creationId xmlns:a16="http://schemas.microsoft.com/office/drawing/2014/main" id="{AD5F36D5-14E8-415F-BD7B-C52D4EB89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331085"/>
            <a:ext cx="53340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8F2"/>
            </a:solidFill>
            <a:prstDash val="solid"/>
          </a:ln>
        </p:spPr>
      </p:sp>
      <p:pic>
        <p:nvPicPr>
          <p:cNvPr id="42" name="图片 4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e5131a2df74bd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43600" y="2636599"/>
            <a:ext cx="5067300" cy="3103721"/>
          </a:xfrm>
          <a:prstGeom xmlns:a="http://schemas.openxmlformats.org/drawingml/2006/main" prst="rect">
            <a:avLst/>
          </a:prstGeom>
        </p:spPr>
      </p:pic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817D56AC-7E2E-461E-BF12-733E6D65C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5721985"/>
            <a:ext cx="5048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67A8E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7A8E"/>
                </a:solidFill>
                <a:latin typeface="微软雅黑"/>
                <a:ea typeface="微软雅黑"/>
                <a:cs typeface="微软雅黑"/>
              </a:rPr>
              <a:t>示例：vehicle event 场景下的二维 Range-Angle Map 与候选 target</a:t>
            </a:r>
          </a:p>
        </p:txBody>
      </p:sp>
    </p:spTree>
    <p:extLst>
      <p:ext uri="{BB962C8B-B14F-4D97-AF65-F5344CB8AC3E}">
        <p14:creationId xmlns:p14="http://schemas.microsoft.com/office/powerpoint/2010/main" val="155588124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77A91C88-F5BD-43ED-92BE-E81841C8A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F"/>
          </a:solidFill>
          <a:ln xmlns:a="http://schemas.openxmlformats.org/drawingml/2006/main" w="0">
            <a:solidFill>
              <a:srgbClr val="F7FAFF"/>
            </a:solidFill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7AB7151F-1DC3-41B8-A73F-A79906505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4A86"/>
          </a:solidFill>
          <a:ln xmlns:a="http://schemas.openxmlformats.org/drawingml/2006/main" w="0">
            <a:solidFill>
              <a:srgbClr val="0E4A86"/>
            </a:solidFill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FD551424-F676-4A4F-80C6-BCF471240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A7D9"/>
          </a:solidFill>
          <a:ln xmlns:a="http://schemas.openxmlformats.org/drawingml/2006/main" w="0">
            <a:solidFill>
              <a:srgbClr val="7AA7D9"/>
            </a:solidFill>
            <a:prstDash val="solid"/>
          </a:ln>
        </p:spPr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4948E1AE-012F-4E52-956F-77E072AB9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0B2F5B"/>
                </a:solidFill>
              </a:defRPr>
            </a:pPr>
            <a:r>
              <a:rPr sz="2550" b="1">
                <a:solidFill>
                  <a:srgbClr val="0B2F5B"/>
                </a:solidFill>
              </a:rPr>
              <a:t>转换系数为何要在 Range-Angle target 上估计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AB02AA20-DEBE-4343-90FF-24DA197F8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191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350" b="1">
                <a:solidFill>
                  <a:srgbClr val="4B6380"/>
                </a:solidFill>
              </a:defRPr>
            </a:pPr>
            <a:r>
              <a:rPr sz="1350" b="1">
                <a:solidFill>
                  <a:srgbClr val="4B6380"/>
                </a:solidFill>
              </a:rPr>
              <a:t>前置理论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A4BE7F92-C828-42E0-B8A7-88106FAAA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008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1200">
                <a:solidFill>
                  <a:srgbClr val="6B7F99"/>
                </a:solidFill>
              </a:defRPr>
            </a:pPr>
            <a:r>
              <a:rPr sz="1200">
                <a:solidFill>
                  <a:srgbClr val="6B7F99"/>
                </a:solidFill>
              </a:rPr>
              <a:t>08</a:t>
            </a:r>
          </a:p>
        </p:txBody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8C0EB33B-F94E-426C-ABC3-7D7F98A0C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04875"/>
            <a:ext cx="10858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8EA"/>
          </a:solidFill>
          <a:ln xmlns:a="http://schemas.openxmlformats.org/drawingml/2006/main" w="0">
            <a:solidFill>
              <a:srgbClr val="C8D8E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2697AE-F02A-4C4B-9F35-E90CA2534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1620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40566F"/>
                </a:solidFill>
              </a:defRPr>
            </a:pPr>
            <a:r>
              <a:rPr sz="1425">
                <a:solidFill>
                  <a:srgbClr val="40566F"/>
                </a:solidFill>
              </a:rPr>
              <a:t>range bin 总相位可能由多个散射体叠加而成；直接拟合得到的转换系数可能只是混合等效系数。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FD550E-8961-41E0-8640-6EB76666B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33550"/>
            <a:ext cx="3286125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F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7A1187-1174-4D38-A393-30243E1EC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33550"/>
            <a:ext cx="6667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6FB8"/>
          </a:solidFill>
          <a:ln xmlns:a="http://schemas.openxmlformats.org/drawingml/2006/main" w="0">
            <a:solidFill>
              <a:srgbClr val="1D6FB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93C8A5-15B3-42BB-8BC7-A94ED1DED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24050"/>
            <a:ext cx="2790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E3A6D"/>
                </a:solidFill>
              </a:defRPr>
            </a:pPr>
            <a:r>
              <a:rPr sz="1575" b="1">
                <a:solidFill>
                  <a:srgbClr val="0E3A6D"/>
                </a:solidFill>
              </a:rPr>
              <a:t>1 复合散射响应</a:t>
            </a:r>
          </a:p>
        </p:txBody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1e3aecec1d4a3b"/>
          <a:stretch xmlns:a="http://schemas.openxmlformats.org/drawingml/2006/main"/>
        </p:blipFill>
        <p:spPr>
          <a:xfrm xmlns:a="http://schemas.openxmlformats.org/drawingml/2006/main">
            <a:off x="1009650" y="2475511"/>
            <a:ext cx="2762250" cy="478229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CBD7E4-364B-40F7-A8B0-B467656BC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14700"/>
            <a:ext cx="2619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63">
                <a:solidFill>
                  <a:srgbClr val="50627A"/>
                </a:solidFill>
              </a:defRPr>
            </a:pPr>
            <a:r>
              <a:rPr sz="1163">
                <a:solidFill>
                  <a:srgbClr val="50627A"/>
                </a:solidFill>
              </a:rPr>
              <a:t>同一观测单元内的多个散射体具有不同 LoS 投影系数 ηℓ，总相位不是单一物理点相位。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7BF82C-B5CA-4CDA-A6F1-BEDECA5CF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733550"/>
            <a:ext cx="3286125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E0F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A29873-D843-4B02-A8DA-1BD6D0BFD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733550"/>
            <a:ext cx="6667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F83"/>
          </a:solidFill>
          <a:ln xmlns:a="http://schemas.openxmlformats.org/drawingml/2006/main" w="0">
            <a:solidFill>
              <a:srgbClr val="2F8F8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601D0C-895E-494B-BB55-C218CE3D7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924050"/>
            <a:ext cx="2790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0E3A6D"/>
                </a:solidFill>
              </a:defRPr>
            </a:pPr>
            <a:r>
              <a:rPr sz="1575" b="1">
                <a:solidFill>
                  <a:srgbClr val="0E3A6D"/>
                </a:solidFill>
              </a:rPr>
              <a:t>2 稳定等效条件</a:t>
            </a:r>
          </a:p>
        </p:txBody>
      </p:sp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8c6ab1b9e3459e"/>
          <a:stretch xmlns:a="http://schemas.openxmlformats.org/drawingml/2006/main"/>
        </p:blipFill>
        <p:spPr>
          <a:xfrm xmlns:a="http://schemas.openxmlformats.org/drawingml/2006/main">
            <a:off x="4648200" y="2529799"/>
            <a:ext cx="2714625" cy="369651"/>
          </a:xfrm>
          <a:prstGeom xmlns:a="http://schemas.openxmlformats.org/drawingml/2006/main" prst="rect">
            <a:avLst/>
          </a:prstGeom>
        </p:spPr>
      </p:pic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FE94A0-A944-46C2-A378-51F0B45EF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314700"/>
            <a:ext cx="2619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63">
                <a:solidFill>
                  <a:srgbClr val="50627A"/>
                </a:solidFill>
              </a:defRPr>
            </a:pPr>
            <a:r>
              <a:rPr sz="1163">
                <a:solidFill>
                  <a:srgbClr val="50627A"/>
                </a:solidFill>
              </a:rPr>
              <a:t>角度接近或单一散射体占主导时，观测单元可以作为等效 target 使用，固定转换系数近似有效。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47C6AE4-C8C1-4CE1-AE80-752414115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71450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B2F5B"/>
                </a:solidFill>
              </a:defRPr>
            </a:pPr>
            <a:r>
              <a:rPr sz="1800" b="1">
                <a:solidFill>
                  <a:srgbClr val="0B2F5B"/>
                </a:solidFill>
              </a:rPr>
              <a:t>Range-Angle 处理规则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AD70F7-1DBA-4D75-9909-AE7949106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171700"/>
            <a:ext cx="31432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EF6FF"/>
          </a:solidFill>
          <a:ln xmlns:a="http://schemas.openxmlformats.org/drawingml/2006/main" w="9525">
            <a:solidFill>
              <a:srgbClr val="CAD8E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113DE6-D2F5-4AF4-BD44-3CB62A1CB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286000"/>
            <a:ext cx="2724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E3A6D"/>
                </a:solidFill>
              </a:defRPr>
            </a:pPr>
            <a:r>
              <a:rPr sz="1275" b="1">
                <a:solidFill>
                  <a:srgbClr val="0E3A6D"/>
                </a:solidFill>
              </a:rPr>
              <a:t>角度近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D7980C-4762-4EEF-A30B-37677CAC2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7175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50627A"/>
                </a:solidFill>
              </a:defRPr>
            </a:pPr>
            <a:r>
              <a:rPr sz="1125">
                <a:solidFill>
                  <a:srgbClr val="50627A"/>
                </a:solidFill>
              </a:rPr>
              <a:t>合并为一个等效 angle cluster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44C177-BA20-4C06-9C21-7074140CC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105150"/>
            <a:ext cx="31432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2FBF8"/>
          </a:solidFill>
          <a:ln xmlns:a="http://schemas.openxmlformats.org/drawingml/2006/main" w="9525">
            <a:solidFill>
              <a:srgbClr val="CAD8E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0C11B04-2416-456E-84BE-D6C205519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19450"/>
            <a:ext cx="2724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0E3A6D"/>
                </a:solidFill>
              </a:defRPr>
            </a:pPr>
            <a:r>
              <a:rPr sz="1275" b="1">
                <a:solidFill>
                  <a:srgbClr val="0E3A6D"/>
                </a:solidFill>
              </a:rPr>
              <a:t>角度远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F476A9D-C021-43A6-B258-A7AC50605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50520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50627A"/>
                </a:solidFill>
              </a:defRPr>
            </a:pPr>
            <a:r>
              <a:rPr sz="1125">
                <a:solidFill>
                  <a:srgbClr val="50627A"/>
                </a:solidFill>
              </a:rPr>
              <a:t>在 range-angle map 中拆开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8FC3B74-FEC5-4BEB-B5A8-734EED58C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038600"/>
            <a:ext cx="31432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CAD8E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0CECC2A-26B9-4DFE-B83E-FBCCE77B0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152900"/>
            <a:ext cx="27241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275" b="1">
                <a:solidFill>
                  <a:srgbClr val="8A4A0D"/>
                </a:solidFill>
              </a:defRPr>
            </a:pPr>
            <a:r>
              <a:rPr sz="1275" b="1">
                <a:solidFill>
                  <a:srgbClr val="8A4A0D"/>
                </a:solidFill>
              </a:rPr>
              <a:t>仍不稳定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B357FC8-149A-4E58-8047-6E991CC6D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43865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125">
                <a:solidFill>
                  <a:srgbClr val="50627A"/>
                </a:solidFill>
              </a:defRPr>
            </a:pPr>
            <a:r>
              <a:rPr sz="1125">
                <a:solidFill>
                  <a:srgbClr val="50627A"/>
                </a:solidFill>
              </a:rPr>
              <a:t>后续质量检查中降权或剔除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006C0E0-66CD-4904-AF9A-C40B6CA63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219700"/>
            <a:ext cx="942975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CD0E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E3787AD-E22B-4FEB-B83D-23D77451F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219700"/>
            <a:ext cx="76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4A86"/>
          </a:solidFill>
          <a:ln xmlns:a="http://schemas.openxmlformats.org/drawingml/2006/main" w="0">
            <a:solidFill>
              <a:srgbClr val="0E4A8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77BC517-339A-4CD7-9C10-350E8748B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7825" y="5410200"/>
            <a:ext cx="123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0B2F5B"/>
                </a:solidFill>
              </a:defRPr>
            </a:pPr>
            <a:r>
              <a:rPr sz="1500" b="1">
                <a:solidFill>
                  <a:srgbClr val="0B2F5B"/>
                </a:solidFill>
              </a:rPr>
              <a:t>推导结论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1138AD0-6D80-4623-A036-39E71D36D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353050"/>
            <a:ext cx="752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10233F"/>
                </a:solidFill>
              </a:defRPr>
            </a:pPr>
            <a:r>
              <a:rPr sz="1575">
                <a:solidFill>
                  <a:srgbClr val="10233F"/>
                </a:solidFill>
              </a:rPr>
              <a:t>转换系数不再直接作用于整个 range bin，而应作用于筛选后的 range-angle target。</a:t>
            </a:r>
          </a:p>
        </p:txBody>
      </p:sp>
    </p:spTree>
    <p:extLst>
      <p:ext uri="{BB962C8B-B14F-4D97-AF65-F5344CB8AC3E}">
        <p14:creationId xmlns:p14="http://schemas.microsoft.com/office/powerpoint/2010/main" val="36073179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2923AF75-592C-4579-8ADD-9B9E8E1E1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0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9678BFEA-772D-49FB-AB3F-3BBB1B32F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D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7F2DF585-9189-464F-9675-8713AC61A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406D"/>
                </a:solidFill>
                <a:latin typeface="黑体"/>
                <a:ea typeface="黑体"/>
                <a:cs typeface="黑体"/>
              </a:defRPr>
            </a:pPr>
            <a:r>
              <a:rPr sz="2700" b="1">
                <a:solidFill>
                  <a:srgbClr val="17406D"/>
                </a:solidFill>
                <a:latin typeface="黑体"/>
                <a:ea typeface="黑体"/>
                <a:cs typeface="黑体"/>
              </a:rPr>
              <a:t>为什么不能只用单 range bin 相位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34F9D191-A32B-4201-B82A-4F8A5C4BF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191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rPr>
              <a:t>问题动机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ECD2FCBA-9D43-4A76-9571-5D338F3A8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008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C85EA23A-A6FA-4B03-906D-1C66671B3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04875"/>
            <a:ext cx="10858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圆角矩形 7">
            <a:extLst xmlns:a="http://schemas.openxmlformats.org/drawingml/2006/main">
              <a:ext uri="{FF2B5EF4-FFF2-40B4-BE49-F238E27FC236}">
                <a16:creationId xmlns:a16="http://schemas.microsoft.com/office/drawing/2014/main" id="{3D21F34D-CDC8-4637-9FAA-A2B6D0D08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845945"/>
            <a:ext cx="4095750" cy="3476625"/>
          </a:xfrm>
          <a:prstGeom xmlns:a="http://schemas.openxmlformats.org/drawingml/2006/main" prst="roundRect">
            <a:avLst>
              <a:gd name="adj" fmla="val 2192"/>
            </a:avLst>
          </a:prstGeom>
          <a:solidFill xmlns:a="http://schemas.openxmlformats.org/drawingml/2006/main">
            <a:srgbClr val="F7FBFE"/>
          </a:solidFill>
          <a:ln xmlns:a="http://schemas.openxmlformats.org/drawingml/2006/main" w="11430">
            <a:solidFill>
              <a:srgbClr val="B9D7E8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DA6DB3C0-2ED4-4146-9B5D-67C9DE5D1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112645"/>
            <a:ext cx="3524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7406D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7406D"/>
                </a:solidFill>
                <a:latin typeface="微软雅黑"/>
                <a:ea typeface="微软雅黑"/>
                <a:cs typeface="微软雅黑"/>
              </a:rPr>
              <a:t>同一 range bin 内的相干混合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AC7CF1F6-77EB-444D-B5CA-E942ADAB5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636520"/>
            <a:ext cx="2857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FF9"/>
          </a:solidFill>
          <a:ln xmlns:a="http://schemas.openxmlformats.org/drawingml/2006/main" w="11430">
            <a:solidFill>
              <a:srgbClr val="0F6FC6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9EBBFBF6-DB25-459F-80FD-DBE097031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73177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7406D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7406D"/>
                </a:solidFill>
                <a:latin typeface="微软雅黑"/>
                <a:ea typeface="微软雅黑"/>
                <a:cs typeface="微软雅黑"/>
              </a:rPr>
              <a:t>range bin 12</a:t>
            </a:r>
          </a:p>
        </p:txBody>
      </p:sp>
      <p:sp>
        <p:nvSpPr>
          <p:cNvPr id="12" name="椭圆 11">
            <a:extLst xmlns:a="http://schemas.openxmlformats.org/drawingml/2006/main">
              <a:ext uri="{FF2B5EF4-FFF2-40B4-BE49-F238E27FC236}">
                <a16:creationId xmlns:a16="http://schemas.microsoft.com/office/drawing/2014/main" id="{59A9B072-C58F-49D2-A746-EA923E23E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717925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6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AE97FF93-81BE-4EC0-93E9-567D8F067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88937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0°</a:t>
            </a:r>
          </a:p>
        </p:txBody>
      </p:sp>
      <p:sp>
        <p:nvSpPr>
          <p:cNvPr id="14" name="右箭头 13">
            <a:extLst xmlns:a="http://schemas.openxmlformats.org/drawingml/2006/main">
              <a:ext uri="{FF2B5EF4-FFF2-40B4-BE49-F238E27FC236}">
                <a16:creationId xmlns:a16="http://schemas.microsoft.com/office/drawing/2014/main" id="{F3B51B9F-4242-4868-8C52-12F932216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380105"/>
            <a:ext cx="209550" cy="22796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BCF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椭圆 14">
            <a:extLst xmlns:a="http://schemas.openxmlformats.org/drawingml/2006/main">
              <a:ext uri="{FF2B5EF4-FFF2-40B4-BE49-F238E27FC236}">
                <a16:creationId xmlns:a16="http://schemas.microsoft.com/office/drawing/2014/main" id="{5CF59CF2-30BB-4760-92A7-95358FCE3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739515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D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7E13F5E0-C9ED-4256-A950-ABE6388A9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91096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25°</a:t>
            </a:r>
          </a:p>
        </p:txBody>
      </p:sp>
      <p:sp>
        <p:nvSpPr>
          <p:cNvPr id="17" name="右箭头 16">
            <a:extLst xmlns:a="http://schemas.openxmlformats.org/drawingml/2006/main">
              <a:ext uri="{FF2B5EF4-FFF2-40B4-BE49-F238E27FC236}">
                <a16:creationId xmlns:a16="http://schemas.microsoft.com/office/drawing/2014/main" id="{80FE0118-CDD7-49C2-8DE5-DB1C2CDAA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3364865"/>
            <a:ext cx="2095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BCF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椭圆 17">
            <a:extLst xmlns:a="http://schemas.openxmlformats.org/drawingml/2006/main">
              <a:ext uri="{FF2B5EF4-FFF2-40B4-BE49-F238E27FC236}">
                <a16:creationId xmlns:a16="http://schemas.microsoft.com/office/drawing/2014/main" id="{3189F315-DECF-4C06-8B97-2CF95727C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717925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CF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E6248772-3DD9-410C-B91B-0154416A4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889375"/>
            <a:ext cx="609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45°</a:t>
            </a:r>
          </a:p>
        </p:txBody>
      </p:sp>
      <p:sp>
        <p:nvSpPr>
          <p:cNvPr id="20" name="右箭头 19">
            <a:extLst xmlns:a="http://schemas.openxmlformats.org/drawingml/2006/main">
              <a:ext uri="{FF2B5EF4-FFF2-40B4-BE49-F238E27FC236}">
                <a16:creationId xmlns:a16="http://schemas.microsoft.com/office/drawing/2014/main" id="{3A3684FE-1BA1-4F23-A1FC-20171CF7B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1565" y="3357880"/>
            <a:ext cx="209550" cy="26606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BCFE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886094A2-408B-4CA6-9AA2-33B84AC18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540885"/>
            <a:ext cx="3524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单 bin 复数相位来自多个 LoS 投影相位的相干叠加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3D7B99C6-B528-4EF1-93AC-C57F97A3D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287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7406D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7406D"/>
                </a:solidFill>
                <a:latin typeface="微软雅黑"/>
                <a:ea typeface="微软雅黑"/>
                <a:cs typeface="微软雅黑"/>
              </a:rPr>
              <a:t>带来的后果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5F365611-5504-4659-8052-58B6DF9E4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19300"/>
            <a:ext cx="433387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spcAft>
                <a:spcPts val="10"/>
              </a:spcAft>
              <a:buNone/>
              <a:defRPr sz="1575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575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最强 range bin 不一定对应稳定物理 target</a:t>
            </a:r>
          </a:p>
          <a:p xmlns:a="http://schemas.openxmlformats.org/drawingml/2006/main">
            <a:pPr marL="0" indent="0">
              <a:lnSpc>
                <a:spcPct val="115000"/>
              </a:lnSpc>
              <a:spcAft>
                <a:spcPts val="10"/>
              </a:spcAft>
              <a:buNone/>
              <a:defRPr sz="1575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575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同距离不同角度目标会形成 pseudo target</a:t>
            </a:r>
          </a:p>
          <a:p xmlns:a="http://schemas.openxmlformats.org/drawingml/2006/main">
            <a:pPr marL="0" indent="0">
              <a:lnSpc>
                <a:spcPct val="115000"/>
              </a:lnSpc>
              <a:spcAft>
                <a:spcPts val="10"/>
              </a:spcAft>
              <a:buNone/>
              <a:defRPr sz="1575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575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等效转换系数随散射状态漂移</a:t>
            </a:r>
          </a:p>
          <a:p xmlns:a="http://schemas.openxmlformats.org/drawingml/2006/main">
            <a:pPr marL="0" indent="0">
              <a:lnSpc>
                <a:spcPct val="115000"/>
              </a:lnSpc>
              <a:spcAft>
                <a:spcPts val="10"/>
              </a:spcAft>
              <a:buNone/>
              <a:defRPr sz="1575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575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强 wrapping 或 target 退化时误差被放大</a:t>
            </a:r>
          </a:p>
        </p:txBody>
      </p:sp>
      <p:sp>
        <p:nvSpPr>
          <p:cNvPr id="24" name="圆角矩形 23">
            <a:extLst xmlns:a="http://schemas.openxmlformats.org/drawingml/2006/main">
              <a:ext uri="{FF2B5EF4-FFF2-40B4-BE49-F238E27FC236}">
                <a16:creationId xmlns:a16="http://schemas.microsoft.com/office/drawing/2014/main" id="{2805AD49-A998-43DA-BE66-9659D7587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60800"/>
            <a:ext cx="4333875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7FBFE"/>
          </a:solidFill>
          <a:ln xmlns:a="http://schemas.openxmlformats.org/drawingml/2006/main" w="15240">
            <a:solidFill>
              <a:srgbClr val="0F6FC6"/>
            </a:solidFill>
            <a:prstDash val="solid"/>
          </a:ln>
        </p:spPr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2849EEAE-3D06-4FF2-8D32-CAC16D0BB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60800"/>
            <a:ext cx="76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288C0D37-E137-4E96-A45A-154C73377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932555"/>
            <a:ext cx="40290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因此本文先在 Range-Angle 维度分离 target，再进入结构主相位融合。</a:t>
            </a:r>
          </a:p>
        </p:txBody>
      </p:sp>
    </p:spTree>
    <p:extLst>
      <p:ext uri="{BB962C8B-B14F-4D97-AF65-F5344CB8AC3E}">
        <p14:creationId xmlns:p14="http://schemas.microsoft.com/office/powerpoint/2010/main" val="36755525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7CAC0CD2-9279-46D0-B4E9-B498AA666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0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3D55E595-AFF0-4B54-BE9A-44FDDFB8B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D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DB7AED06-E966-458C-811E-921B2B319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406D"/>
                </a:solidFill>
                <a:latin typeface="黑体"/>
                <a:ea typeface="黑体"/>
                <a:cs typeface="黑体"/>
              </a:defRPr>
            </a:pPr>
            <a:r>
              <a:rPr sz="2700" b="1">
                <a:solidFill>
                  <a:srgbClr val="17406D"/>
                </a:solidFill>
                <a:latin typeface="黑体"/>
                <a:ea typeface="黑体"/>
                <a:cs typeface="黑体"/>
              </a:rPr>
              <a:t>创新点 1：Range-Angle 多目标提取与筛选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B221F16C-1FFC-4A97-98DB-298C8711B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191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rPr>
              <a:t>本文方法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77986E02-B2C6-469A-85EB-B6FA7CFE7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008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rPr>
              <a:t>10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2DBA299F-F03F-4BF1-A6AA-457C59DCA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04875"/>
            <a:ext cx="10858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圆角矩形 7">
            <a:extLst xmlns:a="http://schemas.openxmlformats.org/drawingml/2006/main">
              <a:ext uri="{FF2B5EF4-FFF2-40B4-BE49-F238E27FC236}">
                <a16:creationId xmlns:a16="http://schemas.microsoft.com/office/drawing/2014/main" id="{326D87AB-F759-4136-B6D6-9047D8823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1428750" cy="666750"/>
          </a:xfrm>
          <a:prstGeom xmlns:a="http://schemas.openxmlformats.org/drawingml/2006/main" prst="roundRect">
            <a:avLst>
              <a:gd name="adj" fmla="val 12857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13335">
            <a:solidFill>
              <a:srgbClr val="0F6FC6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7419CEAD-276A-413C-BD8B-B90A1F1B1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123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2D peak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检测</a:t>
            </a:r>
          </a:p>
        </p:txBody>
      </p:sp>
      <p:sp>
        <p:nvSpPr>
          <p:cNvPr id="10" name="右箭头 9">
            <a:extLst xmlns:a="http://schemas.openxmlformats.org/drawingml/2006/main">
              <a:ext uri="{FF2B5EF4-FFF2-40B4-BE49-F238E27FC236}">
                <a16:creationId xmlns:a16="http://schemas.microsoft.com/office/drawing/2014/main" id="{6A89ED5D-D625-4C89-ACD9-2D069E21F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1638300"/>
            <a:ext cx="428625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9D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圆角矩形 10">
            <a:extLst xmlns:a="http://schemas.openxmlformats.org/drawingml/2006/main">
              <a:ext uri="{FF2B5EF4-FFF2-40B4-BE49-F238E27FC236}">
                <a16:creationId xmlns:a16="http://schemas.microsoft.com/office/drawing/2014/main" id="{7084D2CE-D809-42FF-8B11-6731E4FE6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1428750"/>
            <a:ext cx="1428750" cy="666750"/>
          </a:xfrm>
          <a:prstGeom xmlns:a="http://schemas.openxmlformats.org/drawingml/2006/main" prst="roundRect">
            <a:avLst>
              <a:gd name="adj" fmla="val 12857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13335">
            <a:solidFill>
              <a:srgbClr val="0F6FC6"/>
            </a:solidFill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0BC8E6AB-7A4E-45A2-893E-24CF7951A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1524000"/>
            <a:ext cx="123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近角度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合并</a:t>
            </a:r>
          </a:p>
        </p:txBody>
      </p:sp>
      <p:sp>
        <p:nvSpPr>
          <p:cNvPr id="13" name="右箭头 12">
            <a:extLst xmlns:a="http://schemas.openxmlformats.org/drawingml/2006/main">
              <a:ext uri="{FF2B5EF4-FFF2-40B4-BE49-F238E27FC236}">
                <a16:creationId xmlns:a16="http://schemas.microsoft.com/office/drawing/2014/main" id="{F51B4624-D861-4692-8C90-63CE3606D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1638300"/>
            <a:ext cx="428625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9D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圆角矩形 13">
            <a:extLst xmlns:a="http://schemas.openxmlformats.org/drawingml/2006/main">
              <a:ext uri="{FF2B5EF4-FFF2-40B4-BE49-F238E27FC236}">
                <a16:creationId xmlns:a16="http://schemas.microsoft.com/office/drawing/2014/main" id="{73DF42FE-1357-425D-94A6-61A6407DE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428750"/>
            <a:ext cx="1428750" cy="666750"/>
          </a:xfrm>
          <a:prstGeom xmlns:a="http://schemas.openxmlformats.org/drawingml/2006/main" prst="roundRect">
            <a:avLst>
              <a:gd name="adj" fmla="val 12857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13335">
            <a:solidFill>
              <a:srgbClr val="0F6FC6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FBC2DBF3-1D0E-4E02-A98A-5A79A9559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1524000"/>
            <a:ext cx="123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远角度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分离</a:t>
            </a:r>
          </a:p>
        </p:txBody>
      </p:sp>
      <p:sp>
        <p:nvSpPr>
          <p:cNvPr id="16" name="右箭头 15">
            <a:extLst xmlns:a="http://schemas.openxmlformats.org/drawingml/2006/main">
              <a:ext uri="{FF2B5EF4-FFF2-40B4-BE49-F238E27FC236}">
                <a16:creationId xmlns:a16="http://schemas.microsoft.com/office/drawing/2014/main" id="{8C8B8034-7AB8-4000-8CC7-CFCBAD413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38300"/>
            <a:ext cx="428625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9D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圆角矩形 16">
            <a:extLst xmlns:a="http://schemas.openxmlformats.org/drawingml/2006/main">
              <a:ext uri="{FF2B5EF4-FFF2-40B4-BE49-F238E27FC236}">
                <a16:creationId xmlns:a16="http://schemas.microsoft.com/office/drawing/2014/main" id="{9559EA22-9D6A-432F-9CDC-9CEEA8599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428750"/>
            <a:ext cx="1428750" cy="666750"/>
          </a:xfrm>
          <a:prstGeom xmlns:a="http://schemas.openxmlformats.org/drawingml/2006/main" prst="roundRect">
            <a:avLst>
              <a:gd name="adj" fmla="val 12857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13335">
            <a:solidFill>
              <a:srgbClr val="0F6FC6"/>
            </a:solidFill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E692F0B4-1E20-4F04-B2C7-239762C75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524000"/>
            <a:ext cx="123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presence / SNR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频带筛选</a:t>
            </a:r>
          </a:p>
        </p:txBody>
      </p:sp>
      <p:sp>
        <p:nvSpPr>
          <p:cNvPr id="19" name="右箭头 18">
            <a:extLst xmlns:a="http://schemas.openxmlformats.org/drawingml/2006/main">
              <a:ext uri="{FF2B5EF4-FFF2-40B4-BE49-F238E27FC236}">
                <a16:creationId xmlns:a16="http://schemas.microsoft.com/office/drawing/2014/main" id="{FB3A1F93-358E-49B9-BB62-736FF2A2A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1638300"/>
            <a:ext cx="428625" cy="2476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9D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圆角矩形 19">
            <a:extLst xmlns:a="http://schemas.openxmlformats.org/drawingml/2006/main">
              <a:ext uri="{FF2B5EF4-FFF2-40B4-BE49-F238E27FC236}">
                <a16:creationId xmlns:a16="http://schemas.microsoft.com/office/drawing/2014/main" id="{A1ADE233-F6F7-4C0D-875C-0EC4FEB8D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428750"/>
            <a:ext cx="1428750" cy="666750"/>
          </a:xfrm>
          <a:prstGeom xmlns:a="http://schemas.openxmlformats.org/drawingml/2006/main" prst="roundRect">
            <a:avLst>
              <a:gd name="adj" fmla="val 12857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13335">
            <a:solidFill>
              <a:srgbClr val="10CF9B"/>
            </a:solidFill>
            <a:prstDash val="solid"/>
          </a:ln>
        </p:spPr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F24E893E-4F96-4F5C-83EF-DB7F80B63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524000"/>
            <a:ext cx="1238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selected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targets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BA3B6150-49C3-4FD0-931B-9AAA68F21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476500"/>
            <a:ext cx="428625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spcAft>
                <a:spcPts val="10"/>
              </a:spcAft>
              <a:buNone/>
              <a:defRPr sz="1425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425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同 range bin 且角度接近的 peak 合并为等效 target</a:t>
            </a:r>
          </a:p>
          <a:p xmlns:a="http://schemas.openxmlformats.org/drawingml/2006/main">
            <a:pPr marL="0" indent="0">
              <a:lnSpc>
                <a:spcPct val="115000"/>
              </a:lnSpc>
              <a:spcAft>
                <a:spcPts val="10"/>
              </a:spcAft>
              <a:buNone/>
              <a:defRPr sz="1425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425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同 range bin 但角度差较大的 peak 保留为不同 target</a:t>
            </a:r>
          </a:p>
          <a:p xmlns:a="http://schemas.openxmlformats.org/drawingml/2006/main">
            <a:pPr marL="0" indent="0">
              <a:lnSpc>
                <a:spcPct val="115000"/>
              </a:lnSpc>
              <a:spcAft>
                <a:spcPts val="10"/>
              </a:spcAft>
              <a:buNone/>
              <a:defRPr sz="1425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425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通过 presence、SNR 与结构频带一致性剔除不稳定 target</a:t>
            </a:r>
          </a:p>
        </p:txBody>
      </p:sp>
      <p:sp>
        <p:nvSpPr>
          <p:cNvPr id="23" name="圆角矩形 22">
            <a:extLst xmlns:a="http://schemas.openxmlformats.org/drawingml/2006/main">
              <a:ext uri="{FF2B5EF4-FFF2-40B4-BE49-F238E27FC236}">
                <a16:creationId xmlns:a16="http://schemas.microsoft.com/office/drawing/2014/main" id="{80436D4B-0210-4A21-B68F-BD4CA1A59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476500"/>
            <a:ext cx="5524500" cy="2667000"/>
          </a:xfrm>
          <a:prstGeom xmlns:a="http://schemas.openxmlformats.org/drawingml/2006/main" prst="roundRect">
            <a:avLst>
              <a:gd name="adj" fmla="val 2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8F2"/>
            </a:solidFill>
            <a:prstDash val="solid"/>
          </a:ln>
        </p:spPr>
      </p:sp>
      <p:pic>
        <p:nvPicPr>
          <p:cNvPr id="51" name="图片 5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adc1ab0d6640b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17708" y="2619375"/>
            <a:ext cx="4233333" cy="2381250"/>
          </a:xfrm>
          <a:prstGeom xmlns:a="http://schemas.openxmlformats.org/drawingml/2006/main" prst="rect">
            <a:avLst/>
          </a:prstGeom>
        </p:spPr>
      </p:pic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C5F37402-3C62-4261-B632-F84C10400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219700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67A8E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7A8E"/>
                </a:solidFill>
                <a:latin typeface="微软雅黑"/>
                <a:ea typeface="微软雅黑"/>
                <a:cs typeface="微软雅黑"/>
              </a:rPr>
              <a:t>车辆事件场景：候选 target 的在线选择状态</a:t>
            </a:r>
          </a:p>
        </p:txBody>
      </p:sp>
      <p:sp>
        <p:nvSpPr>
          <p:cNvPr id="25" name="圆角矩形 24">
            <a:extLst xmlns:a="http://schemas.openxmlformats.org/drawingml/2006/main">
              <a:ext uri="{FF2B5EF4-FFF2-40B4-BE49-F238E27FC236}">
                <a16:creationId xmlns:a16="http://schemas.microsoft.com/office/drawing/2014/main" id="{5CA1ABFD-DA5C-4DFF-AD3B-244FA4D45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572125"/>
            <a:ext cx="90487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7FBFE"/>
          </a:solidFill>
          <a:ln xmlns:a="http://schemas.openxmlformats.org/drawingml/2006/main" w="15240">
            <a:solidFill>
              <a:srgbClr val="009DD9"/>
            </a:solidFill>
            <a:prstDash val="solid"/>
          </a:ln>
        </p:spPr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6210150E-FE77-4C9F-AECD-6B0B7F0DC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5721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D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FBFFD2DA-B1D3-491A-B95C-8A8605DDA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705475"/>
            <a:ext cx="874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目标筛选</a:t>
            </a:r>
            <a:r>
              <a:rPr sz="142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目的</a:t>
            </a:r>
            <a:r>
              <a:rPr sz="142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是</a:t>
            </a:r>
            <a:r>
              <a:rPr sz="142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过滤掉</a:t>
            </a:r>
            <a:r>
              <a:rPr sz="142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坏 target </a:t>
            </a:r>
            <a:r>
              <a:rPr sz="142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防止进入</a:t>
            </a:r>
            <a:r>
              <a:t> Kalman </a:t>
            </a:r>
            <a:r>
              <a:t>滤波框架，</a:t>
            </a:r>
            <a:r>
              <a:rPr sz="142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污染主状态。</a:t>
            </a:r>
          </a:p>
        </p:txBody>
      </p:sp>
    </p:spTree>
    <p:extLst>
      <p:ext uri="{BB962C8B-B14F-4D97-AF65-F5344CB8AC3E}">
        <p14:creationId xmlns:p14="http://schemas.microsoft.com/office/powerpoint/2010/main" val="151482488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E69F3B0A-5A12-4A17-B736-31F838909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0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9BFFCA7A-FB39-4326-9B5C-C41D3CE52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D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14D3AC6F-553B-4134-995B-163D54375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406D"/>
                </a:solidFill>
                <a:latin typeface="黑体"/>
                <a:ea typeface="黑体"/>
                <a:cs typeface="黑体"/>
              </a:defRPr>
            </a:pPr>
            <a:r>
              <a:rPr sz="2700" b="1">
                <a:solidFill>
                  <a:srgbClr val="17406D"/>
                </a:solidFill>
                <a:latin typeface="黑体"/>
                <a:ea typeface="黑体"/>
                <a:cs typeface="黑体"/>
              </a:rPr>
              <a:t>从单目标 LoS 相位到结构主相位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E9759B17-9C21-441B-AF2B-916A696CC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191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rPr>
              <a:t>本文方法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C51DA25C-18FC-477A-9644-68A9D65A1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008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rPr>
              <a:t>11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D26586F1-1485-4914-9D3F-84A3B481B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04875"/>
            <a:ext cx="10858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圆角矩形 7">
            <a:extLst xmlns:a="http://schemas.openxmlformats.org/drawingml/2006/main">
              <a:ext uri="{FF2B5EF4-FFF2-40B4-BE49-F238E27FC236}">
                <a16:creationId xmlns:a16="http://schemas.microsoft.com/office/drawing/2014/main" id="{C5D64E23-E697-4FF6-BA8C-08B238A98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476375"/>
            <a:ext cx="4476750" cy="3381375"/>
          </a:xfrm>
          <a:prstGeom xmlns:a="http://schemas.openxmlformats.org/drawingml/2006/main" prst="roundRect">
            <a:avLst>
              <a:gd name="adj" fmla="val 2254"/>
            </a:avLst>
          </a:prstGeom>
          <a:solidFill xmlns:a="http://schemas.openxmlformats.org/drawingml/2006/main">
            <a:srgbClr val="F8FBFD"/>
          </a:solidFill>
          <a:ln xmlns:a="http://schemas.openxmlformats.org/drawingml/2006/main" w="11430">
            <a:solidFill>
              <a:srgbClr val="B9D7E8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3A065CF9-81EC-42AC-A354-3A553CE8E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762125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7406D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7406D"/>
                </a:solidFill>
                <a:latin typeface="微软雅黑"/>
                <a:ea typeface="微软雅黑"/>
                <a:cs typeface="微软雅黑"/>
              </a:rPr>
              <a:t>Ma-family baseline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7A062CCD-1204-4311-884E-92D419A6E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238500"/>
            <a:ext cx="3429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spcAft>
                <a:spcPts val="10"/>
              </a:spcAft>
              <a:buNone/>
              <a:defRPr sz="135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35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状态表示单个 target 的 LoS 连续相位</a:t>
            </a:r>
          </a:p>
          <a:p xmlns:a="http://schemas.openxmlformats.org/drawingml/2006/main">
            <a:pPr marL="0" indent="0">
              <a:lnSpc>
                <a:spcPct val="115000"/>
              </a:lnSpc>
              <a:spcAft>
                <a:spcPts val="10"/>
              </a:spcAft>
              <a:buNone/>
              <a:defRPr sz="135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35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加速度需要映射到该 target 的 LoS 方向</a:t>
            </a:r>
          </a:p>
          <a:p xmlns:a="http://schemas.openxmlformats.org/drawingml/2006/main">
            <a:pPr marL="0" indent="0">
              <a:lnSpc>
                <a:spcPct val="115000"/>
              </a:lnSpc>
              <a:spcAft>
                <a:spcPts val="10"/>
              </a:spcAft>
              <a:buNone/>
              <a:defRPr sz="135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35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多 target 需要围绕某一个目标状态组织</a:t>
            </a:r>
          </a:p>
        </p:txBody>
      </p:sp>
      <p:sp>
        <p:nvSpPr>
          <p:cNvPr id="12" name="圆角矩形 11">
            <a:extLst xmlns:a="http://schemas.openxmlformats.org/drawingml/2006/main">
              <a:ext uri="{FF2B5EF4-FFF2-40B4-BE49-F238E27FC236}">
                <a16:creationId xmlns:a16="http://schemas.microsoft.com/office/drawing/2014/main" id="{761232BF-8C83-4204-96FD-0C4927760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476375"/>
            <a:ext cx="4476750" cy="3381375"/>
          </a:xfrm>
          <a:prstGeom xmlns:a="http://schemas.openxmlformats.org/drawingml/2006/main" prst="roundRect">
            <a:avLst>
              <a:gd name="adj" fmla="val 2254"/>
            </a:avLst>
          </a:prstGeom>
          <a:solidFill xmlns:a="http://schemas.openxmlformats.org/drawingml/2006/main">
            <a:srgbClr val="F3FAFE"/>
          </a:solidFill>
          <a:ln xmlns:a="http://schemas.openxmlformats.org/drawingml/2006/main" w="13335">
            <a:solidFill>
              <a:srgbClr val="009DD9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80D4E7D0-7E40-455A-80F5-FE2F41946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762125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17406D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7406D"/>
                </a:solidFill>
                <a:latin typeface="微软雅黑"/>
                <a:ea typeface="微软雅黑"/>
                <a:cs typeface="微软雅黑"/>
              </a:rPr>
              <a:t>本文方法</a:t>
            </a:r>
          </a:p>
        </p:txBody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B2389664-4ECF-49F9-AD8D-B1D04C2BA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238500"/>
            <a:ext cx="3429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spcAft>
                <a:spcPts val="10"/>
              </a:spcAft>
              <a:buNone/>
              <a:defRPr sz="135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35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状态表示结构主振动方向连续相位</a:t>
            </a:r>
          </a:p>
          <a:p xmlns:a="http://schemas.openxmlformats.org/drawingml/2006/main">
            <a:pPr marL="0" indent="0">
              <a:lnSpc>
                <a:spcPct val="115000"/>
              </a:lnSpc>
              <a:spcAft>
                <a:spcPts val="10"/>
              </a:spcAft>
              <a:buNone/>
              <a:defRPr sz="135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35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加速度直接预测结构主相位</a:t>
            </a:r>
          </a:p>
          <a:p xmlns:a="http://schemas.openxmlformats.org/drawingml/2006/main">
            <a:pPr marL="0" indent="0">
              <a:lnSpc>
                <a:spcPct val="115000"/>
              </a:lnSpc>
              <a:spcAft>
                <a:spcPts val="10"/>
              </a:spcAft>
              <a:buNone/>
              <a:defRPr sz="135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35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各 target 差异进入观测矩阵 H</a:t>
            </a:r>
          </a:p>
        </p:txBody>
      </p:sp>
      <p:sp>
        <p:nvSpPr>
          <p:cNvPr id="16" name="右箭头 15">
            <a:extLst xmlns:a="http://schemas.openxmlformats.org/drawingml/2006/main">
              <a:ext uri="{FF2B5EF4-FFF2-40B4-BE49-F238E27FC236}">
                <a16:creationId xmlns:a16="http://schemas.microsoft.com/office/drawing/2014/main" id="{37459A78-2124-41A6-8956-CFD10C90A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762250"/>
            <a:ext cx="1000125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491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9D715E96-E780-40DB-A7B0-473AAD9B1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28612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49100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49100"/>
                </a:solidFill>
                <a:latin typeface="微软雅黑"/>
                <a:ea typeface="微软雅黑"/>
                <a:cs typeface="微软雅黑"/>
              </a:rPr>
              <a:t>状态物理含义提升</a:t>
            </a:r>
          </a:p>
        </p:txBody>
      </p:sp>
      <p:sp>
        <p:nvSpPr>
          <p:cNvPr id="18" name="圆角矩形 17">
            <a:extLst xmlns:a="http://schemas.openxmlformats.org/drawingml/2006/main">
              <a:ext uri="{FF2B5EF4-FFF2-40B4-BE49-F238E27FC236}">
                <a16:creationId xmlns:a16="http://schemas.microsoft.com/office/drawing/2014/main" id="{45738D48-4711-4E5F-B580-99B8D354C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572125"/>
            <a:ext cx="8572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7FBFE"/>
          </a:solidFill>
          <a:ln xmlns:a="http://schemas.openxmlformats.org/drawingml/2006/main" w="15240">
            <a:solidFill>
              <a:srgbClr val="0F6FC6"/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80867868-3517-471F-8D71-CDAFA027E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5721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51433CC1-02F3-495B-9086-E17CC049C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705475"/>
            <a:ext cx="8267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关键转变：状态不再依附某个单一 target，而是表示所有 target 共同观测的结构主相位。</a:t>
            </a:r>
          </a:p>
        </p:txBody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d972ef437b4f02"/>
          <a:stretch xmlns:a="http://schemas.openxmlformats.org/drawingml/2006/main"/>
        </p:blipFill>
        <p:spPr>
          <a:xfrm xmlns:a="http://schemas.openxmlformats.org/drawingml/2006/main">
            <a:off x="1740161" y="2400300"/>
            <a:ext cx="2663304" cy="552450"/>
          </a:xfrm>
          <a:prstGeom xmlns:a="http://schemas.openxmlformats.org/drawingml/2006/main" prst="rect">
            <a:avLst/>
          </a:prstGeom>
        </p:spPr>
      </p:pic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11a218fa904ea6"/>
          <a:stretch xmlns:a="http://schemas.openxmlformats.org/drawingml/2006/main"/>
        </p:blipFill>
        <p:spPr>
          <a:xfrm xmlns:a="http://schemas.openxmlformats.org/drawingml/2006/main">
            <a:off x="8010105" y="2400300"/>
            <a:ext cx="2315415" cy="5524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255046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EC645D0B-5AE9-42EB-9BDB-280358F61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0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AB2291D0-FA8F-4F20-9924-D65FA5FBC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D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15CA23BB-9057-49A4-B8BA-E71B6FA08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406D"/>
                </a:solidFill>
                <a:latin typeface="黑体"/>
                <a:ea typeface="黑体"/>
                <a:cs typeface="黑体"/>
              </a:defRPr>
            </a:pPr>
            <a:r>
              <a:rPr sz="2700" b="1">
                <a:solidFill>
                  <a:srgbClr val="17406D"/>
                </a:solidFill>
                <a:latin typeface="黑体"/>
                <a:ea typeface="黑体"/>
                <a:cs typeface="黑体"/>
              </a:rPr>
              <a:t>创新点 2：结构主相位多目标 Kalman 融合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BB7C1450-EA8F-4455-8034-58D622AEB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191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rPr>
              <a:t>本文方法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755E245B-3F7E-4F28-8465-EB20D0BF3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008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rPr>
              <a:t>12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2AA970B5-D379-447B-B9A7-C2CF19E06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04875"/>
            <a:ext cx="10858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4460CA1D-2A91-4DCE-BC8E-6E2444741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85875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7406D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7406D"/>
                </a:solidFill>
                <a:latin typeface="微软雅黑"/>
                <a:ea typeface="微软雅黑"/>
                <a:cs typeface="微软雅黑"/>
              </a:rPr>
              <a:t>多个 target 是同一结构状态的多通道观测</a:t>
            </a:r>
          </a:p>
        </p:txBody>
      </p:sp>
      <p:sp>
        <p:nvSpPr>
          <p:cNvPr id="9" name="圆角矩形 8">
            <a:extLst xmlns:a="http://schemas.openxmlformats.org/drawingml/2006/main">
              <a:ext uri="{FF2B5EF4-FFF2-40B4-BE49-F238E27FC236}">
                <a16:creationId xmlns:a16="http://schemas.microsoft.com/office/drawing/2014/main" id="{DAB9BF93-6C0E-4E8F-A323-9C8E67A09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05000"/>
            <a:ext cx="4714875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4FAFD"/>
          </a:solidFill>
          <a:ln xmlns:a="http://schemas.openxmlformats.org/drawingml/2006/main" w="11430">
            <a:solidFill>
              <a:srgbClr val="B9D7E8"/>
            </a:solidFill>
            <a:prstDash val="solid"/>
          </a:ln>
        </p:spPr>
      </p:sp>
      <p:sp>
        <p:nvSpPr>
          <p:cNvPr id="13" name="椭圆 12">
            <a:extLst xmlns:a="http://schemas.openxmlformats.org/drawingml/2006/main">
              <a:ext uri="{FF2B5EF4-FFF2-40B4-BE49-F238E27FC236}">
                <a16:creationId xmlns:a16="http://schemas.microsoft.com/office/drawing/2014/main" id="{103657F0-F963-4CFA-B00A-F9DE65C3E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6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F9225D42-B526-4874-A72F-F3604F2CF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19300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T1</a:t>
            </a:r>
          </a:p>
        </p:txBody>
      </p:sp>
      <p:sp>
        <p:nvSpPr>
          <p:cNvPr id="15" name="右箭头 14">
            <a:extLst xmlns:a="http://schemas.openxmlformats.org/drawingml/2006/main">
              <a:ext uri="{FF2B5EF4-FFF2-40B4-BE49-F238E27FC236}">
                <a16:creationId xmlns:a16="http://schemas.microsoft.com/office/drawing/2014/main" id="{6550FAF9-A317-4A56-9095-526A2E750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00250"/>
            <a:ext cx="8191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BD7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椭圆 15">
            <a:extLst xmlns:a="http://schemas.openxmlformats.org/drawingml/2006/main">
              <a:ext uri="{FF2B5EF4-FFF2-40B4-BE49-F238E27FC236}">
                <a16:creationId xmlns:a16="http://schemas.microsoft.com/office/drawing/2014/main" id="{D1461C1B-3A99-44D4-AC59-556C290B1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809875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D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AB2C5B5D-444F-4BB3-B194-336C427FC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019425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T2</a:t>
            </a:r>
          </a:p>
        </p:txBody>
      </p:sp>
      <p:sp>
        <p:nvSpPr>
          <p:cNvPr id="18" name="右箭头 17">
            <a:extLst xmlns:a="http://schemas.openxmlformats.org/drawingml/2006/main">
              <a:ext uri="{FF2B5EF4-FFF2-40B4-BE49-F238E27FC236}">
                <a16:creationId xmlns:a16="http://schemas.microsoft.com/office/drawing/2014/main" id="{20C860C7-34F9-4053-8C57-00CB03A18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000375"/>
            <a:ext cx="8191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BD7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椭圆 18">
            <a:extLst xmlns:a="http://schemas.openxmlformats.org/drawingml/2006/main">
              <a:ext uri="{FF2B5EF4-FFF2-40B4-BE49-F238E27FC236}">
                <a16:creationId xmlns:a16="http://schemas.microsoft.com/office/drawing/2014/main" id="{122D1D4F-EF33-4742-AFB1-B7DA2D606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81000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CF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A2F756C7-84C6-4DE8-BBAA-5FB64416D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019550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T3</a:t>
            </a:r>
          </a:p>
        </p:txBody>
      </p:sp>
      <p:sp>
        <p:nvSpPr>
          <p:cNvPr id="21" name="右箭头 20">
            <a:extLst xmlns:a="http://schemas.openxmlformats.org/drawingml/2006/main">
              <a:ext uri="{FF2B5EF4-FFF2-40B4-BE49-F238E27FC236}">
                <a16:creationId xmlns:a16="http://schemas.microsoft.com/office/drawing/2014/main" id="{BCF91A5F-FB93-4109-AECC-AC29C2205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000500"/>
            <a:ext cx="8191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BD7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圆角矩形 21">
            <a:extLst xmlns:a="http://schemas.openxmlformats.org/drawingml/2006/main">
              <a:ext uri="{FF2B5EF4-FFF2-40B4-BE49-F238E27FC236}">
                <a16:creationId xmlns:a16="http://schemas.microsoft.com/office/drawing/2014/main" id="{98E0235D-9C30-4FD1-A922-841E4AB08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2571750"/>
            <a:ext cx="2000250" cy="1000125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740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5AA0FBBE-C94C-47D3-86A8-6D0316ADC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771775"/>
            <a:ext cx="1600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结构主相位</a:t>
            </a:r>
          </a:p>
          <a:p xmlns:a="http://schemas.openxmlformats.org/drawingml/2006/main">
            <a:pPr algn="ctr">
              <a:buNone/>
              <a:def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Kalman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FC92344D-18C2-475F-9EFD-5FEC7E145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4686300"/>
            <a:ext cx="466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逐目标观测权重位于这里：根据观测质量调整每个 target 的更新权重</a:t>
            </a:r>
          </a:p>
        </p:txBody>
      </p:sp>
      <p:sp>
        <p:nvSpPr>
          <p:cNvPr id="25" name="圆角矩形 24">
            <a:extLst xmlns:a="http://schemas.openxmlformats.org/drawingml/2006/main">
              <a:ext uri="{FF2B5EF4-FFF2-40B4-BE49-F238E27FC236}">
                <a16:creationId xmlns:a16="http://schemas.microsoft.com/office/drawing/2014/main" id="{CE58A41C-08F5-4BA3-8CAD-165B252AB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572125"/>
            <a:ext cx="89535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7FBFE"/>
          </a:solidFill>
          <a:ln xmlns:a="http://schemas.openxmlformats.org/drawingml/2006/main" w="15240">
            <a:solidFill>
              <a:srgbClr val="009DD9"/>
            </a:solidFill>
            <a:prstDash val="solid"/>
          </a:ln>
        </p:spPr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C7458A8E-21C8-49B2-8096-B21ABD767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572125"/>
            <a:ext cx="762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D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EBC253BB-18D9-452A-B06D-7DBEC263E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705475"/>
            <a:ext cx="8648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不是多个 target 各自反算位移后平均，而是在相位状态层统一融合。</a:t>
            </a:r>
          </a:p>
        </p:txBody>
      </p:sp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8f4861dad44cd9"/>
          <a:stretch xmlns:a="http://schemas.openxmlformats.org/drawingml/2006/main"/>
        </p:blipFill>
        <p:spPr>
          <a:xfrm xmlns:a="http://schemas.openxmlformats.org/drawingml/2006/main">
            <a:off x="1181100" y="2387126"/>
            <a:ext cx="4067175" cy="426397"/>
          </a:xfrm>
          <a:prstGeom xmlns:a="http://schemas.openxmlformats.org/drawingml/2006/main" prst="rect">
            <a:avLst/>
          </a:prstGeom>
        </p:spPr>
      </p:pic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cbf5ce4040470d"/>
          <a:stretch xmlns:a="http://schemas.openxmlformats.org/drawingml/2006/main"/>
        </p:blipFill>
        <p:spPr>
          <a:xfrm xmlns:a="http://schemas.openxmlformats.org/drawingml/2006/main">
            <a:off x="1946604" y="3105150"/>
            <a:ext cx="2536166" cy="457200"/>
          </a:xfrm>
          <a:prstGeom xmlns:a="http://schemas.openxmlformats.org/drawingml/2006/main" prst="rect">
            <a:avLst/>
          </a:prstGeom>
        </p:spPr>
      </p:pic>
      <p:pic>
        <p:nvPicPr>
          <p:cNvPr id="5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550536f687486a"/>
          <a:stretch xmlns:a="http://schemas.openxmlformats.org/drawingml/2006/main"/>
        </p:blipFill>
        <p:spPr>
          <a:xfrm xmlns:a="http://schemas.openxmlformats.org/drawingml/2006/main">
            <a:off x="2658357" y="3714750"/>
            <a:ext cx="1160286" cy="4381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812593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446DC9F3-9D83-4114-870D-406CD7033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0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A609A96A-1FD6-4918-9179-53DD7E2C3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D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8B41EE3D-1805-4B40-A330-0EFA6BAD2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406D"/>
                </a:solidFill>
                <a:latin typeface="黑体"/>
                <a:ea typeface="黑体"/>
                <a:cs typeface="黑体"/>
              </a:defRPr>
            </a:pPr>
            <a:r>
              <a:rPr sz="2700" b="1">
                <a:solidFill>
                  <a:srgbClr val="17406D"/>
                </a:solidFill>
                <a:latin typeface="黑体"/>
                <a:ea typeface="黑体"/>
                <a:cs typeface="黑体"/>
              </a:rPr>
              <a:t>预测辅助相位校正：解决强 wrapping 下的分支选择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F97DAAA7-6A60-4BC9-BD38-2E51AC23D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191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rPr>
              <a:t>本文方法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06D60AA3-9D3A-437B-BC59-613CB090B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008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rPr>
              <a:t>13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ABC15A7F-6092-45A4-8CB0-36AAC37A2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04875"/>
            <a:ext cx="10858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圆角矩形 7">
            <a:extLst xmlns:a="http://schemas.openxmlformats.org/drawingml/2006/main">
              <a:ext uri="{FF2B5EF4-FFF2-40B4-BE49-F238E27FC236}">
                <a16:creationId xmlns:a16="http://schemas.microsoft.com/office/drawing/2014/main" id="{35ACFA02-3F33-4F0E-97B6-17521A1A5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14450"/>
            <a:ext cx="41910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7FBFE"/>
          </a:solidFill>
          <a:ln xmlns:a="http://schemas.openxmlformats.org/drawingml/2006/main" w="11430">
            <a:solidFill>
              <a:srgbClr val="B9D7E8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11A69BA4-E532-4B7A-832A-A721B2A74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600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7406D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7406D"/>
                </a:solidFill>
                <a:latin typeface="微软雅黑"/>
                <a:ea typeface="微软雅黑"/>
                <a:cs typeface="微软雅黑"/>
              </a:rPr>
              <a:t>校正思想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0A194A94-47E6-4C49-978A-655C6BE24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95750"/>
            <a:ext cx="3286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加速度驱动的结构主相位预测先映射到每个 target 的 LoS 相位，再选择 wrapped phase 的最近分支。</a:t>
            </a:r>
          </a:p>
        </p:txBody>
      </p:sp>
      <p:sp>
        <p:nvSpPr>
          <p:cNvPr id="13" name="圆角矩形 12">
            <a:extLst xmlns:a="http://schemas.openxmlformats.org/drawingml/2006/main">
              <a:ext uri="{FF2B5EF4-FFF2-40B4-BE49-F238E27FC236}">
                <a16:creationId xmlns:a16="http://schemas.microsoft.com/office/drawing/2014/main" id="{8ED15607-A97F-439C-948C-F7014E32A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314450"/>
            <a:ext cx="571500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8F2"/>
            </a:solidFill>
            <a:prstDash val="solid"/>
          </a:ln>
        </p:spPr>
      </p:sp>
      <p:pic>
        <p:nvPicPr>
          <p:cNvPr id="31" name="图片 3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29bc6bac024cf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0" y="1601391"/>
            <a:ext cx="5429250" cy="3121819"/>
          </a:xfrm>
          <a:prstGeom xmlns:a="http://schemas.openxmlformats.org/drawingml/2006/main" prst="rect">
            <a:avLst/>
          </a:prstGeom>
        </p:spPr>
      </p:pic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0E25CF13-E3FB-4EDF-A5DD-6EE658825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143500"/>
            <a:ext cx="523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67A8E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7A8E"/>
                </a:solidFill>
                <a:latin typeface="微软雅黑"/>
                <a:ea typeface="微软雅黑"/>
                <a:cs typeface="微软雅黑"/>
              </a:rPr>
              <a:t>strong wrapping 场景：wrapped phase、校正相位与真实 LoS phase 对比</a:t>
            </a:r>
          </a:p>
        </p:txBody>
      </p:sp>
      <p:sp>
        <p:nvSpPr>
          <p:cNvPr id="15" name="圆角矩形 14">
            <a:extLst xmlns:a="http://schemas.openxmlformats.org/drawingml/2006/main">
              <a:ext uri="{FF2B5EF4-FFF2-40B4-BE49-F238E27FC236}">
                <a16:creationId xmlns:a16="http://schemas.microsoft.com/office/drawing/2014/main" id="{8116CBD4-FC6D-4DE2-9878-AE01B421D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715000"/>
            <a:ext cx="94297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7FBFE"/>
          </a:solidFill>
          <a:ln xmlns:a="http://schemas.openxmlformats.org/drawingml/2006/main" w="15240">
            <a:solidFill>
              <a:srgbClr val="0F6FC6"/>
            </a:solidFill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6B48D7C6-DFD1-4394-83BA-CD1018966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715000"/>
            <a:ext cx="76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46536E6E-72C3-4E2F-8504-A030DA3BD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848350"/>
            <a:ext cx="9124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结果层面：本文方法在 strong wrapping 场景 RMSE 为 0.0143 mm，解缠错误率为 0。</a:t>
            </a:r>
          </a:p>
        </p:txBody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f4d14b546f47fe"/>
          <a:stretch xmlns:a="http://schemas.openxmlformats.org/drawingml/2006/main"/>
        </p:blipFill>
        <p:spPr>
          <a:xfrm xmlns:a="http://schemas.openxmlformats.org/drawingml/2006/main">
            <a:off x="1271374" y="2190750"/>
            <a:ext cx="2886501" cy="514350"/>
          </a:xfrm>
          <a:prstGeom xmlns:a="http://schemas.openxmlformats.org/drawingml/2006/main" prst="rect">
            <a:avLst/>
          </a:prstGeom>
        </p:spPr>
      </p:pic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7b2dd81d2f47f7"/>
          <a:stretch xmlns:a="http://schemas.openxmlformats.org/drawingml/2006/main"/>
        </p:blipFill>
        <p:spPr>
          <a:xfrm xmlns:a="http://schemas.openxmlformats.org/drawingml/2006/main">
            <a:off x="952500" y="3041190"/>
            <a:ext cx="3524250" cy="66132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456145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5D1800A2-E683-4359-AED9-F17F01286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0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C137CCFF-56F9-42D8-9AAA-53640F26F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D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198BCA9-3CF5-41A9-8572-6092082A8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406D"/>
                </a:solidFill>
                <a:latin typeface="黑体"/>
                <a:ea typeface="黑体"/>
                <a:cs typeface="黑体"/>
              </a:defRPr>
            </a:pPr>
            <a:r>
              <a:rPr sz="2700" b="1">
                <a:solidFill>
                  <a:srgbClr val="17406D"/>
                </a:solidFill>
                <a:latin typeface="黑体"/>
                <a:ea typeface="黑体"/>
                <a:cs typeface="黑体"/>
              </a:rPr>
              <a:t>创新点 3：AoA 冷启动与转换系数在线自举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A94A2C74-6C7C-4E31-947E-63F7B9D0A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191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rPr>
              <a:t>本文方法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DBFDEA0E-34D0-49C1-B2E0-2315C6A6C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008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rPr>
              <a:t>14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A9F03F9F-0567-448B-9651-736C9941A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04875"/>
            <a:ext cx="10858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圆角矩形 7">
            <a:extLst xmlns:a="http://schemas.openxmlformats.org/drawingml/2006/main">
              <a:ext uri="{FF2B5EF4-FFF2-40B4-BE49-F238E27FC236}">
                <a16:creationId xmlns:a16="http://schemas.microsoft.com/office/drawing/2014/main" id="{975CE10C-FF23-4384-BDC5-47926E573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76375"/>
            <a:ext cx="1524000" cy="704850"/>
          </a:xfrm>
          <a:prstGeom xmlns:a="http://schemas.openxmlformats.org/drawingml/2006/main" prst="roundRect">
            <a:avLst>
              <a:gd name="adj" fmla="val 12162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13335">
            <a:solidFill>
              <a:srgbClr val="0F6FC6"/>
            </a:solidFill>
            <a:prstDash val="solid"/>
          </a:ln>
        </p:spPr>
      </p:sp>
      <p:sp>
        <p:nvSpPr>
          <p:cNvPr id="10" name="右箭头 9">
            <a:extLst xmlns:a="http://schemas.openxmlformats.org/drawingml/2006/main">
              <a:ext uri="{FF2B5EF4-FFF2-40B4-BE49-F238E27FC236}">
                <a16:creationId xmlns:a16="http://schemas.microsoft.com/office/drawing/2014/main" id="{6FF47919-7723-4852-86D2-1036EA320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1695450"/>
            <a:ext cx="4572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9D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圆角矩形 10">
            <a:extLst xmlns:a="http://schemas.openxmlformats.org/drawingml/2006/main">
              <a:ext uri="{FF2B5EF4-FFF2-40B4-BE49-F238E27FC236}">
                <a16:creationId xmlns:a16="http://schemas.microsoft.com/office/drawing/2014/main" id="{52EECDD9-4E3F-4F4C-9B59-5A2183709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1476375"/>
            <a:ext cx="1524000" cy="704850"/>
          </a:xfrm>
          <a:prstGeom xmlns:a="http://schemas.openxmlformats.org/drawingml/2006/main" prst="roundRect">
            <a:avLst>
              <a:gd name="adj" fmla="val 12162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13335">
            <a:solidFill>
              <a:srgbClr val="009DD9"/>
            </a:solidFill>
            <a:prstDash val="solid"/>
          </a:ln>
        </p:spPr>
      </p:sp>
      <p:sp>
        <p:nvSpPr>
          <p:cNvPr id="13" name="右箭头 12">
            <a:extLst xmlns:a="http://schemas.openxmlformats.org/drawingml/2006/main">
              <a:ext uri="{FF2B5EF4-FFF2-40B4-BE49-F238E27FC236}">
                <a16:creationId xmlns:a16="http://schemas.microsoft.com/office/drawing/2014/main" id="{9CE07BB0-BB05-46C2-936B-AC5E36E4D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1695450"/>
            <a:ext cx="45720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9D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圆角矩形 13">
            <a:extLst xmlns:a="http://schemas.openxmlformats.org/drawingml/2006/main">
              <a:ext uri="{FF2B5EF4-FFF2-40B4-BE49-F238E27FC236}">
                <a16:creationId xmlns:a16="http://schemas.microsoft.com/office/drawing/2014/main" id="{41FDE77B-1838-4DC3-9FDB-9066488EA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1476375"/>
            <a:ext cx="1524000" cy="704850"/>
          </a:xfrm>
          <a:prstGeom xmlns:a="http://schemas.openxmlformats.org/drawingml/2006/main" prst="roundRect">
            <a:avLst>
              <a:gd name="adj" fmla="val 12162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13335">
            <a:solidFill>
              <a:srgbClr val="10CF9B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ED9279C7-0BFA-453F-986E-9C76FBB19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1571625"/>
            <a:ext cx="133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短窗口 LS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更新转换系数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95BE8DE2-57C2-4E58-A391-4FF4D70A9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533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spcAft>
                <a:spcPts val="10"/>
              </a:spcAft>
              <a:buNone/>
              <a:defRPr sz="1425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425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AoA 只提供可启动的几何初值，不作为最终固定转换系数</a:t>
            </a:r>
          </a:p>
          <a:p xmlns:a="http://schemas.openxmlformats.org/drawingml/2006/main">
            <a:pPr marL="0" indent="0">
              <a:lnSpc>
                <a:spcPct val="115000"/>
              </a:lnSpc>
              <a:spcAft>
                <a:spcPts val="10"/>
              </a:spcAft>
              <a:buNone/>
              <a:defRPr sz="1425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425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校正后的目标观测同时用于 Kalman 更新与转换系数自举</a:t>
            </a:r>
          </a:p>
          <a:p xmlns:a="http://schemas.openxmlformats.org/drawingml/2006/main">
            <a:pPr marL="0" indent="0">
              <a:lnSpc>
                <a:spcPct val="115000"/>
              </a:lnSpc>
              <a:spcAft>
                <a:spcPts val="10"/>
              </a:spcAft>
              <a:buNone/>
              <a:defRPr sz="1425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425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转换系数不确定时降低对应 target 的观测权重</a:t>
            </a:r>
          </a:p>
        </p:txBody>
      </p:sp>
      <p:sp>
        <p:nvSpPr>
          <p:cNvPr id="17" name="圆角矩形 16">
            <a:extLst xmlns:a="http://schemas.openxmlformats.org/drawingml/2006/main">
              <a:ext uri="{FF2B5EF4-FFF2-40B4-BE49-F238E27FC236}">
                <a16:creationId xmlns:a16="http://schemas.microsoft.com/office/drawing/2014/main" id="{FAEB2792-7006-4A93-92D0-2FE56283D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285875"/>
            <a:ext cx="4762500" cy="3619500"/>
          </a:xfrm>
          <a:prstGeom xmlns:a="http://schemas.openxmlformats.org/drawingml/2006/main" prst="roundRect">
            <a:avLst>
              <a:gd name="adj" fmla="val 21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8F2"/>
            </a:solidFill>
            <a:prstDash val="solid"/>
          </a:ln>
        </p:spPr>
      </p:sp>
      <p:pic>
        <p:nvPicPr>
          <p:cNvPr id="43" name="图片 3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22372413414ff2"/>
          <a:stretch xmlns:a="http://schemas.openxmlformats.org/drawingml/2006/main"/>
        </p:blipFill>
        <p:spPr>
          <a:xfrm xmlns:a="http://schemas.openxmlformats.org/drawingml/2006/main">
            <a:off x="6715125" y="1836491"/>
            <a:ext cx="4476750" cy="2518172"/>
          </a:xfrm>
          <a:prstGeom xmlns:a="http://schemas.openxmlformats.org/drawingml/2006/main" prst="rect">
            <a:avLst/>
          </a:prstGeom>
        </p:spPr>
      </p:pic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ABCF8067-8405-46E7-836F-FB39F923C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048250"/>
            <a:ext cx="438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667A8E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7A8E"/>
                </a:solidFill>
                <a:latin typeface="微软雅黑"/>
                <a:ea typeface="微软雅黑"/>
                <a:cs typeface="微软雅黑"/>
              </a:rPr>
              <a:t>AoA 初值误差场景：转换系数在线估计逐步收敛</a:t>
            </a:r>
          </a:p>
        </p:txBody>
      </p:sp>
      <p:sp>
        <p:nvSpPr>
          <p:cNvPr id="19" name="圆角矩形 18">
            <a:extLst xmlns:a="http://schemas.openxmlformats.org/drawingml/2006/main">
              <a:ext uri="{FF2B5EF4-FFF2-40B4-BE49-F238E27FC236}">
                <a16:creationId xmlns:a16="http://schemas.microsoft.com/office/drawing/2014/main" id="{5CED5BEA-B3D9-440F-9041-DDF06C952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715000"/>
            <a:ext cx="98107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7FBFE"/>
          </a:solidFill>
          <a:ln xmlns:a="http://schemas.openxmlformats.org/drawingml/2006/main" w="15240">
            <a:solidFill>
              <a:srgbClr val="009DD9"/>
            </a:solidFill>
            <a:prstDash val="solid"/>
          </a:ln>
        </p:spPr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6BCB8BA0-06A2-4043-A5CF-AAD8D331B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715000"/>
            <a:ext cx="76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D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B21A51BF-A673-4AF7-8CEA-11A7F7B30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848350"/>
            <a:ext cx="950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在 AoA 初值误差场景，固定转换系数基线 RMSE 为 0.0540 mm；本文方法 RMSE 为 0.0153 mm。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D56B54-CC52-4A6F-A13C-422627426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609725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0233F"/>
                </a:solidFill>
              </a:defRPr>
            </a:pPr>
            <a:r>
              <a:rPr sz="975" b="1">
                <a:solidFill>
                  <a:srgbClr val="10233F"/>
                </a:solidFill>
              </a:rPr>
              <a:t>AoA cold start</a:t>
            </a:r>
          </a:p>
        </p:txBody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65fa9ae8ce495a"/>
          <a:stretch xmlns:a="http://schemas.openxmlformats.org/drawingml/2006/main"/>
        </p:blipFill>
        <p:spPr>
          <a:xfrm xmlns:a="http://schemas.openxmlformats.org/drawingml/2006/main">
            <a:off x="819150" y="1835103"/>
            <a:ext cx="1314450" cy="254094"/>
          </a:xfrm>
          <a:prstGeom xmlns:a="http://schemas.openxmlformats.org/drawingml/2006/main" prst="rect">
            <a:avLst/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F71BD8-D4E9-4325-A25A-EF0339666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1609725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0233F"/>
                </a:solidFill>
              </a:defRPr>
            </a:pPr>
            <a:r>
              <a:rPr sz="975" b="1">
                <a:solidFill>
                  <a:srgbClr val="10233F"/>
                </a:solidFill>
              </a:rPr>
              <a:t>预测校正相位</a:t>
            </a:r>
          </a:p>
        </p:txBody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12942f460c44dc"/>
          <a:stretch xmlns:a="http://schemas.openxmlformats.org/drawingml/2006/main"/>
        </p:blipFill>
        <p:spPr>
          <a:xfrm xmlns:a="http://schemas.openxmlformats.org/drawingml/2006/main">
            <a:off x="2924175" y="1838823"/>
            <a:ext cx="1314450" cy="24665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152258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3429A55C-C32F-422C-A8B6-CC1E79C15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0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91525C17-F6C0-4202-A083-EFD8BE7F4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D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39708AB1-4A48-4B8C-8610-61E906CEA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406D"/>
                </a:solidFill>
                <a:latin typeface="黑体"/>
                <a:ea typeface="黑体"/>
                <a:cs typeface="黑体"/>
              </a:defRPr>
            </a:pPr>
            <a:r>
              <a:rPr sz="2700" b="1">
                <a:solidFill>
                  <a:srgbClr val="17406D"/>
                </a:solidFill>
                <a:latin typeface="黑体"/>
                <a:ea typeface="黑体"/>
                <a:cs typeface="黑体"/>
              </a:rPr>
              <a:t>完整算法流程框图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94316833-B1B4-4B20-929E-9C342E2CF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191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rPr>
              <a:t>本文方法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6FE78E35-9787-4C61-A139-EA4AF0D85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008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rPr>
              <a:t>15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70A05D9A-760F-4A2C-8B3D-8E65D046A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04875"/>
            <a:ext cx="10858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圆角矩形 7">
            <a:extLst xmlns:a="http://schemas.openxmlformats.org/drawingml/2006/main">
              <a:ext uri="{FF2B5EF4-FFF2-40B4-BE49-F238E27FC236}">
                <a16:creationId xmlns:a16="http://schemas.microsoft.com/office/drawing/2014/main" id="{394F6E5D-2E02-40D5-86B3-5DFFDCBFE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33500"/>
            <a:ext cx="1381125" cy="714375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13335">
            <a:solidFill>
              <a:srgbClr val="0F6FC6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18EACE46-2B8B-4D3C-9733-FF9D1BB00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119062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Radar ADC</a:t>
            </a:r>
          </a:p>
        </p:txBody>
      </p:sp>
      <p:sp>
        <p:nvSpPr>
          <p:cNvPr id="10" name="右箭头 9">
            <a:extLst xmlns:a="http://schemas.openxmlformats.org/drawingml/2006/main">
              <a:ext uri="{FF2B5EF4-FFF2-40B4-BE49-F238E27FC236}">
                <a16:creationId xmlns:a16="http://schemas.microsoft.com/office/drawing/2014/main" id="{EEE13C9C-218E-4331-980A-31B8DEBB2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1562100"/>
            <a:ext cx="32385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9D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圆角矩形 10">
            <a:extLst xmlns:a="http://schemas.openxmlformats.org/drawingml/2006/main">
              <a:ext uri="{FF2B5EF4-FFF2-40B4-BE49-F238E27FC236}">
                <a16:creationId xmlns:a16="http://schemas.microsoft.com/office/drawing/2014/main" id="{A75A6549-0130-4D29-A696-286A21BC8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1333500"/>
            <a:ext cx="1381125" cy="714375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13335">
            <a:solidFill>
              <a:srgbClr val="0F6FC6"/>
            </a:solidFill>
            <a:prstDash val="solid"/>
          </a:ln>
        </p:spPr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6860B5DF-8F09-4992-BB47-82B2EF69F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1428750"/>
            <a:ext cx="119062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Range FFT</a:t>
            </a:r>
          </a:p>
          <a:p xmlns:a="http://schemas.openxmlformats.org/drawingml/2006/main">
            <a:pPr algn="ctr">
              <a:buNone/>
              <a:defRPr sz="112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Angle FFT / DBF</a:t>
            </a:r>
          </a:p>
        </p:txBody>
      </p:sp>
      <p:sp>
        <p:nvSpPr>
          <p:cNvPr id="13" name="右箭头 12">
            <a:extLst xmlns:a="http://schemas.openxmlformats.org/drawingml/2006/main">
              <a:ext uri="{FF2B5EF4-FFF2-40B4-BE49-F238E27FC236}">
                <a16:creationId xmlns:a16="http://schemas.microsoft.com/office/drawing/2014/main" id="{E2833126-EA86-4982-92DE-421168823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562100"/>
            <a:ext cx="32385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9D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圆角矩形 13">
            <a:extLst xmlns:a="http://schemas.openxmlformats.org/drawingml/2006/main">
              <a:ext uri="{FF2B5EF4-FFF2-40B4-BE49-F238E27FC236}">
                <a16:creationId xmlns:a16="http://schemas.microsoft.com/office/drawing/2014/main" id="{B670601B-08A1-4BC9-983D-B0C8AE919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333500"/>
            <a:ext cx="1381125" cy="714375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13335">
            <a:solidFill>
              <a:srgbClr val="0F6FC6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BB000F0C-FD34-4FB8-A217-E25F3F17B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428750"/>
            <a:ext cx="119062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2D peak</a:t>
            </a:r>
          </a:p>
          <a:p xmlns:a="http://schemas.openxmlformats.org/drawingml/2006/main">
            <a:pPr algn="ctr">
              <a:buNone/>
              <a:defRPr sz="112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Range-Angle targets</a:t>
            </a:r>
          </a:p>
        </p:txBody>
      </p:sp>
      <p:sp>
        <p:nvSpPr>
          <p:cNvPr id="16" name="右箭头 15">
            <a:extLst xmlns:a="http://schemas.openxmlformats.org/drawingml/2006/main">
              <a:ext uri="{FF2B5EF4-FFF2-40B4-BE49-F238E27FC236}">
                <a16:creationId xmlns:a16="http://schemas.microsoft.com/office/drawing/2014/main" id="{E9A571D4-DC1A-4B2B-815B-C759E40E8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1562100"/>
            <a:ext cx="32385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9D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圆角矩形 16">
            <a:extLst xmlns:a="http://schemas.openxmlformats.org/drawingml/2006/main">
              <a:ext uri="{FF2B5EF4-FFF2-40B4-BE49-F238E27FC236}">
                <a16:creationId xmlns:a16="http://schemas.microsoft.com/office/drawing/2014/main" id="{18B1B1C0-99EB-4665-BBF0-266B6CE34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1333500"/>
            <a:ext cx="1381125" cy="714375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13335">
            <a:solidFill>
              <a:srgbClr val="0F6FC6"/>
            </a:solidFill>
            <a:prstDash val="solid"/>
          </a:ln>
        </p:spPr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6D5BE99A-B8E0-4389-864A-80A5FBCBA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1428750"/>
            <a:ext cx="119062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Target selection</a:t>
            </a:r>
          </a:p>
          <a:p xmlns:a="http://schemas.openxmlformats.org/drawingml/2006/main">
            <a:pPr algn="ctr">
              <a:buNone/>
              <a:defRPr sz="112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presence / SNR / band</a:t>
            </a:r>
          </a:p>
        </p:txBody>
      </p:sp>
      <p:sp>
        <p:nvSpPr>
          <p:cNvPr id="19" name="右箭头 18">
            <a:extLst xmlns:a="http://schemas.openxmlformats.org/drawingml/2006/main">
              <a:ext uri="{FF2B5EF4-FFF2-40B4-BE49-F238E27FC236}">
                <a16:creationId xmlns:a16="http://schemas.microsoft.com/office/drawing/2014/main" id="{71387267-9E82-4AD3-8CEF-60D51639F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562100"/>
            <a:ext cx="32385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9D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圆角矩形 19">
            <a:extLst xmlns:a="http://schemas.openxmlformats.org/drawingml/2006/main">
              <a:ext uri="{FF2B5EF4-FFF2-40B4-BE49-F238E27FC236}">
                <a16:creationId xmlns:a16="http://schemas.microsoft.com/office/drawing/2014/main" id="{35716BF5-F843-4AA9-908C-2BAC7E0D3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333500"/>
            <a:ext cx="1381125" cy="714375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13335">
            <a:solidFill>
              <a:srgbClr val="0F6FC6"/>
            </a:solidFill>
            <a:prstDash val="solid"/>
          </a:ln>
        </p:spPr>
      </p:sp>
      <p:sp>
        <p:nvSpPr>
          <p:cNvPr id="22" name="右箭头 21">
            <a:extLst xmlns:a="http://schemas.openxmlformats.org/drawingml/2006/main">
              <a:ext uri="{FF2B5EF4-FFF2-40B4-BE49-F238E27FC236}">
                <a16:creationId xmlns:a16="http://schemas.microsoft.com/office/drawing/2014/main" id="{1D5DE1C2-7788-4000-8DEB-D36F09A22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1562100"/>
            <a:ext cx="323850" cy="238125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9D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圆角矩形 22">
            <a:extLst xmlns:a="http://schemas.openxmlformats.org/drawingml/2006/main">
              <a:ext uri="{FF2B5EF4-FFF2-40B4-BE49-F238E27FC236}">
                <a16:creationId xmlns:a16="http://schemas.microsoft.com/office/drawing/2014/main" id="{0133B61F-9BCD-4A68-9643-91A9C58DC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1333500"/>
            <a:ext cx="1381125" cy="714375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13335">
            <a:solidFill>
              <a:srgbClr val="17406D"/>
            </a:solidFill>
            <a:prstDash val="solid"/>
          </a:ln>
        </p:spPr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452BBDB2-CF4D-4D2A-BAA5-383027464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1428750"/>
            <a:ext cx="1190625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Structural-main-phase</a:t>
            </a:r>
          </a:p>
          <a:p xmlns:a="http://schemas.openxmlformats.org/drawingml/2006/main">
            <a:pPr algn="ctr">
              <a:buNone/>
              <a:defRPr sz="112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Kalman</a:t>
            </a:r>
          </a:p>
        </p:txBody>
      </p:sp>
      <p:sp>
        <p:nvSpPr>
          <p:cNvPr id="25" name="圆角矩形 24">
            <a:extLst xmlns:a="http://schemas.openxmlformats.org/drawingml/2006/main">
              <a:ext uri="{FF2B5EF4-FFF2-40B4-BE49-F238E27FC236}">
                <a16:creationId xmlns:a16="http://schemas.microsoft.com/office/drawing/2014/main" id="{717E7259-C6DC-43F7-847A-7E97F6392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143250"/>
            <a:ext cx="1809750" cy="666750"/>
          </a:xfrm>
          <a:prstGeom xmlns:a="http://schemas.openxmlformats.org/drawingml/2006/main" prst="roundRect">
            <a:avLst>
              <a:gd name="adj" fmla="val 12857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13335">
            <a:solidFill>
              <a:srgbClr val="10CF9B"/>
            </a:solidFill>
            <a:prstDash val="solid"/>
          </a:ln>
        </p:spPr>
      </p:sp>
      <p:sp>
        <p:nvSpPr>
          <p:cNvPr id="27" name="圆角矩形 26">
            <a:extLst xmlns:a="http://schemas.openxmlformats.org/drawingml/2006/main">
              <a:ext uri="{FF2B5EF4-FFF2-40B4-BE49-F238E27FC236}">
                <a16:creationId xmlns:a16="http://schemas.microsoft.com/office/drawing/2014/main" id="{A1002F9E-C7FA-4B20-A833-F316C1355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143250"/>
            <a:ext cx="1809750" cy="666750"/>
          </a:xfrm>
          <a:prstGeom xmlns:a="http://schemas.openxmlformats.org/drawingml/2006/main" prst="roundRect">
            <a:avLst>
              <a:gd name="adj" fmla="val 12857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13335">
            <a:solidFill>
              <a:srgbClr val="F49100"/>
            </a:solidFill>
            <a:prstDash val="solid"/>
          </a:ln>
        </p:spPr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C0B9DEEE-401E-42E5-8413-EC5BFC7E4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238500"/>
            <a:ext cx="161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Prediction-aided</a:t>
            </a:r>
          </a:p>
          <a:p xmlns:a="http://schemas.openxmlformats.org/drawingml/2006/main">
            <a:pPr algn="ctr">
              <a:buNone/>
              <a:defRPr sz="112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phase correction</a:t>
            </a:r>
          </a:p>
        </p:txBody>
      </p:sp>
      <p:sp>
        <p:nvSpPr>
          <p:cNvPr id="29" name="圆角矩形 28">
            <a:extLst xmlns:a="http://schemas.openxmlformats.org/drawingml/2006/main">
              <a:ext uri="{FF2B5EF4-FFF2-40B4-BE49-F238E27FC236}">
                <a16:creationId xmlns:a16="http://schemas.microsoft.com/office/drawing/2014/main" id="{DFEA8B5C-C957-4CF4-B0AD-92FC180CF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143250"/>
            <a:ext cx="1809750" cy="666750"/>
          </a:xfrm>
          <a:prstGeom xmlns:a="http://schemas.openxmlformats.org/drawingml/2006/main" prst="roundRect">
            <a:avLst>
              <a:gd name="adj" fmla="val 12857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13335">
            <a:solidFill>
              <a:srgbClr val="009DD9"/>
            </a:solidFill>
            <a:prstDash val="solid"/>
          </a:ln>
        </p:spPr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392B7861-9E0D-4D34-A457-3182E3470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238500"/>
            <a:ext cx="1619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转换系数在线自举</a:t>
            </a:r>
          </a:p>
          <a:p xmlns:a="http://schemas.openxmlformats.org/drawingml/2006/main">
            <a:pPr algn="ctr">
              <a:buNone/>
              <a:defRPr sz="112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逐目标观测权重</a:t>
            </a:r>
          </a:p>
        </p:txBody>
      </p:sp>
      <p:sp>
        <p:nvSpPr>
          <p:cNvPr id="31" name="圆角矩形 30">
            <a:extLst xmlns:a="http://schemas.openxmlformats.org/drawingml/2006/main">
              <a:ext uri="{FF2B5EF4-FFF2-40B4-BE49-F238E27FC236}">
                <a16:creationId xmlns:a16="http://schemas.microsoft.com/office/drawing/2014/main" id="{C58CF3ED-4F6A-4034-A3D2-5CB58BBF5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143250"/>
            <a:ext cx="1619250" cy="666750"/>
          </a:xfrm>
          <a:prstGeom xmlns:a="http://schemas.openxmlformats.org/drawingml/2006/main" prst="roundRect">
            <a:avLst>
              <a:gd name="adj" fmla="val 12857"/>
            </a:avLst>
          </a:prstGeom>
          <a:solidFill xmlns:a="http://schemas.openxmlformats.org/drawingml/2006/main">
            <a:srgbClr val="F8FCFF"/>
          </a:solidFill>
          <a:ln xmlns:a="http://schemas.openxmlformats.org/drawingml/2006/main" w="13335">
            <a:solidFill>
              <a:srgbClr val="17406D"/>
            </a:solidFill>
            <a:prstDash val="solid"/>
          </a:ln>
        </p:spPr>
      </p:sp>
      <p:sp>
        <p:nvSpPr>
          <p:cNvPr id="33" name="右箭头 32">
            <a:extLst xmlns:a="http://schemas.openxmlformats.org/drawingml/2006/main">
              <a:ext uri="{FF2B5EF4-FFF2-40B4-BE49-F238E27FC236}">
                <a16:creationId xmlns:a16="http://schemas.microsoft.com/office/drawing/2014/main" id="{DA0AAC45-E3F5-405C-94AB-82DAA4AEE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333750"/>
            <a:ext cx="523875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9D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右箭头 33">
            <a:extLst xmlns:a="http://schemas.openxmlformats.org/drawingml/2006/main">
              <a:ext uri="{FF2B5EF4-FFF2-40B4-BE49-F238E27FC236}">
                <a16:creationId xmlns:a16="http://schemas.microsoft.com/office/drawing/2014/main" id="{DD87F9F5-CB70-4C34-A11D-CFDF67A06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333750"/>
            <a:ext cx="523875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9D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右箭头 34">
            <a:extLst xmlns:a="http://schemas.openxmlformats.org/drawingml/2006/main">
              <a:ext uri="{FF2B5EF4-FFF2-40B4-BE49-F238E27FC236}">
                <a16:creationId xmlns:a16="http://schemas.microsoft.com/office/drawing/2014/main" id="{B7FF7E04-FBA4-479E-8FBE-2E67EB35C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333750"/>
            <a:ext cx="285750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009D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478DDB4A-EF86-48EC-BE74-562683CF5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047875"/>
            <a:ext cx="190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2479F38B-8149-49FC-8222-E952E0A23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2047875"/>
            <a:ext cx="190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699D701C-951C-48FB-8A52-5BB209C1C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4286250"/>
            <a:ext cx="676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7406D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17406D"/>
                </a:solidFill>
                <a:latin typeface="微软雅黑"/>
                <a:ea typeface="微软雅黑"/>
                <a:cs typeface="微软雅黑"/>
              </a:rPr>
              <a:t>Kalman 闭环：预测、分支校正、更新、转换系数与观测权重更新</a:t>
            </a:r>
          </a:p>
        </p:txBody>
      </p:sp>
      <p:sp>
        <p:nvSpPr>
          <p:cNvPr id="39" name="圆角矩形 38">
            <a:extLst xmlns:a="http://schemas.openxmlformats.org/drawingml/2006/main">
              <a:ext uri="{FF2B5EF4-FFF2-40B4-BE49-F238E27FC236}">
                <a16:creationId xmlns:a16="http://schemas.microsoft.com/office/drawing/2014/main" id="{C37DE6D9-FAFD-4768-8F73-1E0EA379E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953000"/>
            <a:ext cx="8667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7FBFE"/>
          </a:solidFill>
          <a:ln xmlns:a="http://schemas.openxmlformats.org/drawingml/2006/main" w="11430">
            <a:solidFill>
              <a:srgbClr val="B9D7E8"/>
            </a:solidFill>
            <a:prstDash val="solid"/>
          </a:ln>
        </p:spPr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50AFBEC5-6281-4E79-8A50-3807227E5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5143500"/>
            <a:ext cx="800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Phase 1 验证重点：synthetic ADC / Range-Angle 前端 + selected targets + 结构主相位融合的完整算法闭环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12B5B7D-EBCA-4C46-AD2B-05A2B5F59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466850"/>
            <a:ext cx="1190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0233F"/>
                </a:solidFill>
              </a:defRPr>
            </a:pPr>
            <a:r>
              <a:rPr sz="975" b="1">
                <a:solidFill>
                  <a:srgbClr val="10233F"/>
                </a:solidFill>
              </a:rPr>
              <a:t>AoA cold start</a:t>
            </a:r>
          </a:p>
        </p:txBody>
      </p:sp>
      <p:pic>
        <p:nvPicPr>
          <p:cNvPr id="8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8c4c2670034430"/>
          <a:stretch xmlns:a="http://schemas.openxmlformats.org/drawingml/2006/main"/>
        </p:blipFill>
        <p:spPr>
          <a:xfrm xmlns:a="http://schemas.openxmlformats.org/drawingml/2006/main">
            <a:off x="7996864" y="1657350"/>
            <a:ext cx="636922" cy="314325"/>
          </a:xfrm>
          <a:prstGeom xmlns:a="http://schemas.openxmlformats.org/drawingml/2006/main" prst="rect">
            <a:avLst/>
          </a:prstGeom>
        </p:spPr>
      </p:pic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907D1B0-BEDE-4C74-9431-D810DF3E7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2766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0233F"/>
                </a:solidFill>
              </a:defRPr>
            </a:pPr>
            <a:r>
              <a:rPr sz="900" b="1">
                <a:solidFill>
                  <a:srgbClr val="10233F"/>
                </a:solidFill>
              </a:rPr>
              <a:t>Acceleration input</a:t>
            </a:r>
          </a:p>
        </p:txBody>
      </p:sp>
      <p:pic>
        <p:nvPicPr>
          <p:cNvPr id="8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8de26fcfa14877"/>
          <a:stretch xmlns:a="http://schemas.openxmlformats.org/drawingml/2006/main"/>
        </p:blipFill>
        <p:spPr>
          <a:xfrm xmlns:a="http://schemas.openxmlformats.org/drawingml/2006/main">
            <a:off x="2952750" y="3498623"/>
            <a:ext cx="1619250" cy="222705"/>
          </a:xfrm>
          <a:prstGeom xmlns:a="http://schemas.openxmlformats.org/drawingml/2006/main" prst="rect">
            <a:avLst/>
          </a:prstGeom>
        </p:spPr>
      </p:pic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58E4702-1DA6-4E7A-8C36-6998A33E4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32766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10233F"/>
                </a:solidFill>
              </a:defRPr>
            </a:pPr>
            <a:r>
              <a:rPr sz="900" b="1">
                <a:solidFill>
                  <a:srgbClr val="10233F"/>
                </a:solidFill>
              </a:rPr>
              <a:t>Displacement output</a:t>
            </a:r>
          </a:p>
        </p:txBody>
      </p:sp>
      <p:pic>
        <p:nvPicPr>
          <p:cNvPr id="9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7fd9c75c25445c"/>
          <a:stretch xmlns:a="http://schemas.openxmlformats.org/drawingml/2006/main"/>
        </p:blipFill>
        <p:spPr>
          <a:xfrm xmlns:a="http://schemas.openxmlformats.org/drawingml/2006/main">
            <a:off x="10038913" y="3409950"/>
            <a:ext cx="877174" cy="4000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80269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E05CFBE4-F9A2-42DF-9D2F-BE267C79E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0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F7B153F6-9688-4130-BA37-D392F6741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D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E92A8310-BA5A-43F7-BCF0-FFE464F57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406D"/>
                </a:solidFill>
                <a:latin typeface="黑体"/>
                <a:ea typeface="黑体"/>
                <a:cs typeface="黑体"/>
              </a:defRPr>
            </a:pPr>
            <a:r>
              <a:rPr sz="2700" b="1">
                <a:solidFill>
                  <a:srgbClr val="17406D"/>
                </a:solidFill>
                <a:latin typeface="黑体"/>
                <a:ea typeface="黑体"/>
                <a:cs typeface="黑体"/>
              </a:rPr>
              <a:t>Phase 1 仿真实验设计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81D96AA3-FDED-482D-8DC7-12C27ABEF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191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rPr>
              <a:t>仿真验证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CFA7230C-7B0E-4E0C-A982-783D95CAE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008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rPr>
              <a:t>16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9670687C-E4EE-4266-A7D2-0BCF507FA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04875"/>
            <a:ext cx="10858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0E51312E-4D48-4AA4-A418-4BCFD0C4D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57300"/>
            <a:ext cx="390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7406D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7406D"/>
                </a:solidFill>
                <a:latin typeface="微软雅黑"/>
                <a:ea typeface="微软雅黑"/>
                <a:cs typeface="微软雅黑"/>
              </a:rPr>
              <a:t>六个主实验场景</a:t>
            </a:r>
          </a:p>
        </p:txBody>
      </p:sp>
      <p:sp>
        <p:nvSpPr>
          <p:cNvPr id="9" name="圆角矩形 8">
            <a:extLst xmlns:a="http://schemas.openxmlformats.org/drawingml/2006/main">
              <a:ext uri="{FF2B5EF4-FFF2-40B4-BE49-F238E27FC236}">
                <a16:creationId xmlns:a16="http://schemas.microsoft.com/office/drawing/2014/main" id="{BE7EB33C-F01F-4B7C-91A5-1092BED74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62125"/>
            <a:ext cx="2381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B9D7E8"/>
            </a:solidFill>
            <a:prstDash val="solid"/>
          </a:ln>
        </p:spPr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40F9C4D7-32A0-4A4E-8C7E-BF8918A25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95475"/>
            <a:ext cx="207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7406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7406D"/>
                </a:solidFill>
                <a:latin typeface="微软雅黑"/>
                <a:ea typeface="微软雅黑"/>
                <a:cs typeface="微软雅黑"/>
              </a:rPr>
              <a:t>文献主频磁浮梁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2E2E8EDC-8117-4BC5-9E93-0CDF04896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71700"/>
            <a:ext cx="207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67A8E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667A8E"/>
                </a:solidFill>
                <a:latin typeface="微软雅黑"/>
                <a:ea typeface="微软雅黑"/>
                <a:cs typeface="微软雅黑"/>
              </a:rPr>
              <a:t>7.7737 / 11.5742 / 26.5642 Hz</a:t>
            </a:r>
          </a:p>
        </p:txBody>
      </p:sp>
      <p:sp>
        <p:nvSpPr>
          <p:cNvPr id="12" name="圆角矩形 11">
            <a:extLst xmlns:a="http://schemas.openxmlformats.org/drawingml/2006/main">
              <a:ext uri="{FF2B5EF4-FFF2-40B4-BE49-F238E27FC236}">
                <a16:creationId xmlns:a16="http://schemas.microsoft.com/office/drawing/2014/main" id="{23AA2E59-0E57-4D6C-9845-05E8B53E4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762125"/>
            <a:ext cx="2381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7E8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3F97544C-4845-4C9B-849D-2B0918CD3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895475"/>
            <a:ext cx="207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7406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7406D"/>
                </a:solidFill>
                <a:latin typeface="微软雅黑"/>
                <a:ea typeface="微软雅黑"/>
                <a:cs typeface="微软雅黑"/>
              </a:rPr>
              <a:t>强相位缠绕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0980C7AD-D4F3-4E6F-B36A-BC20B3653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171700"/>
            <a:ext cx="207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67A8E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667A8E"/>
                </a:solidFill>
                <a:latin typeface="微软雅黑"/>
                <a:ea typeface="微软雅黑"/>
                <a:cs typeface="微软雅黑"/>
              </a:rPr>
              <a:t>约 5 mm 峰值位移</a:t>
            </a:r>
          </a:p>
        </p:txBody>
      </p:sp>
      <p:sp>
        <p:nvSpPr>
          <p:cNvPr id="15" name="圆角矩形 14">
            <a:extLst xmlns:a="http://schemas.openxmlformats.org/drawingml/2006/main">
              <a:ext uri="{FF2B5EF4-FFF2-40B4-BE49-F238E27FC236}">
                <a16:creationId xmlns:a16="http://schemas.microsoft.com/office/drawing/2014/main" id="{FF0C25FB-8C02-4C11-A56E-442D3305E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62250"/>
            <a:ext cx="2381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B9D7E8"/>
            </a:solidFill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5AF7588E-F470-4C96-BF04-61212465B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95600"/>
            <a:ext cx="207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7406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7406D"/>
                </a:solidFill>
                <a:latin typeface="微软雅黑"/>
                <a:ea typeface="微软雅黑"/>
                <a:cs typeface="微软雅黑"/>
              </a:rPr>
              <a:t>同 range 远角度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63FBBD32-36DA-43CE-9830-F46D2D787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71825"/>
            <a:ext cx="207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67A8E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667A8E"/>
                </a:solidFill>
                <a:latin typeface="微软雅黑"/>
                <a:ea typeface="微软雅黑"/>
                <a:cs typeface="微软雅黑"/>
              </a:rPr>
              <a:t>验证 angle-bin 分离</a:t>
            </a:r>
          </a:p>
        </p:txBody>
      </p:sp>
      <p:sp>
        <p:nvSpPr>
          <p:cNvPr id="18" name="圆角矩形 17">
            <a:extLst xmlns:a="http://schemas.openxmlformats.org/drawingml/2006/main">
              <a:ext uri="{FF2B5EF4-FFF2-40B4-BE49-F238E27FC236}">
                <a16:creationId xmlns:a16="http://schemas.microsoft.com/office/drawing/2014/main" id="{39CA3BDD-FE3E-46A5-B5A6-57BCF3AFD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762250"/>
            <a:ext cx="2381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7E8"/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40344C8C-25EF-433E-98E5-785BE43D9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895600"/>
            <a:ext cx="207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7406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7406D"/>
                </a:solidFill>
                <a:latin typeface="微软雅黑"/>
                <a:ea typeface="微软雅黑"/>
                <a:cs typeface="微软雅黑"/>
              </a:rPr>
              <a:t>AoA 初值误差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768C131F-088D-4070-AB80-DC05ACC71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171825"/>
            <a:ext cx="207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67A8E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667A8E"/>
                </a:solidFill>
                <a:latin typeface="微软雅黑"/>
                <a:ea typeface="微软雅黑"/>
                <a:cs typeface="微软雅黑"/>
              </a:rPr>
              <a:t>验证转换系数自举</a:t>
            </a:r>
          </a:p>
        </p:txBody>
      </p:sp>
      <p:sp>
        <p:nvSpPr>
          <p:cNvPr id="21" name="圆角矩形 20">
            <a:extLst xmlns:a="http://schemas.openxmlformats.org/drawingml/2006/main">
              <a:ext uri="{FF2B5EF4-FFF2-40B4-BE49-F238E27FC236}">
                <a16:creationId xmlns:a16="http://schemas.microsoft.com/office/drawing/2014/main" id="{5734F377-1FA6-4F2B-900A-D283DB396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62375"/>
            <a:ext cx="2381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B9D7E8"/>
            </a:solidFill>
            <a:prstDash val="solid"/>
          </a:ln>
        </p:spPr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55A1ED2D-E8BB-43D9-94BD-9BD5A871B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95725"/>
            <a:ext cx="207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7406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7406D"/>
                </a:solidFill>
                <a:latin typeface="微软雅黑"/>
                <a:ea typeface="微软雅黑"/>
                <a:cs typeface="微软雅黑"/>
              </a:rPr>
              <a:t>target SNR drop</a:t>
            </a:r>
          </a:p>
        </p:txBody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573234E9-59D9-4944-9885-0E3E4E38E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1950"/>
            <a:ext cx="207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67A8E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667A8E"/>
                </a:solidFill>
                <a:latin typeface="微软雅黑"/>
                <a:ea typeface="微软雅黑"/>
                <a:cs typeface="微软雅黑"/>
              </a:rPr>
              <a:t>验证坏目标降权</a:t>
            </a:r>
          </a:p>
        </p:txBody>
      </p:sp>
      <p:sp>
        <p:nvSpPr>
          <p:cNvPr id="24" name="圆角矩形 23">
            <a:extLst xmlns:a="http://schemas.openxmlformats.org/drawingml/2006/main">
              <a:ext uri="{FF2B5EF4-FFF2-40B4-BE49-F238E27FC236}">
                <a16:creationId xmlns:a16="http://schemas.microsoft.com/office/drawing/2014/main" id="{6C28052B-9BE3-416A-BD63-31F1B5ACE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762375"/>
            <a:ext cx="2381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D7E8"/>
            </a:solidFill>
            <a:prstDash val="solid"/>
          </a:ln>
        </p:spPr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B38BE033-FF93-498D-B42C-1427A23EF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895725"/>
            <a:ext cx="2076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7406D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7406D"/>
                </a:solidFill>
                <a:latin typeface="微软雅黑"/>
                <a:ea typeface="微软雅黑"/>
                <a:cs typeface="微软雅黑"/>
              </a:rPr>
              <a:t>车辆非平稳事件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D20F7A5C-7193-41FF-8DE6-11B1B79C0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171950"/>
            <a:ext cx="2076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67A8E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667A8E"/>
                </a:solidFill>
                <a:latin typeface="微软雅黑"/>
                <a:ea typeface="微软雅黑"/>
                <a:cs typeface="微软雅黑"/>
              </a:rPr>
              <a:t>验证完整闭环运行</a:t>
            </a:r>
          </a:p>
        </p:txBody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7A74EA79-93BD-4A09-BFB7-742D35181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25730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7406D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7406D"/>
                </a:solidFill>
                <a:latin typeface="微软雅黑"/>
                <a:ea typeface="微软雅黑"/>
                <a:cs typeface="微软雅黑"/>
              </a:rPr>
              <a:t>默认主对比方法</a:t>
            </a:r>
          </a:p>
        </p:txBody>
      </p:sp>
      <p:sp>
        <p:nvSpPr>
          <p:cNvPr id="28" name="圆角矩形 27">
            <a:extLst xmlns:a="http://schemas.openxmlformats.org/drawingml/2006/main">
              <a:ext uri="{FF2B5EF4-FFF2-40B4-BE49-F238E27FC236}">
                <a16:creationId xmlns:a16="http://schemas.microsoft.com/office/drawing/2014/main" id="{70D542DB-3746-4430-A62B-0B04F9D67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790700"/>
            <a:ext cx="395287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8FBFD"/>
          </a:solidFill>
          <a:ln xmlns:a="http://schemas.openxmlformats.org/drawingml/2006/main" w="10478">
            <a:solidFill>
              <a:srgbClr val="B9D7E8"/>
            </a:solidFill>
            <a:prstDash val="solid"/>
          </a:ln>
        </p:spPr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15A83ED4-B7D9-4090-91E4-FC9D5EF45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885950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406D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7406D"/>
                </a:solidFill>
                <a:latin typeface="微软雅黑"/>
                <a:ea typeface="微软雅黑"/>
                <a:cs typeface="微软雅黑"/>
              </a:rPr>
              <a:t>Range-bin Itoh</a:t>
            </a: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DE5FA907-735E-4B95-9845-8839BE367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114550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传统 range-bin phase + Itoh unwrap</a:t>
            </a:r>
          </a:p>
        </p:txBody>
      </p:sp>
      <p:sp>
        <p:nvSpPr>
          <p:cNvPr id="31" name="圆角矩形 30">
            <a:extLst xmlns:a="http://schemas.openxmlformats.org/drawingml/2006/main">
              <a:ext uri="{FF2B5EF4-FFF2-40B4-BE49-F238E27FC236}">
                <a16:creationId xmlns:a16="http://schemas.microsoft.com/office/drawing/2014/main" id="{DA166619-A52D-4B4B-A372-A635A96BA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581275"/>
            <a:ext cx="395287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8FBFD"/>
          </a:solidFill>
          <a:ln xmlns:a="http://schemas.openxmlformats.org/drawingml/2006/main" w="10478">
            <a:solidFill>
              <a:srgbClr val="B9D7E8"/>
            </a:solidFill>
            <a:prstDash val="solid"/>
          </a:ln>
        </p:spPr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BDEA2759-755B-4674-A789-12E75DFDE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676525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406D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7406D"/>
                </a:solidFill>
                <a:latin typeface="微软雅黑"/>
                <a:ea typeface="微软雅黑"/>
                <a:cs typeface="微软雅黑"/>
              </a:rPr>
              <a:t>Ma2026 reproduction</a:t>
            </a: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48D4D0FB-BF9F-48B2-953E-9FFED2B2B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905125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正式 Ma-family staged baseline</a:t>
            </a:r>
          </a:p>
        </p:txBody>
      </p:sp>
      <p:sp>
        <p:nvSpPr>
          <p:cNvPr id="34" name="圆角矩形 33">
            <a:extLst xmlns:a="http://schemas.openxmlformats.org/drawingml/2006/main">
              <a:ext uri="{FF2B5EF4-FFF2-40B4-BE49-F238E27FC236}">
                <a16:creationId xmlns:a16="http://schemas.microsoft.com/office/drawing/2014/main" id="{011371D6-9294-4FDA-984A-46069257A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3371850"/>
            <a:ext cx="395287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8FBFD"/>
          </a:solidFill>
          <a:ln xmlns:a="http://schemas.openxmlformats.org/drawingml/2006/main" w="10478">
            <a:solidFill>
              <a:srgbClr val="B9D7E8"/>
            </a:solidFill>
            <a:prstDash val="solid"/>
          </a:ln>
        </p:spPr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7954EE9D-F42B-4CD1-A352-81C1BECFA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467100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7406D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7406D"/>
                </a:solidFill>
                <a:latin typeface="微软雅黑"/>
                <a:ea typeface="微软雅黑"/>
                <a:cs typeface="微软雅黑"/>
              </a:rPr>
              <a:t>Selected AoA fixed coefficient</a:t>
            </a:r>
          </a:p>
        </p:txBody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E69A1376-AA2C-4254-B9E4-509A90164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695700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筛选 target + 固定 AoA 转换系数</a:t>
            </a:r>
          </a:p>
        </p:txBody>
      </p:sp>
      <p:sp>
        <p:nvSpPr>
          <p:cNvPr id="37" name="圆角矩形 36">
            <a:extLst xmlns:a="http://schemas.openxmlformats.org/drawingml/2006/main">
              <a:ext uri="{FF2B5EF4-FFF2-40B4-BE49-F238E27FC236}">
                <a16:creationId xmlns:a16="http://schemas.microsoft.com/office/drawing/2014/main" id="{25688544-9F92-4364-A3E4-D24B26E39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162425"/>
            <a:ext cx="3952875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E8F6FF"/>
          </a:solidFill>
          <a:ln xmlns:a="http://schemas.openxmlformats.org/drawingml/2006/main" w="10478">
            <a:solidFill>
              <a:srgbClr val="0F6FC6"/>
            </a:solidFill>
            <a:prstDash val="solid"/>
          </a:ln>
        </p:spPr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5411078E-69A0-448C-8BB7-D3269F7E8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257675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F6FC6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F6FC6"/>
                </a:solidFill>
                <a:latin typeface="微软雅黑"/>
                <a:ea typeface="微软雅黑"/>
                <a:cs typeface="微软雅黑"/>
              </a:rPr>
              <a:t>Proposed full pipeline</a:t>
            </a:r>
          </a:p>
        </p:txBody>
      </p: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C0C0A006-8C84-4F35-A0BF-AF6B1EB90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486275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本文完整链路</a:t>
            </a:r>
          </a:p>
        </p:txBody>
      </p:sp>
      <p:sp>
        <p:nvSpPr>
          <p:cNvPr id="40" name="圆角矩形 39">
            <a:extLst xmlns:a="http://schemas.openxmlformats.org/drawingml/2006/main">
              <a:ext uri="{FF2B5EF4-FFF2-40B4-BE49-F238E27FC236}">
                <a16:creationId xmlns:a16="http://schemas.microsoft.com/office/drawing/2014/main" id="{192CDDC8-EADD-4C10-BA7A-4A98B0307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715000"/>
            <a:ext cx="92392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7FBFE"/>
          </a:solidFill>
          <a:ln xmlns:a="http://schemas.openxmlformats.org/drawingml/2006/main" w="15240">
            <a:solidFill>
              <a:srgbClr val="F49100"/>
            </a:solidFill>
            <a:prstDash val="solid"/>
          </a:ln>
        </p:spPr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1249858E-390A-4941-8A62-46173AB15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715000"/>
            <a:ext cx="76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91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矩形 41">
            <a:extLst xmlns:a="http://schemas.openxmlformats.org/drawingml/2006/main">
              <a:ext uri="{FF2B5EF4-FFF2-40B4-BE49-F238E27FC236}">
                <a16:creationId xmlns:a16="http://schemas.microsoft.com/office/drawing/2014/main" id="{192FFF05-5E4D-4750-B997-6B266E397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848350"/>
            <a:ext cx="8934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边界：当前为算法级 synthetic ADC / Range-Angle 验证，不声称完成真实 IWR1843 ADC 实测闭环。</a:t>
            </a:r>
          </a:p>
        </p:txBody>
      </p:sp>
    </p:spTree>
    <p:extLst>
      <p:ext uri="{BB962C8B-B14F-4D97-AF65-F5344CB8AC3E}">
        <p14:creationId xmlns:p14="http://schemas.microsoft.com/office/powerpoint/2010/main" val="186003615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3A6CB414-82C0-48CC-8DF3-BC31B91ED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0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A17BE6F2-3CF6-4EB6-8250-6DFD6B553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D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7C7CAF2E-5073-4233-8C06-6F2C27532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406D"/>
                </a:solidFill>
                <a:latin typeface="黑体"/>
                <a:ea typeface="黑体"/>
                <a:cs typeface="黑体"/>
              </a:defRPr>
            </a:pPr>
            <a:r>
              <a:rPr sz="2700" b="1">
                <a:solidFill>
                  <a:srgbClr val="17406D"/>
                </a:solidFill>
                <a:latin typeface="黑体"/>
                <a:ea typeface="黑体"/>
                <a:cs typeface="黑体"/>
              </a:rPr>
              <a:t>实验结果：主场景 RMSE 对比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D8553DE4-D5E3-47B0-9AF5-F942812DB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191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rPr>
              <a:t>仿真验证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E76559F8-5F29-4733-9C13-16915C346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008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rPr>
              <a:t>17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C9B69963-8EA6-4F18-8E99-69734EFA5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04875"/>
            <a:ext cx="10858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96973020-137B-4E05-8995-0A4D7893D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81125"/>
            <a:ext cx="29527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06D"/>
          </a:solidFill>
          <a:ln xmlns:a="http://schemas.openxmlformats.org/drawingml/2006/main" w="9525">
            <a:solidFill>
              <a:srgbClr val="D2E4EF"/>
            </a:solidFill>
            <a:prstDash val="solid"/>
          </a:ln>
        </p:spPr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2B6C8FD2-F603-4E1A-8769-9BD9A392A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57325"/>
            <a:ext cx="28003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场景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A5C51C72-AC9E-43A4-ABE1-6D3DBAAA8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1381125"/>
            <a:ext cx="15240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06D"/>
          </a:solidFill>
          <a:ln xmlns:a="http://schemas.openxmlformats.org/drawingml/2006/main" w="9525">
            <a:solidFill>
              <a:srgbClr val="D2E4EF"/>
            </a:solidFill>
            <a:prstDash val="solid"/>
          </a:ln>
        </p:spPr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EA644C80-0708-4657-B936-ACD672D4E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1457325"/>
            <a:ext cx="13716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range-bin</a:t>
            </a:r>
          </a:p>
        </p:txBody>
      </p:sp>
      <p:sp>
        <p:nvSpPr>
          <p:cNvPr id="12" name="矩形 11">
            <a:extLst xmlns:a="http://schemas.openxmlformats.org/drawingml/2006/main">
              <a:ext uri="{FF2B5EF4-FFF2-40B4-BE49-F238E27FC236}">
                <a16:creationId xmlns:a16="http://schemas.microsoft.com/office/drawing/2014/main" id="{FF653DE0-2BB2-484F-86F0-661141564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381125"/>
            <a:ext cx="15240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06D"/>
          </a:solidFill>
          <a:ln xmlns:a="http://schemas.openxmlformats.org/drawingml/2006/main" w="9525">
            <a:solidFill>
              <a:srgbClr val="D2E4EF"/>
            </a:solidFill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3C5BEB94-3FDA-44F1-9DC0-FE0C623CC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1457325"/>
            <a:ext cx="13716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Ma2026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1FCEAE26-F1CE-4588-96D6-ECEE8B2D4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381125"/>
            <a:ext cx="15240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06D"/>
          </a:solidFill>
          <a:ln xmlns:a="http://schemas.openxmlformats.org/drawingml/2006/main" w="9525">
            <a:solidFill>
              <a:srgbClr val="D2E4EF"/>
            </a:solidFill>
            <a:prstDash val="solid"/>
          </a:ln>
        </p:spPr>
      </p:sp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30E6487D-D445-428D-9009-F9AA11E02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457325"/>
            <a:ext cx="13716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fixed coefficient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FC46C1D4-59B6-4D06-AF76-9D30A0F6A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381125"/>
            <a:ext cx="17145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06D"/>
          </a:solidFill>
          <a:ln xmlns:a="http://schemas.openxmlformats.org/drawingml/2006/main" w="9525">
            <a:solidFill>
              <a:srgbClr val="D2E4EF"/>
            </a:solidFill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20CF3667-7060-490A-B224-9F56107C9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457325"/>
            <a:ext cx="15621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本文方法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D642EF9F-7719-4CA9-836D-1C0FAB58C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62150"/>
            <a:ext cx="29527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E4EF"/>
            </a:solidFill>
            <a:prstDash val="solid"/>
          </a:ln>
        </p:spPr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EA00C342-CC2C-4601-95BC-2F752B85B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38350"/>
            <a:ext cx="28003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文献主频磁浮梁</a:t>
            </a:r>
          </a:p>
        </p:txBody>
      </p:sp>
      <p:sp>
        <p:nvSpPr>
          <p:cNvPr id="20" name="矩形 19">
            <a:extLst xmlns:a="http://schemas.openxmlformats.org/drawingml/2006/main">
              <a:ext uri="{FF2B5EF4-FFF2-40B4-BE49-F238E27FC236}">
                <a16:creationId xmlns:a16="http://schemas.microsoft.com/office/drawing/2014/main" id="{3EABC545-B569-4A7C-96BB-A1C77624E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1962150"/>
            <a:ext cx="15240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E4EF"/>
            </a:solidFill>
            <a:prstDash val="solid"/>
          </a:ln>
        </p:spPr>
      </p:sp>
      <p:sp>
        <p:nvSpPr>
          <p:cNvPr id="21" name="矩形 20">
            <a:extLst xmlns:a="http://schemas.openxmlformats.org/drawingml/2006/main">
              <a:ext uri="{FF2B5EF4-FFF2-40B4-BE49-F238E27FC236}">
                <a16:creationId xmlns:a16="http://schemas.microsoft.com/office/drawing/2014/main" id="{9B9C56BA-9A3A-4D0F-8AFF-FD7A07E1F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038350"/>
            <a:ext cx="13716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0.0136</a:t>
            </a:r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7F5426BB-5C87-4E11-B71D-1750648CB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962150"/>
            <a:ext cx="15240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E4EF"/>
            </a:solidFill>
            <a:prstDash val="solid"/>
          </a:ln>
        </p:spPr>
      </p:sp>
      <p:sp>
        <p:nvSpPr>
          <p:cNvPr id="23" name="矩形 22">
            <a:extLst xmlns:a="http://schemas.openxmlformats.org/drawingml/2006/main">
              <a:ext uri="{FF2B5EF4-FFF2-40B4-BE49-F238E27FC236}">
                <a16:creationId xmlns:a16="http://schemas.microsoft.com/office/drawing/2014/main" id="{3CAACC72-2DFC-4BA5-8245-2ABAF49C0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038350"/>
            <a:ext cx="13716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0.0122</a:t>
            </a:r>
          </a:p>
        </p:txBody>
      </p:sp>
      <p:sp>
        <p:nvSpPr>
          <p:cNvPr id="24" name="矩形 23">
            <a:extLst xmlns:a="http://schemas.openxmlformats.org/drawingml/2006/main">
              <a:ext uri="{FF2B5EF4-FFF2-40B4-BE49-F238E27FC236}">
                <a16:creationId xmlns:a16="http://schemas.microsoft.com/office/drawing/2014/main" id="{360B5C05-6202-483C-B488-420B286E9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962150"/>
            <a:ext cx="15240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E4EF"/>
            </a:solidFill>
            <a:prstDash val="solid"/>
          </a:ln>
        </p:spPr>
      </p:sp>
      <p:sp>
        <p:nvSpPr>
          <p:cNvPr id="25" name="矩形 24">
            <a:extLst xmlns:a="http://schemas.openxmlformats.org/drawingml/2006/main">
              <a:ext uri="{FF2B5EF4-FFF2-40B4-BE49-F238E27FC236}">
                <a16:creationId xmlns:a16="http://schemas.microsoft.com/office/drawing/2014/main" id="{9832B445-F177-4C59-B31D-D28B3C954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038350"/>
            <a:ext cx="13716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0.0589</a:t>
            </a:r>
          </a:p>
        </p:txBody>
      </p:sp>
      <p:sp>
        <p:nvSpPr>
          <p:cNvPr id="26" name="矩形 25">
            <a:extLst xmlns:a="http://schemas.openxmlformats.org/drawingml/2006/main">
              <a:ext uri="{FF2B5EF4-FFF2-40B4-BE49-F238E27FC236}">
                <a16:creationId xmlns:a16="http://schemas.microsoft.com/office/drawing/2014/main" id="{285A69F2-E9BA-429B-944B-A04FD38C0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962150"/>
            <a:ext cx="17145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6FF"/>
          </a:solidFill>
          <a:ln xmlns:a="http://schemas.openxmlformats.org/drawingml/2006/main" w="9525">
            <a:solidFill>
              <a:srgbClr val="D2E4EF"/>
            </a:solidFill>
            <a:prstDash val="solid"/>
          </a:ln>
        </p:spPr>
      </p:sp>
      <p:sp>
        <p:nvSpPr>
          <p:cNvPr id="27" name="矩形 26">
            <a:extLst xmlns:a="http://schemas.openxmlformats.org/drawingml/2006/main">
              <a:ext uri="{FF2B5EF4-FFF2-40B4-BE49-F238E27FC236}">
                <a16:creationId xmlns:a16="http://schemas.microsoft.com/office/drawing/2014/main" id="{CC45D99B-E1F0-4FE3-A307-DA8997FCC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038350"/>
            <a:ext cx="15621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7406D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17406D"/>
                </a:solidFill>
                <a:latin typeface="微软雅黑"/>
                <a:ea typeface="微软雅黑"/>
                <a:cs typeface="微软雅黑"/>
              </a:rPr>
              <a:t>0.0087</a:t>
            </a:r>
          </a:p>
        </p:txBody>
      </p:sp>
      <p:sp>
        <p:nvSpPr>
          <p:cNvPr id="28" name="矩形 27">
            <a:extLst xmlns:a="http://schemas.openxmlformats.org/drawingml/2006/main">
              <a:ext uri="{FF2B5EF4-FFF2-40B4-BE49-F238E27FC236}">
                <a16:creationId xmlns:a16="http://schemas.microsoft.com/office/drawing/2014/main" id="{B4F1FD55-75C0-4E12-A9B4-5E1FE2EC7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43175"/>
            <a:ext cx="29527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2E4EF"/>
            </a:solidFill>
            <a:prstDash val="solid"/>
          </a:ln>
        </p:spPr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617F65AC-7C09-424D-B488-ACD02351B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19375"/>
            <a:ext cx="28003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强相位缠绕</a:t>
            </a:r>
          </a:p>
        </p:txBody>
      </p:sp>
      <p:sp>
        <p:nvSpPr>
          <p:cNvPr id="30" name="矩形 29">
            <a:extLst xmlns:a="http://schemas.openxmlformats.org/drawingml/2006/main">
              <a:ext uri="{FF2B5EF4-FFF2-40B4-BE49-F238E27FC236}">
                <a16:creationId xmlns:a16="http://schemas.microsoft.com/office/drawing/2014/main" id="{67F60B9B-9E9F-423D-8EF7-F238E84B4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543175"/>
            <a:ext cx="15240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2E4EF"/>
            </a:solidFill>
            <a:prstDash val="solid"/>
          </a:ln>
        </p:spPr>
      </p:sp>
      <p:sp>
        <p:nvSpPr>
          <p:cNvPr id="31" name="矩形 30">
            <a:extLst xmlns:a="http://schemas.openxmlformats.org/drawingml/2006/main">
              <a:ext uri="{FF2B5EF4-FFF2-40B4-BE49-F238E27FC236}">
                <a16:creationId xmlns:a16="http://schemas.microsoft.com/office/drawing/2014/main" id="{EB5AB8AF-764C-47B4-8F3F-C00818639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619375"/>
            <a:ext cx="13716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5.5477</a:t>
            </a:r>
          </a:p>
        </p:txBody>
      </p:sp>
      <p:sp>
        <p:nvSpPr>
          <p:cNvPr id="32" name="矩形 31">
            <a:extLst xmlns:a="http://schemas.openxmlformats.org/drawingml/2006/main">
              <a:ext uri="{FF2B5EF4-FFF2-40B4-BE49-F238E27FC236}">
                <a16:creationId xmlns:a16="http://schemas.microsoft.com/office/drawing/2014/main" id="{2EE0A3B3-B94F-4B19-8684-3325AEE9A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543175"/>
            <a:ext cx="15240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2E4EF"/>
            </a:solidFill>
            <a:prstDash val="solid"/>
          </a:ln>
        </p:spPr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CCF943D2-BAEB-4021-9D61-D6BCC6000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619375"/>
            <a:ext cx="13716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0.0341</a:t>
            </a:r>
          </a:p>
        </p:txBody>
      </p:sp>
      <p:sp>
        <p:nvSpPr>
          <p:cNvPr id="34" name="矩形 33">
            <a:extLst xmlns:a="http://schemas.openxmlformats.org/drawingml/2006/main">
              <a:ext uri="{FF2B5EF4-FFF2-40B4-BE49-F238E27FC236}">
                <a16:creationId xmlns:a16="http://schemas.microsoft.com/office/drawing/2014/main" id="{3C927E73-9B28-471E-8CA3-158C500E1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543175"/>
            <a:ext cx="15240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2E4EF"/>
            </a:solidFill>
            <a:prstDash val="solid"/>
          </a:ln>
        </p:spPr>
      </p:sp>
      <p:sp>
        <p:nvSpPr>
          <p:cNvPr id="35" name="矩形 34">
            <a:extLst xmlns:a="http://schemas.openxmlformats.org/drawingml/2006/main">
              <a:ext uri="{FF2B5EF4-FFF2-40B4-BE49-F238E27FC236}">
                <a16:creationId xmlns:a16="http://schemas.microsoft.com/office/drawing/2014/main" id="{6D33EB8C-4C92-4B2D-AD9F-A95CD1161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619375"/>
            <a:ext cx="13716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12.3861</a:t>
            </a:r>
          </a:p>
        </p:txBody>
      </p:sp>
      <p:sp>
        <p:nvSpPr>
          <p:cNvPr id="36" name="矩形 35">
            <a:extLst xmlns:a="http://schemas.openxmlformats.org/drawingml/2006/main">
              <a:ext uri="{FF2B5EF4-FFF2-40B4-BE49-F238E27FC236}">
                <a16:creationId xmlns:a16="http://schemas.microsoft.com/office/drawing/2014/main" id="{E492349D-A498-4E23-A1EE-4957E0660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543175"/>
            <a:ext cx="17145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6FF"/>
          </a:solidFill>
          <a:ln xmlns:a="http://schemas.openxmlformats.org/drawingml/2006/main" w="9525">
            <a:solidFill>
              <a:srgbClr val="D2E4EF"/>
            </a:solidFill>
            <a:prstDash val="solid"/>
          </a:ln>
        </p:spPr>
      </p:sp>
      <p:sp>
        <p:nvSpPr>
          <p:cNvPr id="37" name="矩形 36">
            <a:extLst xmlns:a="http://schemas.openxmlformats.org/drawingml/2006/main">
              <a:ext uri="{FF2B5EF4-FFF2-40B4-BE49-F238E27FC236}">
                <a16:creationId xmlns:a16="http://schemas.microsoft.com/office/drawing/2014/main" id="{C2AE5BB5-AA45-4C4E-89D1-A341C0119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619375"/>
            <a:ext cx="15621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7406D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17406D"/>
                </a:solidFill>
                <a:latin typeface="微软雅黑"/>
                <a:ea typeface="微软雅黑"/>
                <a:cs typeface="微软雅黑"/>
              </a:rPr>
              <a:t>0.0143</a:t>
            </a:r>
          </a:p>
        </p:txBody>
      </p:sp>
      <p:sp>
        <p:nvSpPr>
          <p:cNvPr id="38" name="矩形 37">
            <a:extLst xmlns:a="http://schemas.openxmlformats.org/drawingml/2006/main">
              <a:ext uri="{FF2B5EF4-FFF2-40B4-BE49-F238E27FC236}">
                <a16:creationId xmlns:a16="http://schemas.microsoft.com/office/drawing/2014/main" id="{B8378623-1E36-4056-8AA0-EC6E4B7D4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24200"/>
            <a:ext cx="29527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E4EF"/>
            </a:solidFill>
            <a:prstDash val="solid"/>
          </a:ln>
        </p:spPr>
      </p:sp>
      <p:sp>
        <p:nvSpPr>
          <p:cNvPr id="39" name="矩形 38">
            <a:extLst xmlns:a="http://schemas.openxmlformats.org/drawingml/2006/main">
              <a:ext uri="{FF2B5EF4-FFF2-40B4-BE49-F238E27FC236}">
                <a16:creationId xmlns:a16="http://schemas.microsoft.com/office/drawing/2014/main" id="{AF4C0891-8B29-4ADC-BDB8-EA703E91A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00400"/>
            <a:ext cx="28003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同距离远角度</a:t>
            </a:r>
          </a:p>
        </p:txBody>
      </p:sp>
      <p:sp>
        <p:nvSpPr>
          <p:cNvPr id="40" name="矩形 39">
            <a:extLst xmlns:a="http://schemas.openxmlformats.org/drawingml/2006/main">
              <a:ext uri="{FF2B5EF4-FFF2-40B4-BE49-F238E27FC236}">
                <a16:creationId xmlns:a16="http://schemas.microsoft.com/office/drawing/2014/main" id="{F4DE7171-9C14-4BD0-85DE-EA1B7EA73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124200"/>
            <a:ext cx="15240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E4EF"/>
            </a:solidFill>
            <a:prstDash val="solid"/>
          </a:ln>
        </p:spPr>
      </p:sp>
      <p:sp>
        <p:nvSpPr>
          <p:cNvPr id="41" name="矩形 40">
            <a:extLst xmlns:a="http://schemas.openxmlformats.org/drawingml/2006/main">
              <a:ext uri="{FF2B5EF4-FFF2-40B4-BE49-F238E27FC236}">
                <a16:creationId xmlns:a16="http://schemas.microsoft.com/office/drawing/2014/main" id="{8D8FEB7C-3ED7-42D4-B53C-6198B6420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200400"/>
            <a:ext cx="13716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0.0745</a:t>
            </a:r>
          </a:p>
        </p:txBody>
      </p:sp>
      <p:sp>
        <p:nvSpPr>
          <p:cNvPr id="42" name="矩形 41">
            <a:extLst xmlns:a="http://schemas.openxmlformats.org/drawingml/2006/main">
              <a:ext uri="{FF2B5EF4-FFF2-40B4-BE49-F238E27FC236}">
                <a16:creationId xmlns:a16="http://schemas.microsoft.com/office/drawing/2014/main" id="{5869E84F-D873-47E4-BD43-20E1DEF43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124200"/>
            <a:ext cx="15240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E4EF"/>
            </a:solidFill>
            <a:prstDash val="solid"/>
          </a:ln>
        </p:spPr>
      </p:sp>
      <p:sp>
        <p:nvSpPr>
          <p:cNvPr id="43" name="矩形 42">
            <a:extLst xmlns:a="http://schemas.openxmlformats.org/drawingml/2006/main">
              <a:ext uri="{FF2B5EF4-FFF2-40B4-BE49-F238E27FC236}">
                <a16:creationId xmlns:a16="http://schemas.microsoft.com/office/drawing/2014/main" id="{DB54AD94-0EC4-4A0A-89B0-688580829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200400"/>
            <a:ext cx="13716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0.0906</a:t>
            </a:r>
          </a:p>
        </p:txBody>
      </p:sp>
      <p:sp>
        <p:nvSpPr>
          <p:cNvPr id="44" name="矩形 43">
            <a:extLst xmlns:a="http://schemas.openxmlformats.org/drawingml/2006/main">
              <a:ext uri="{FF2B5EF4-FFF2-40B4-BE49-F238E27FC236}">
                <a16:creationId xmlns:a16="http://schemas.microsoft.com/office/drawing/2014/main" id="{B1358932-56B7-4155-8CDA-5D74C076A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124200"/>
            <a:ext cx="15240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E4EF"/>
            </a:solidFill>
            <a:prstDash val="solid"/>
          </a:ln>
        </p:spPr>
      </p:sp>
      <p:sp>
        <p:nvSpPr>
          <p:cNvPr id="45" name="矩形 44">
            <a:extLst xmlns:a="http://schemas.openxmlformats.org/drawingml/2006/main">
              <a:ext uri="{FF2B5EF4-FFF2-40B4-BE49-F238E27FC236}">
                <a16:creationId xmlns:a16="http://schemas.microsoft.com/office/drawing/2014/main" id="{A5FBCE72-E8F4-4D69-BA09-3AD86381A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200400"/>
            <a:ext cx="13716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0.0514</a:t>
            </a:r>
          </a:p>
        </p:txBody>
      </p:sp>
      <p:sp>
        <p:nvSpPr>
          <p:cNvPr id="46" name="矩形 45">
            <a:extLst xmlns:a="http://schemas.openxmlformats.org/drawingml/2006/main">
              <a:ext uri="{FF2B5EF4-FFF2-40B4-BE49-F238E27FC236}">
                <a16:creationId xmlns:a16="http://schemas.microsoft.com/office/drawing/2014/main" id="{B791D298-FB2D-44E9-BC63-AD1B30216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124200"/>
            <a:ext cx="17145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6FF"/>
          </a:solidFill>
          <a:ln xmlns:a="http://schemas.openxmlformats.org/drawingml/2006/main" w="9525">
            <a:solidFill>
              <a:srgbClr val="D2E4EF"/>
            </a:solidFill>
            <a:prstDash val="solid"/>
          </a:ln>
        </p:spPr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045C19CA-5CC9-4F7D-83F8-D44A0F067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200400"/>
            <a:ext cx="15621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7406D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17406D"/>
                </a:solidFill>
                <a:latin typeface="微软雅黑"/>
                <a:ea typeface="微软雅黑"/>
                <a:cs typeface="微软雅黑"/>
              </a:rPr>
              <a:t>0.0140</a:t>
            </a:r>
          </a:p>
        </p:txBody>
      </p:sp>
      <p:sp>
        <p:nvSpPr>
          <p:cNvPr id="48" name="矩形 47">
            <a:extLst xmlns:a="http://schemas.openxmlformats.org/drawingml/2006/main">
              <a:ext uri="{FF2B5EF4-FFF2-40B4-BE49-F238E27FC236}">
                <a16:creationId xmlns:a16="http://schemas.microsoft.com/office/drawing/2014/main" id="{C8FFB6ED-AF13-4409-8217-984AF510D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05225"/>
            <a:ext cx="29527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2E4EF"/>
            </a:solidFill>
            <a:prstDash val="solid"/>
          </a:ln>
        </p:spPr>
      </p:sp>
      <p:sp>
        <p:nvSpPr>
          <p:cNvPr id="49" name="矩形 48">
            <a:extLst xmlns:a="http://schemas.openxmlformats.org/drawingml/2006/main">
              <a:ext uri="{FF2B5EF4-FFF2-40B4-BE49-F238E27FC236}">
                <a16:creationId xmlns:a16="http://schemas.microsoft.com/office/drawing/2014/main" id="{C77C29A6-BFD0-4A90-BC02-930849C1A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81425"/>
            <a:ext cx="28003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AoA 初值误差</a:t>
            </a:r>
          </a:p>
        </p:txBody>
      </p:sp>
      <p:sp>
        <p:nvSpPr>
          <p:cNvPr id="50" name="矩形 49">
            <a:extLst xmlns:a="http://schemas.openxmlformats.org/drawingml/2006/main">
              <a:ext uri="{FF2B5EF4-FFF2-40B4-BE49-F238E27FC236}">
                <a16:creationId xmlns:a16="http://schemas.microsoft.com/office/drawing/2014/main" id="{D7D60BAC-7D5B-456C-8854-D1EC8E085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705225"/>
            <a:ext cx="15240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2E4EF"/>
            </a:solidFill>
            <a:prstDash val="solid"/>
          </a:ln>
        </p:spPr>
      </p:sp>
      <p:sp>
        <p:nvSpPr>
          <p:cNvPr id="51" name="矩形 50">
            <a:extLst xmlns:a="http://schemas.openxmlformats.org/drawingml/2006/main">
              <a:ext uri="{FF2B5EF4-FFF2-40B4-BE49-F238E27FC236}">
                <a16:creationId xmlns:a16="http://schemas.microsoft.com/office/drawing/2014/main" id="{3FE0A3B1-4270-433D-9FD5-3DA326F5E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781425"/>
            <a:ext cx="13716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0.0167</a:t>
            </a:r>
          </a:p>
        </p:txBody>
      </p:sp>
      <p:sp>
        <p:nvSpPr>
          <p:cNvPr id="52" name="矩形 51">
            <a:extLst xmlns:a="http://schemas.openxmlformats.org/drawingml/2006/main">
              <a:ext uri="{FF2B5EF4-FFF2-40B4-BE49-F238E27FC236}">
                <a16:creationId xmlns:a16="http://schemas.microsoft.com/office/drawing/2014/main" id="{5AF963E2-8A24-4F7D-B125-43F7075CE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705225"/>
            <a:ext cx="15240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2E4EF"/>
            </a:solidFill>
            <a:prstDash val="solid"/>
          </a:ln>
        </p:spPr>
      </p:sp>
      <p:sp>
        <p:nvSpPr>
          <p:cNvPr id="53" name="矩形 52">
            <a:extLst xmlns:a="http://schemas.openxmlformats.org/drawingml/2006/main">
              <a:ext uri="{FF2B5EF4-FFF2-40B4-BE49-F238E27FC236}">
                <a16:creationId xmlns:a16="http://schemas.microsoft.com/office/drawing/2014/main" id="{CB6D7D89-F1E2-430E-95CA-87A2D3C23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781425"/>
            <a:ext cx="13716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0.0386</a:t>
            </a:r>
          </a:p>
        </p:txBody>
      </p:sp>
      <p:sp>
        <p:nvSpPr>
          <p:cNvPr id="54" name="矩形 53">
            <a:extLst xmlns:a="http://schemas.openxmlformats.org/drawingml/2006/main">
              <a:ext uri="{FF2B5EF4-FFF2-40B4-BE49-F238E27FC236}">
                <a16:creationId xmlns:a16="http://schemas.microsoft.com/office/drawing/2014/main" id="{5D8F8871-3C8E-47BB-B42C-5897F3002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705225"/>
            <a:ext cx="15240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2E4EF"/>
            </a:solidFill>
            <a:prstDash val="solid"/>
          </a:ln>
        </p:spPr>
      </p:sp>
      <p:sp>
        <p:nvSpPr>
          <p:cNvPr id="55" name="矩形 54">
            <a:extLst xmlns:a="http://schemas.openxmlformats.org/drawingml/2006/main">
              <a:ext uri="{FF2B5EF4-FFF2-40B4-BE49-F238E27FC236}">
                <a16:creationId xmlns:a16="http://schemas.microsoft.com/office/drawing/2014/main" id="{97A78A56-712F-41B9-ABF3-E3285FAC3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781425"/>
            <a:ext cx="13716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0.0540</a:t>
            </a:r>
          </a:p>
        </p:txBody>
      </p:sp>
      <p:sp>
        <p:nvSpPr>
          <p:cNvPr id="56" name="矩形 55">
            <a:extLst xmlns:a="http://schemas.openxmlformats.org/drawingml/2006/main">
              <a:ext uri="{FF2B5EF4-FFF2-40B4-BE49-F238E27FC236}">
                <a16:creationId xmlns:a16="http://schemas.microsoft.com/office/drawing/2014/main" id="{42C6E218-968E-4A5D-8606-A59714B1D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705225"/>
            <a:ext cx="17145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6FF"/>
          </a:solidFill>
          <a:ln xmlns:a="http://schemas.openxmlformats.org/drawingml/2006/main" w="9525">
            <a:solidFill>
              <a:srgbClr val="D2E4EF"/>
            </a:solidFill>
            <a:prstDash val="solid"/>
          </a:ln>
        </p:spPr>
      </p:sp>
      <p:sp>
        <p:nvSpPr>
          <p:cNvPr id="57" name="矩形 56">
            <a:extLst xmlns:a="http://schemas.openxmlformats.org/drawingml/2006/main">
              <a:ext uri="{FF2B5EF4-FFF2-40B4-BE49-F238E27FC236}">
                <a16:creationId xmlns:a16="http://schemas.microsoft.com/office/drawing/2014/main" id="{D34A6955-4AAA-4EA0-9CEB-0E10DDE36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781425"/>
            <a:ext cx="15621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7406D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17406D"/>
                </a:solidFill>
                <a:latin typeface="微软雅黑"/>
                <a:ea typeface="微软雅黑"/>
                <a:cs typeface="微软雅黑"/>
              </a:rPr>
              <a:t>0.0153</a:t>
            </a:r>
          </a:p>
        </p:txBody>
      </p:sp>
      <p:sp>
        <p:nvSpPr>
          <p:cNvPr id="58" name="矩形 57">
            <a:extLst xmlns:a="http://schemas.openxmlformats.org/drawingml/2006/main">
              <a:ext uri="{FF2B5EF4-FFF2-40B4-BE49-F238E27FC236}">
                <a16:creationId xmlns:a16="http://schemas.microsoft.com/office/drawing/2014/main" id="{57CFB313-B86F-4353-B792-72E653E01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286250"/>
            <a:ext cx="29527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E4EF"/>
            </a:solidFill>
            <a:prstDash val="solid"/>
          </a:ln>
        </p:spPr>
      </p:sp>
      <p:sp>
        <p:nvSpPr>
          <p:cNvPr id="59" name="矩形 58">
            <a:extLst xmlns:a="http://schemas.openxmlformats.org/drawingml/2006/main">
              <a:ext uri="{FF2B5EF4-FFF2-40B4-BE49-F238E27FC236}">
                <a16:creationId xmlns:a16="http://schemas.microsoft.com/office/drawing/2014/main" id="{55B0334E-AE0D-487D-BED9-8D0F035F1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62450"/>
            <a:ext cx="28003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target SNR 下降</a:t>
            </a:r>
          </a:p>
        </p:txBody>
      </p:sp>
      <p:sp>
        <p:nvSpPr>
          <p:cNvPr id="60" name="矩形 59">
            <a:extLst xmlns:a="http://schemas.openxmlformats.org/drawingml/2006/main">
              <a:ext uri="{FF2B5EF4-FFF2-40B4-BE49-F238E27FC236}">
                <a16:creationId xmlns:a16="http://schemas.microsoft.com/office/drawing/2014/main" id="{9088F104-41E4-4892-8E91-0AFC7C6EB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286250"/>
            <a:ext cx="15240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E4EF"/>
            </a:solidFill>
            <a:prstDash val="solid"/>
          </a:ln>
        </p:spPr>
      </p:sp>
      <p:sp>
        <p:nvSpPr>
          <p:cNvPr id="61" name="矩形 60">
            <a:extLst xmlns:a="http://schemas.openxmlformats.org/drawingml/2006/main">
              <a:ext uri="{FF2B5EF4-FFF2-40B4-BE49-F238E27FC236}">
                <a16:creationId xmlns:a16="http://schemas.microsoft.com/office/drawing/2014/main" id="{BD9FB54F-3D4B-4073-8C83-0F9952E96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362450"/>
            <a:ext cx="13716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2.4951</a:t>
            </a:r>
          </a:p>
        </p:txBody>
      </p:sp>
      <p:sp>
        <p:nvSpPr>
          <p:cNvPr id="62" name="矩形 61">
            <a:extLst xmlns:a="http://schemas.openxmlformats.org/drawingml/2006/main">
              <a:ext uri="{FF2B5EF4-FFF2-40B4-BE49-F238E27FC236}">
                <a16:creationId xmlns:a16="http://schemas.microsoft.com/office/drawing/2014/main" id="{EF42CBBC-658E-4252-88F9-ED5779CD7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286250"/>
            <a:ext cx="15240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E4EF"/>
            </a:solidFill>
            <a:prstDash val="solid"/>
          </a:ln>
        </p:spPr>
      </p:sp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A40978CE-DA2D-4473-9B31-F0FB914CA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362450"/>
            <a:ext cx="13716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0.1777</a:t>
            </a:r>
          </a:p>
        </p:txBody>
      </p:sp>
      <p:sp>
        <p:nvSpPr>
          <p:cNvPr id="64" name="矩形 63">
            <a:extLst xmlns:a="http://schemas.openxmlformats.org/drawingml/2006/main">
              <a:ext uri="{FF2B5EF4-FFF2-40B4-BE49-F238E27FC236}">
                <a16:creationId xmlns:a16="http://schemas.microsoft.com/office/drawing/2014/main" id="{CAE1C0C7-8777-4621-8F25-F31C4BD62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286250"/>
            <a:ext cx="15240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E4EF"/>
            </a:solidFill>
            <a:prstDash val="solid"/>
          </a:ln>
        </p:spPr>
      </p:sp>
      <p:sp>
        <p:nvSpPr>
          <p:cNvPr id="65" name="矩形 64">
            <a:extLst xmlns:a="http://schemas.openxmlformats.org/drawingml/2006/main">
              <a:ext uri="{FF2B5EF4-FFF2-40B4-BE49-F238E27FC236}">
                <a16:creationId xmlns:a16="http://schemas.microsoft.com/office/drawing/2014/main" id="{0027D65B-1EF0-4A1B-949B-A19FAD786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362450"/>
            <a:ext cx="13716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0.0773</a:t>
            </a:r>
          </a:p>
        </p:txBody>
      </p:sp>
      <p:sp>
        <p:nvSpPr>
          <p:cNvPr id="66" name="矩形 65">
            <a:extLst xmlns:a="http://schemas.openxmlformats.org/drawingml/2006/main">
              <a:ext uri="{FF2B5EF4-FFF2-40B4-BE49-F238E27FC236}">
                <a16:creationId xmlns:a16="http://schemas.microsoft.com/office/drawing/2014/main" id="{09AB23C5-4214-4929-A7E6-ED2EAB497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286250"/>
            <a:ext cx="17145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6FF"/>
          </a:solidFill>
          <a:ln xmlns:a="http://schemas.openxmlformats.org/drawingml/2006/main" w="9525">
            <a:solidFill>
              <a:srgbClr val="D2E4EF"/>
            </a:solidFill>
            <a:prstDash val="solid"/>
          </a:ln>
        </p:spPr>
      </p:sp>
      <p:sp>
        <p:nvSpPr>
          <p:cNvPr id="67" name="矩形 66">
            <a:extLst xmlns:a="http://schemas.openxmlformats.org/drawingml/2006/main">
              <a:ext uri="{FF2B5EF4-FFF2-40B4-BE49-F238E27FC236}">
                <a16:creationId xmlns:a16="http://schemas.microsoft.com/office/drawing/2014/main" id="{038A8884-A409-47B8-8F41-2769FA038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362450"/>
            <a:ext cx="15621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7406D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17406D"/>
                </a:solidFill>
                <a:latin typeface="微软雅黑"/>
                <a:ea typeface="微软雅黑"/>
                <a:cs typeface="微软雅黑"/>
              </a:rPr>
              <a:t>0.0604</a:t>
            </a:r>
          </a:p>
        </p:txBody>
      </p:sp>
      <p:sp>
        <p:nvSpPr>
          <p:cNvPr id="68" name="矩形 67">
            <a:extLst xmlns:a="http://schemas.openxmlformats.org/drawingml/2006/main">
              <a:ext uri="{FF2B5EF4-FFF2-40B4-BE49-F238E27FC236}">
                <a16:creationId xmlns:a16="http://schemas.microsoft.com/office/drawing/2014/main" id="{CADB1830-25E2-45CF-BE4D-D31F08D44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67275"/>
            <a:ext cx="295275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2E4EF"/>
            </a:solidFill>
            <a:prstDash val="solid"/>
          </a:ln>
        </p:spPr>
      </p:sp>
      <p:sp>
        <p:nvSpPr>
          <p:cNvPr id="69" name="矩形 68">
            <a:extLst xmlns:a="http://schemas.openxmlformats.org/drawingml/2006/main">
              <a:ext uri="{FF2B5EF4-FFF2-40B4-BE49-F238E27FC236}">
                <a16:creationId xmlns:a16="http://schemas.microsoft.com/office/drawing/2014/main" id="{9D8D487B-C9C5-47C9-981A-C3CAF6DBD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943475"/>
            <a:ext cx="280035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车辆事件</a:t>
            </a:r>
          </a:p>
        </p:txBody>
      </p:sp>
      <p:sp>
        <p:nvSpPr>
          <p:cNvPr id="70" name="矩形 69">
            <a:extLst xmlns:a="http://schemas.openxmlformats.org/drawingml/2006/main">
              <a:ext uri="{FF2B5EF4-FFF2-40B4-BE49-F238E27FC236}">
                <a16:creationId xmlns:a16="http://schemas.microsoft.com/office/drawing/2014/main" id="{E7920CF9-61F0-45B0-B336-CB844EF2C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4867275"/>
            <a:ext cx="15240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2E4EF"/>
            </a:solidFill>
            <a:prstDash val="solid"/>
          </a:ln>
        </p:spPr>
      </p:sp>
      <p:sp>
        <p:nvSpPr>
          <p:cNvPr id="71" name="矩形 70">
            <a:extLst xmlns:a="http://schemas.openxmlformats.org/drawingml/2006/main">
              <a:ext uri="{FF2B5EF4-FFF2-40B4-BE49-F238E27FC236}">
                <a16:creationId xmlns:a16="http://schemas.microsoft.com/office/drawing/2014/main" id="{1ADCA33A-D6EB-4C28-8D4E-2F632F916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943475"/>
            <a:ext cx="13716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0.0224</a:t>
            </a:r>
          </a:p>
        </p:txBody>
      </p:sp>
      <p:sp>
        <p:nvSpPr>
          <p:cNvPr id="72" name="矩形 71">
            <a:extLst xmlns:a="http://schemas.openxmlformats.org/drawingml/2006/main">
              <a:ext uri="{FF2B5EF4-FFF2-40B4-BE49-F238E27FC236}">
                <a16:creationId xmlns:a16="http://schemas.microsoft.com/office/drawing/2014/main" id="{A3157BCB-B5A4-4BA4-81DE-86478A55A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867275"/>
            <a:ext cx="15240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2E4EF"/>
            </a:solidFill>
            <a:prstDash val="solid"/>
          </a:ln>
        </p:spPr>
      </p:sp>
      <p:sp>
        <p:nvSpPr>
          <p:cNvPr id="73" name="矩形 72">
            <a:extLst xmlns:a="http://schemas.openxmlformats.org/drawingml/2006/main">
              <a:ext uri="{FF2B5EF4-FFF2-40B4-BE49-F238E27FC236}">
                <a16:creationId xmlns:a16="http://schemas.microsoft.com/office/drawing/2014/main" id="{3C839E35-E09E-4E5E-951E-1B2E35148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943475"/>
            <a:ext cx="13716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0.0354</a:t>
            </a:r>
          </a:p>
        </p:txBody>
      </p:sp>
      <p:sp>
        <p:nvSpPr>
          <p:cNvPr id="74" name="矩形 73">
            <a:extLst xmlns:a="http://schemas.openxmlformats.org/drawingml/2006/main">
              <a:ext uri="{FF2B5EF4-FFF2-40B4-BE49-F238E27FC236}">
                <a16:creationId xmlns:a16="http://schemas.microsoft.com/office/drawing/2014/main" id="{3B29B17C-635B-4CDC-AEC4-C283F0FCA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867275"/>
            <a:ext cx="15240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E"/>
          </a:solidFill>
          <a:ln xmlns:a="http://schemas.openxmlformats.org/drawingml/2006/main" w="9525">
            <a:solidFill>
              <a:srgbClr val="D2E4EF"/>
            </a:solidFill>
            <a:prstDash val="solid"/>
          </a:ln>
        </p:spPr>
      </p:sp>
      <p:sp>
        <p:nvSpPr>
          <p:cNvPr id="75" name="矩形 74">
            <a:extLst xmlns:a="http://schemas.openxmlformats.org/drawingml/2006/main">
              <a:ext uri="{FF2B5EF4-FFF2-40B4-BE49-F238E27FC236}">
                <a16:creationId xmlns:a16="http://schemas.microsoft.com/office/drawing/2014/main" id="{F53E62FB-8B5A-46BE-8C8F-811776CA8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943475"/>
            <a:ext cx="13716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0.0295</a:t>
            </a:r>
          </a:p>
        </p:txBody>
      </p:sp>
      <p:sp>
        <p:nvSpPr>
          <p:cNvPr id="76" name="矩形 75">
            <a:extLst xmlns:a="http://schemas.openxmlformats.org/drawingml/2006/main">
              <a:ext uri="{FF2B5EF4-FFF2-40B4-BE49-F238E27FC236}">
                <a16:creationId xmlns:a16="http://schemas.microsoft.com/office/drawing/2014/main" id="{077F2FF1-5275-4E4C-9F33-4DA009C03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867275"/>
            <a:ext cx="17145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6FF"/>
          </a:solidFill>
          <a:ln xmlns:a="http://schemas.openxmlformats.org/drawingml/2006/main" w="9525">
            <a:solidFill>
              <a:srgbClr val="D2E4EF"/>
            </a:solidFill>
            <a:prstDash val="solid"/>
          </a:ln>
        </p:spPr>
      </p:sp>
      <p:sp>
        <p:nvSpPr>
          <p:cNvPr id="77" name="矩形 76">
            <a:extLst xmlns:a="http://schemas.openxmlformats.org/drawingml/2006/main">
              <a:ext uri="{FF2B5EF4-FFF2-40B4-BE49-F238E27FC236}">
                <a16:creationId xmlns:a16="http://schemas.microsoft.com/office/drawing/2014/main" id="{810D8FB5-AAC4-4F89-9E81-28C74EDBE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943475"/>
            <a:ext cx="1562100" cy="466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17406D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17406D"/>
                </a:solidFill>
                <a:latin typeface="微软雅黑"/>
                <a:ea typeface="微软雅黑"/>
                <a:cs typeface="微软雅黑"/>
              </a:rPr>
              <a:t>0.0143</a:t>
            </a:r>
          </a:p>
        </p:txBody>
      </p:sp>
      <p:sp>
        <p:nvSpPr>
          <p:cNvPr id="78" name="矩形 77">
            <a:extLst xmlns:a="http://schemas.openxmlformats.org/drawingml/2006/main">
              <a:ext uri="{FF2B5EF4-FFF2-40B4-BE49-F238E27FC236}">
                <a16:creationId xmlns:a16="http://schemas.microsoft.com/office/drawing/2014/main" id="{6BD3BB7A-E9B0-4C6A-9619-893C10938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19750"/>
            <a:ext cx="552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667A8E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667A8E"/>
                </a:solidFill>
                <a:latin typeface="微软雅黑"/>
                <a:ea typeface="微软雅黑"/>
                <a:cs typeface="微软雅黑"/>
              </a:rPr>
              <a:t>单位：mm；数值越小表示相对位移估计误差越低。</a:t>
            </a:r>
          </a:p>
        </p:txBody>
      </p:sp>
      <p:sp>
        <p:nvSpPr>
          <p:cNvPr id="79" name="圆角矩形 78">
            <a:extLst xmlns:a="http://schemas.openxmlformats.org/drawingml/2006/main">
              <a:ext uri="{FF2B5EF4-FFF2-40B4-BE49-F238E27FC236}">
                <a16:creationId xmlns:a16="http://schemas.microsoft.com/office/drawing/2014/main" id="{412A44C6-9A4A-411E-934D-2B65C5AB1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476875"/>
            <a:ext cx="49530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7FBFE"/>
          </a:solidFill>
          <a:ln xmlns:a="http://schemas.openxmlformats.org/drawingml/2006/main" w="15240">
            <a:solidFill>
              <a:srgbClr val="0F6FC6"/>
            </a:solidFill>
            <a:prstDash val="solid"/>
          </a:ln>
        </p:spPr>
      </p:sp>
      <p:sp>
        <p:nvSpPr>
          <p:cNvPr id="80" name="矩形 79">
            <a:extLst xmlns:a="http://schemas.openxmlformats.org/drawingml/2006/main">
              <a:ext uri="{FF2B5EF4-FFF2-40B4-BE49-F238E27FC236}">
                <a16:creationId xmlns:a16="http://schemas.microsoft.com/office/drawing/2014/main" id="{AF985A1E-E2E1-40E3-9A11-652E61E0D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476875"/>
            <a:ext cx="762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6F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C86E9C5E-33F5-4470-ACD3-95CA561B4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5648325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观察：本文方法在强 wrapping、同 range 远角度、AoA 初值误差和车辆事件等关键场景均保持低误差。</a:t>
            </a:r>
          </a:p>
        </p:txBody>
      </p:sp>
    </p:spTree>
    <p:extLst>
      <p:ext uri="{BB962C8B-B14F-4D97-AF65-F5344CB8AC3E}">
        <p14:creationId xmlns:p14="http://schemas.microsoft.com/office/powerpoint/2010/main" val="211387660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5094DA48-E9DC-4E80-97D7-3DE5AB525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0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37331D13-F3E7-4F96-8DBC-1B67905AF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D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D529CE25-6AD4-4652-AD66-2B9DA3EF9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406D"/>
                </a:solidFill>
                <a:latin typeface="黑体"/>
                <a:ea typeface="黑体"/>
                <a:cs typeface="黑体"/>
              </a:defRPr>
            </a:pPr>
            <a:r>
              <a:rPr sz="2700" b="1">
                <a:solidFill>
                  <a:srgbClr val="17406D"/>
                </a:solidFill>
                <a:latin typeface="黑体"/>
                <a:ea typeface="黑体"/>
                <a:cs typeface="黑体"/>
              </a:rPr>
              <a:t>仿真数据：时域与频域响应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64459AD8-96DA-42E6-8F51-ADA564309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191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rPr>
              <a:t>仿真验证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A7F71E7F-01A0-472B-BA9A-F6BC45516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008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rPr>
              <a:t>18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306DDA98-943B-4EA2-8693-C763456BF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04875"/>
            <a:ext cx="10858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3514CAB1-DE34-4C0B-B8D0-EFCE7023F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2573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025" b="1">
                <a:solidFill>
                  <a:srgbClr val="17406D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17406D"/>
                </a:solidFill>
                <a:latin typeface="微软雅黑"/>
                <a:ea typeface="微软雅黑"/>
                <a:cs typeface="微软雅黑"/>
              </a:rPr>
              <a:t>车辆非平稳事件场景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C5E9543D-467E-480A-B9C9-DF8039725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57350"/>
            <a:ext cx="809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用于检查真值位移是否具有静止起始、弱振动起振、车辆事件主响应和非平稳频谱特征。</a:t>
            </a:r>
          </a:p>
        </p:txBody>
      </p:sp>
      <p:sp>
        <p:nvSpPr>
          <p:cNvPr id="10" name="圆角矩形 9">
            <a:extLst xmlns:a="http://schemas.openxmlformats.org/drawingml/2006/main">
              <a:ext uri="{FF2B5EF4-FFF2-40B4-BE49-F238E27FC236}">
                <a16:creationId xmlns:a16="http://schemas.microsoft.com/office/drawing/2014/main" id="{D39DFF35-33EE-4A49-9C9A-77C114DBC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43125"/>
            <a:ext cx="50482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8F2"/>
            </a:solidFill>
            <a:prstDash val="solid"/>
          </a:ln>
        </p:spPr>
      </p:sp>
      <p:sp>
        <p:nvSpPr>
          <p:cNvPr id="11" name="圆角矩形 10">
            <a:extLst xmlns:a="http://schemas.openxmlformats.org/drawingml/2006/main">
              <a:ext uri="{FF2B5EF4-FFF2-40B4-BE49-F238E27FC236}">
                <a16:creationId xmlns:a16="http://schemas.microsoft.com/office/drawing/2014/main" id="{D0CAF90F-E507-46B3-A410-513A8077A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143125"/>
            <a:ext cx="504825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8F2"/>
            </a:solidFill>
            <a:prstDash val="solid"/>
          </a:ln>
        </p:spPr>
      </p:sp>
      <p:pic>
        <p:nvPicPr>
          <p:cNvPr id="30" name="图片 2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9d7074ad1347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14400" y="2481957"/>
            <a:ext cx="4781550" cy="2141736"/>
          </a:xfrm>
          <a:prstGeom xmlns:a="http://schemas.openxmlformats.org/drawingml/2006/main" prst="rect">
            <a:avLst/>
          </a:prstGeom>
        </p:spPr>
      </p:pic>
      <p:pic>
        <p:nvPicPr>
          <p:cNvPr id="31" name="图片 3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4406d3742b4c8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67475" y="2481957"/>
            <a:ext cx="4781550" cy="2141736"/>
          </a:xfrm>
          <a:prstGeom xmlns:a="http://schemas.openxmlformats.org/drawingml/2006/main" prst="rect">
            <a:avLst/>
          </a:prstGeom>
        </p:spPr>
      </p:pic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894B95B9-3228-4240-87F5-A97D66492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143500"/>
            <a:ext cx="457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406D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17406D"/>
                </a:solidFill>
                <a:latin typeface="微软雅黑"/>
                <a:ea typeface="微软雅黑"/>
                <a:cs typeface="微软雅黑"/>
              </a:rPr>
              <a:t>时域位移：由静止段逐步进入车辆事件响应</a:t>
            </a:r>
          </a:p>
        </p:txBody>
      </p:sp>
      <p:sp>
        <p:nvSpPr>
          <p:cNvPr id="14" name="矩形 13">
            <a:extLst xmlns:a="http://schemas.openxmlformats.org/drawingml/2006/main">
              <a:ext uri="{FF2B5EF4-FFF2-40B4-BE49-F238E27FC236}">
                <a16:creationId xmlns:a16="http://schemas.microsoft.com/office/drawing/2014/main" id="{C9E3110E-D767-47C8-AAD0-796F4F079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5143500"/>
            <a:ext cx="4572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406D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17406D"/>
                </a:solidFill>
                <a:latin typeface="微软雅黑"/>
                <a:ea typeface="微软雅黑"/>
                <a:cs typeface="微软雅黑"/>
              </a:rPr>
              <a:t>频域位移：主响应频带与非平稳包络共同形成谱峰/泄漏</a:t>
            </a:r>
          </a:p>
        </p:txBody>
      </p:sp>
      <p:sp>
        <p:nvSpPr>
          <p:cNvPr id="15" name="圆角矩形 14">
            <a:extLst xmlns:a="http://schemas.openxmlformats.org/drawingml/2006/main">
              <a:ext uri="{FF2B5EF4-FFF2-40B4-BE49-F238E27FC236}">
                <a16:creationId xmlns:a16="http://schemas.microsoft.com/office/drawing/2014/main" id="{DC5F3A58-C52E-4499-8A7B-39696483D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810250"/>
            <a:ext cx="8905875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7FBFE"/>
          </a:solidFill>
          <a:ln xmlns:a="http://schemas.openxmlformats.org/drawingml/2006/main" w="15240">
            <a:solidFill>
              <a:srgbClr val="009DD9"/>
            </a:solidFill>
            <a:prstDash val="solid"/>
          </a:ln>
        </p:spPr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FE79D1F9-31E8-4D2E-9EF8-F9F8F43A9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5810250"/>
            <a:ext cx="762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D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0B1A3CCF-F0BF-4075-AF84-E56BCEBCC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943600"/>
            <a:ext cx="86010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16324F"/>
                </a:solidFill>
                <a:latin typeface="微软雅黑"/>
                <a:ea typeface="微软雅黑"/>
                <a:cs typeface="微软雅黑"/>
              </a:rPr>
              <a:t>这页只展示仿真输入数据形态；算法效果在下一页通过退化场景诊断图和 RMSE 表体现。</a:t>
            </a:r>
          </a:p>
        </p:txBody>
      </p:sp>
    </p:spTree>
    <p:extLst>
      <p:ext uri="{BB962C8B-B14F-4D97-AF65-F5344CB8AC3E}">
        <p14:creationId xmlns:p14="http://schemas.microsoft.com/office/powerpoint/2010/main" val="1367204740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E0B773F6-4327-4751-B964-31515FEA8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0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51116344-B6C6-4498-A68E-17C4E3B83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D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907A33DD-245B-4E80-ABA6-A35EE0502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406D"/>
                </a:solidFill>
                <a:latin typeface="黑体"/>
                <a:ea typeface="黑体"/>
                <a:cs typeface="黑体"/>
              </a:defRPr>
            </a:pPr>
            <a:r>
              <a:rPr sz="2700" b="1">
                <a:solidFill>
                  <a:srgbClr val="17406D"/>
                </a:solidFill>
                <a:latin typeface="黑体"/>
                <a:ea typeface="黑体"/>
                <a:cs typeface="黑体"/>
              </a:rPr>
              <a:t>关键场景图像结果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14DCD041-3B81-4A28-8BC8-4D969E992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191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rPr>
              <a:t>仿真验证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1642DC62-089C-4977-B749-A350C8DC2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008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rPr>
              <a:t>19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641B8147-A077-4C2E-97D3-E08748A5A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04875"/>
            <a:ext cx="10858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圆角矩形 7">
            <a:extLst xmlns:a="http://schemas.openxmlformats.org/drawingml/2006/main">
              <a:ext uri="{FF2B5EF4-FFF2-40B4-BE49-F238E27FC236}">
                <a16:creationId xmlns:a16="http://schemas.microsoft.com/office/drawing/2014/main" id="{9B5616A4-5909-4A5D-8C5A-86AF6F8B8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238250"/>
            <a:ext cx="4905375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8F2"/>
            </a:solidFill>
            <a:prstDash val="solid"/>
          </a:ln>
        </p:spPr>
      </p:sp>
      <p:sp>
        <p:nvSpPr>
          <p:cNvPr id="9" name="圆角矩形 8">
            <a:extLst xmlns:a="http://schemas.openxmlformats.org/drawingml/2006/main">
              <a:ext uri="{FF2B5EF4-FFF2-40B4-BE49-F238E27FC236}">
                <a16:creationId xmlns:a16="http://schemas.microsoft.com/office/drawing/2014/main" id="{0D9C19F8-604C-4281-B701-DF80516C5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238250"/>
            <a:ext cx="4905375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8F2"/>
            </a:solidFill>
            <a:prstDash val="solid"/>
          </a:ln>
        </p:spPr>
      </p:sp>
      <p:sp>
        <p:nvSpPr>
          <p:cNvPr id="10" name="圆角矩形 9">
            <a:extLst xmlns:a="http://schemas.openxmlformats.org/drawingml/2006/main">
              <a:ext uri="{FF2B5EF4-FFF2-40B4-BE49-F238E27FC236}">
                <a16:creationId xmlns:a16="http://schemas.microsoft.com/office/drawing/2014/main" id="{25CD9595-0E2C-4F37-8690-CD3E96825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714750"/>
            <a:ext cx="4905375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8F2"/>
            </a:solidFill>
            <a:prstDash val="solid"/>
          </a:ln>
        </p:spPr>
      </p:sp>
      <p:sp>
        <p:nvSpPr>
          <p:cNvPr id="11" name="圆角矩形 10">
            <a:extLst xmlns:a="http://schemas.openxmlformats.org/drawingml/2006/main">
              <a:ext uri="{FF2B5EF4-FFF2-40B4-BE49-F238E27FC236}">
                <a16:creationId xmlns:a16="http://schemas.microsoft.com/office/drawing/2014/main" id="{FA31BCAA-5F20-41CE-B891-5A19B57A5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714750"/>
            <a:ext cx="4905375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E8F2"/>
            </a:solidFill>
            <a:prstDash val="solid"/>
          </a:ln>
        </p:spPr>
      </p:sp>
      <p:pic>
        <p:nvPicPr>
          <p:cNvPr id="34" name="图片 3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25363fe63c425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709323" y="1381125"/>
            <a:ext cx="2915478" cy="1676400"/>
          </a:xfrm>
          <a:prstGeom xmlns:a="http://schemas.openxmlformats.org/drawingml/2006/main" prst="rect">
            <a:avLst/>
          </a:prstGeom>
        </p:spPr>
      </p:pic>
      <p:pic>
        <p:nvPicPr>
          <p:cNvPr id="35" name="图片 3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c5ecc3f7794eb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38573" y="1381125"/>
            <a:ext cx="2915478" cy="1676400"/>
          </a:xfrm>
          <a:prstGeom xmlns:a="http://schemas.openxmlformats.org/drawingml/2006/main" prst="rect">
            <a:avLst/>
          </a:prstGeom>
        </p:spPr>
      </p:pic>
      <p:pic>
        <p:nvPicPr>
          <p:cNvPr id="36" name="图片 3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0000246916469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709323" y="3857625"/>
            <a:ext cx="2915478" cy="1676400"/>
          </a:xfrm>
          <a:prstGeom xmlns:a="http://schemas.openxmlformats.org/drawingml/2006/main" prst="rect">
            <a:avLst/>
          </a:prstGeom>
        </p:spPr>
      </p:pic>
      <p:pic>
        <p:nvPicPr>
          <p:cNvPr id="37" name="图片 3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3bc56cc3fc45e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38573" y="3857625"/>
            <a:ext cx="2915478" cy="1676400"/>
          </a:xfrm>
          <a:prstGeom xmlns:a="http://schemas.openxmlformats.org/drawingml/2006/main" prst="rect">
            <a:avLst/>
          </a:prstGeom>
        </p:spPr>
      </p:pic>
      <p:sp>
        <p:nvSpPr>
          <p:cNvPr id="15" name="矩形 14">
            <a:extLst xmlns:a="http://schemas.openxmlformats.org/drawingml/2006/main">
              <a:ext uri="{FF2B5EF4-FFF2-40B4-BE49-F238E27FC236}">
                <a16:creationId xmlns:a16="http://schemas.microsoft.com/office/drawing/2014/main" id="{18C7758A-C28E-4209-A9D7-5503581B2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238500"/>
            <a:ext cx="4905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406D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17406D"/>
                </a:solidFill>
                <a:latin typeface="微软雅黑"/>
                <a:ea typeface="微软雅黑"/>
                <a:cs typeface="微软雅黑"/>
              </a:rPr>
              <a:t>强 wrapping：预测辅助相位校正</a:t>
            </a:r>
          </a:p>
        </p:txBody>
      </p:sp>
      <p:sp>
        <p:nvSpPr>
          <p:cNvPr id="16" name="矩形 15">
            <a:extLst xmlns:a="http://schemas.openxmlformats.org/drawingml/2006/main">
              <a:ext uri="{FF2B5EF4-FFF2-40B4-BE49-F238E27FC236}">
                <a16:creationId xmlns:a16="http://schemas.microsoft.com/office/drawing/2014/main" id="{1E6CF07F-8551-409D-8470-5E9BF2E9B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238500"/>
            <a:ext cx="4905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406D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17406D"/>
                </a:solidFill>
                <a:latin typeface="微软雅黑"/>
                <a:ea typeface="微软雅黑"/>
                <a:cs typeface="微软雅黑"/>
              </a:rPr>
              <a:t>AoA 误差：转换系数自举收敛</a:t>
            </a:r>
          </a:p>
        </p:txBody>
      </p:sp>
      <p:sp>
        <p:nvSpPr>
          <p:cNvPr id="17" name="矩形 16">
            <a:extLst xmlns:a="http://schemas.openxmlformats.org/drawingml/2006/main">
              <a:ext uri="{FF2B5EF4-FFF2-40B4-BE49-F238E27FC236}">
                <a16:creationId xmlns:a16="http://schemas.microsoft.com/office/drawing/2014/main" id="{F14EB265-63CF-4CAD-86A4-825FBD8D1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715000"/>
            <a:ext cx="4905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406D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17406D"/>
                </a:solidFill>
                <a:latin typeface="微软雅黑"/>
                <a:ea typeface="微软雅黑"/>
                <a:cs typeface="微软雅黑"/>
              </a:rPr>
              <a:t>target SNR drop：观测权重调整</a:t>
            </a:r>
          </a:p>
        </p:txBody>
      </p:sp>
      <p:sp>
        <p:nvSpPr>
          <p:cNvPr id="18" name="矩形 17">
            <a:extLst xmlns:a="http://schemas.openxmlformats.org/drawingml/2006/main">
              <a:ext uri="{FF2B5EF4-FFF2-40B4-BE49-F238E27FC236}">
                <a16:creationId xmlns:a16="http://schemas.microsoft.com/office/drawing/2014/main" id="{ADC18572-047D-4AF0-9850-3481FF352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5715000"/>
            <a:ext cx="49053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7406D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17406D"/>
                </a:solidFill>
                <a:latin typeface="微软雅黑"/>
                <a:ea typeface="微软雅黑"/>
                <a:cs typeface="微软雅黑"/>
              </a:rPr>
              <a:t>车辆事件：位移估计对比</a:t>
            </a:r>
          </a:p>
        </p:txBody>
      </p:sp>
      <p:sp>
        <p:nvSpPr>
          <p:cNvPr id="19" name="矩形 18">
            <a:extLst xmlns:a="http://schemas.openxmlformats.org/drawingml/2006/main">
              <a:ext uri="{FF2B5EF4-FFF2-40B4-BE49-F238E27FC236}">
                <a16:creationId xmlns:a16="http://schemas.microsoft.com/office/drawing/2014/main" id="{C7CCF0AE-CB20-4104-A243-CA751700B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6400800"/>
            <a:ext cx="876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667A8E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667A8E"/>
                </a:solidFill>
                <a:latin typeface="微软雅黑"/>
                <a:ea typeface="微软雅黑"/>
                <a:cs typeface="微软雅黑"/>
              </a:rPr>
              <a:t>第一版先保留核心诊断图，后续可按老师反馈替换为更论文风格的统一制图。</a:t>
            </a:r>
          </a:p>
        </p:txBody>
      </p:sp>
    </p:spTree>
    <p:extLst>
      <p:ext uri="{BB962C8B-B14F-4D97-AF65-F5344CB8AC3E}">
        <p14:creationId xmlns:p14="http://schemas.microsoft.com/office/powerpoint/2010/main" val="185482816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矩形 1">
            <a:extLst xmlns:a="http://schemas.openxmlformats.org/drawingml/2006/main">
              <a:ext uri="{FF2B5EF4-FFF2-40B4-BE49-F238E27FC236}">
                <a16:creationId xmlns:a16="http://schemas.microsoft.com/office/drawing/2014/main" id="{1AEE4B71-B635-44EF-AD03-F4577BD3B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0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矩形 2">
            <a:extLst xmlns:a="http://schemas.openxmlformats.org/drawingml/2006/main">
              <a:ext uri="{FF2B5EF4-FFF2-40B4-BE49-F238E27FC236}">
                <a16:creationId xmlns:a16="http://schemas.microsoft.com/office/drawing/2014/main" id="{83D82153-AB00-48E5-AF8F-64DC5E831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"/>
            <a:ext cx="1219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D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9B6E8037-5B5E-4FCE-985E-1047D04B5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"/>
            <a:ext cx="838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7406D"/>
                </a:solidFill>
                <a:latin typeface="黑体"/>
                <a:ea typeface="黑体"/>
                <a:cs typeface="黑体"/>
              </a:defRPr>
            </a:pPr>
            <a:r>
              <a:rPr sz="2700" b="1">
                <a:solidFill>
                  <a:srgbClr val="17406D"/>
                </a:solidFill>
                <a:latin typeface="黑体"/>
                <a:ea typeface="黑体"/>
                <a:cs typeface="黑体"/>
              </a:rPr>
              <a:t>阶段结论与下一步工作</a:t>
            </a:r>
          </a:p>
        </p:txBody>
      </p:sp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7AABB62E-5690-4DB5-A587-E8E024496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191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112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rPr>
              <a:t>总结</a:t>
            </a:r>
          </a:p>
        </p:txBody>
      </p:sp>
      <p:sp>
        <p:nvSpPr>
          <p:cNvPr id="6" name="矩形 5">
            <a:extLst xmlns:a="http://schemas.openxmlformats.org/drawingml/2006/main">
              <a:ext uri="{FF2B5EF4-FFF2-40B4-BE49-F238E27FC236}">
                <a16:creationId xmlns:a16="http://schemas.microsoft.com/office/drawing/2014/main" id="{17EADEB1-DE37-4007-937E-85F32C346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640080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667A8E"/>
                </a:solidFill>
                <a:latin typeface="微软雅黑"/>
                <a:ea typeface="微软雅黑"/>
                <a:cs typeface="微软雅黑"/>
              </a:rPr>
              <a:t>20</a:t>
            </a:r>
          </a:p>
        </p:txBody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13A8A74C-54D9-4B1F-89E5-4B89BC9D1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904875"/>
            <a:ext cx="10858500" cy="1143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7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矩形 7">
            <a:extLst xmlns:a="http://schemas.openxmlformats.org/drawingml/2006/main">
              <a:ext uri="{FF2B5EF4-FFF2-40B4-BE49-F238E27FC236}">
                <a16:creationId xmlns:a16="http://schemas.microsoft.com/office/drawing/2014/main" id="{424F7F36-6A53-4F51-B92B-F1EAC6984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3335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7406D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17406D"/>
                </a:solidFill>
                <a:latin typeface="微软雅黑"/>
                <a:ea typeface="微软雅黑"/>
                <a:cs typeface="微软雅黑"/>
              </a:rPr>
              <a:t>当前已完成</a:t>
            </a:r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2A90C264-C0C2-4BB1-A426-3BA070D51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85950"/>
            <a:ext cx="4762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spcAft>
                <a:spcPts val="10"/>
              </a:spcAft>
              <a:buNone/>
              <a:defRPr sz="150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50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synthetic ADC / Range-Angle frontend 完整接入</a:t>
            </a:r>
          </a:p>
          <a:p xmlns:a="http://schemas.openxmlformats.org/drawingml/2006/main">
            <a:pPr marL="0" indent="0">
              <a:lnSpc>
                <a:spcPct val="115000"/>
              </a:lnSpc>
              <a:spcAft>
                <a:spcPts val="10"/>
              </a:spcAft>
              <a:buNone/>
              <a:defRPr sz="150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50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Range-Angle target selection 与同 range 远角度分离已实现</a:t>
            </a:r>
          </a:p>
          <a:p xmlns:a="http://schemas.openxmlformats.org/drawingml/2006/main">
            <a:pPr marL="0" indent="0">
              <a:lnSpc>
                <a:spcPct val="115000"/>
              </a:lnSpc>
              <a:spcAft>
                <a:spcPts val="10"/>
              </a:spcAft>
              <a:buNone/>
              <a:defRPr sz="150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50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结构主相位 Kalman、预测辅助解缠、转换系数在线自举已形成闭环</a:t>
            </a:r>
          </a:p>
          <a:p xmlns:a="http://schemas.openxmlformats.org/drawingml/2006/main">
            <a:pPr marL="0" indent="0">
              <a:lnSpc>
                <a:spcPct val="115000"/>
              </a:lnSpc>
              <a:spcAft>
                <a:spcPts val="10"/>
              </a:spcAft>
              <a:buNone/>
              <a:defRPr sz="150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50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默认 validation feasibility gates：12/12 passed</a:t>
            </a:r>
          </a:p>
        </p:txBody>
      </p:sp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04BD9726-CC74-485B-904F-0C846E4A7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1333500"/>
            <a:ext cx="409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17406D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17406D"/>
                </a:solidFill>
                <a:latin typeface="微软雅黑"/>
                <a:ea typeface="微软雅黑"/>
                <a:cs typeface="微软雅黑"/>
              </a:rPr>
              <a:t>后续工作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6796C9A5-3EAA-4163-80DE-93762CAD5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1885950"/>
            <a:ext cx="4762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spcAft>
                <a:spcPts val="10"/>
              </a:spcAft>
              <a:buNone/>
              <a:defRPr sz="150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50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接入真实 IWR1843 raw ADC 文件解析</a:t>
            </a:r>
          </a:p>
          <a:p xmlns:a="http://schemas.openxmlformats.org/drawingml/2006/main">
            <a:pPr marL="0" indent="0">
              <a:lnSpc>
                <a:spcPct val="115000"/>
              </a:lnSpc>
              <a:spcAft>
                <a:spcPts val="10"/>
              </a:spcAft>
              <a:buNone/>
              <a:defRPr sz="150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50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开展天线幅相标定与 TDM-MIMO 相位补偿</a:t>
            </a:r>
          </a:p>
          <a:p xmlns:a="http://schemas.openxmlformats.org/drawingml/2006/main">
            <a:pPr marL="0" indent="0">
              <a:lnSpc>
                <a:spcPct val="115000"/>
              </a:lnSpc>
              <a:spcAft>
                <a:spcPts val="10"/>
              </a:spcAft>
              <a:buNone/>
              <a:defRPr sz="150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50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建立雷达、加速度、激光参考的时间同步流程</a:t>
            </a:r>
          </a:p>
          <a:p xmlns:a="http://schemas.openxmlformats.org/drawingml/2006/main">
            <a:pPr marL="0" indent="0">
              <a:lnSpc>
                <a:spcPct val="115000"/>
              </a:lnSpc>
              <a:spcAft>
                <a:spcPts val="10"/>
              </a:spcAft>
              <a:buNone/>
              <a:defRPr sz="1500">
                <a:solidFill>
                  <a:srgbClr val="26384D"/>
                </a:solidFill>
                <a:latin typeface="微软雅黑"/>
                <a:ea typeface="微软雅黑"/>
                <a:cs typeface="微软雅黑"/>
              </a:defRPr>
            </a:pPr>
            <a:r>
              <a:rPr sz="1500">
                <a:solidFill>
                  <a:srgbClr val="26384D"/>
                </a:solidFill>
                <a:latin typeface="微软雅黑"/>
                <a:ea typeface="微软雅黑"/>
                <a:cs typeface="微软雅黑"/>
              </a:rPr>
              <a:t>推进实桥/磁浮轨道梁场景下的同步实测验证</a:t>
            </a:r>
          </a:p>
        </p:txBody>
      </p:sp>
      <p:sp>
        <p:nvSpPr>
          <p:cNvPr id="12" name="圆角矩形 11">
            <a:extLst xmlns:a="http://schemas.openxmlformats.org/drawingml/2006/main">
              <a:ext uri="{FF2B5EF4-FFF2-40B4-BE49-F238E27FC236}">
                <a16:creationId xmlns:a16="http://schemas.microsoft.com/office/drawing/2014/main" id="{5194A886-15FB-4ED1-BB4F-C42150B16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953000"/>
            <a:ext cx="8572500" cy="838200"/>
          </a:xfrm>
          <a:prstGeom xmlns:a="http://schemas.openxmlformats.org/drawingml/2006/main" prst="roundRect">
            <a:avLst>
              <a:gd name="adj" fmla="val 10227"/>
            </a:avLst>
          </a:prstGeom>
          <a:solidFill xmlns:a="http://schemas.openxmlformats.org/drawingml/2006/main">
            <a:srgbClr val="17406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矩形 12">
            <a:extLst xmlns:a="http://schemas.openxmlformats.org/drawingml/2006/main">
              <a:ext uri="{FF2B5EF4-FFF2-40B4-BE49-F238E27FC236}">
                <a16:creationId xmlns:a16="http://schemas.microsoft.com/office/drawing/2014/main" id="{F2582FA8-0670-4CA0-9F4C-28D21E057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162550"/>
            <a:ext cx="790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lnSpc>
                <a:spcPct val="115000"/>
              </a:lnSpc>
              <a:buNone/>
              <a:def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当前结论来自 Phase 1</a:t>
            </a:r>
          </a:p>
          <a:p xmlns:a="http://schemas.openxmlformats.org/drawingml/2006/main">
            <a:pPr algn="ctr">
              <a:lnSpc>
                <a:spcPct val="115000"/>
              </a:lnSpc>
              <a:buNone/>
              <a:def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合成仿真与实测位移驱动半实测仿真，尚不替代真实毫米波雷达现场验证。</a:t>
            </a:r>
          </a:p>
        </p:txBody>
      </p:sp>
    </p:spTree>
    <p:extLst>
      <p:ext uri="{BB962C8B-B14F-4D97-AF65-F5344CB8AC3E}">
        <p14:creationId xmlns:p14="http://schemas.microsoft.com/office/powerpoint/2010/main" val="18923234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2026-06-25T02:49:34.3410000Z</dcterms:created>
  <dcterms:modified xsi:type="dcterms:W3CDTF">2026-06-25T02:49:34.3410000Z</dcterms:modified>
</coreProperties>
</file>