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1.svg" ContentType="image/svg+xml"/>
  <Override PartName="/ppt/media/image28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0.png"/><Relationship Id="rId8" Type="http://schemas.openxmlformats.org/officeDocument/2006/relationships/image" Target="../media/image2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6.svg"/><Relationship Id="rId3" Type="http://schemas.openxmlformats.org/officeDocument/2006/relationships/image" Target="../media/image37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8.svg"/><Relationship Id="rId3" Type="http://schemas.openxmlformats.org/officeDocument/2006/relationships/image" Target="../media/image38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2395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23950"/>
            <a:ext cx="12192000" cy="6667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228600"/>
            <a:ext cx="704850" cy="70485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476375" y="2762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硕士论文阶段汇报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272665"/>
            <a:ext cx="876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基于多源数据融合的</a:t>
            </a:r>
            <a:endParaRPr sz="315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  <a:p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磁浮轨道振动监测方法研究</a:t>
            </a:r>
            <a:endParaRPr sz="315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1225" y="3543300"/>
            <a:ext cx="4953000" cy="381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7165340" y="299656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60590" y="314896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倒挂式雷达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165590" y="299656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009D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260840" y="314896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静止散射体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8736965" y="3187065"/>
            <a:ext cx="40005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7165340" y="412051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10CF9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60590" y="431101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加速度预测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165590" y="4120515"/>
            <a:ext cx="1619250" cy="647700"/>
          </a:xfrm>
          <a:prstGeom prst="roundRect">
            <a:avLst>
              <a:gd name="adj" fmla="val 13235"/>
            </a:avLst>
          </a:prstGeom>
          <a:solidFill>
            <a:srgbClr val="F8FCFF"/>
          </a:solidFill>
          <a:ln w="13335">
            <a:solidFill>
              <a:srgbClr val="0F6FC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260840" y="431101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结构主相位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8736965" y="4311015"/>
            <a:ext cx="400050" cy="266700"/>
          </a:xfrm>
          <a:prstGeom prst="rightArrow">
            <a:avLst/>
          </a:prstGeom>
          <a:solidFill>
            <a:srgbClr val="0F6FC6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汇报内容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1298575" y="1844675"/>
            <a:ext cx="742950" cy="742950"/>
          </a:xfrm>
          <a:prstGeom prst="ellipse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985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251075" y="2082800"/>
            <a:ext cx="742950" cy="323850"/>
          </a:xfrm>
          <a:prstGeom prst="rightArrow">
            <a:avLst/>
          </a:prstGeom>
          <a:solidFill>
            <a:srgbClr val="A9D9E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66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研究背景与问题定义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42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从静态参考点依赖引出倒挂式毫米波雷达测振需求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4079875" y="1844675"/>
            <a:ext cx="742950" cy="74295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798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5032375" y="2082800"/>
            <a:ext cx="742950" cy="323850"/>
          </a:xfrm>
          <a:prstGeom prst="rightArrow">
            <a:avLst/>
          </a:prstGeom>
          <a:solidFill>
            <a:srgbClr val="A9D9E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179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毫米波雷达位移测量原理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655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FMCW 测距、相位微位移、Range-Angle Map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861175" y="1844675"/>
            <a:ext cx="742950" cy="74295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611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7813675" y="2082800"/>
            <a:ext cx="742950" cy="323850"/>
          </a:xfrm>
          <a:prstGeom prst="rightArrow">
            <a:avLst/>
          </a:prstGeom>
          <a:solidFill>
            <a:srgbClr val="A9D9E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992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本文方法与关键创新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468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多目标参考点、结构主相位 Kalman、转换系数自举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9642475" y="1844675"/>
            <a:ext cx="742950" cy="74295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642475" y="2035175"/>
            <a:ext cx="742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80525" y="2987675"/>
            <a:ext cx="1466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28125" y="3721100"/>
            <a:ext cx="17716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主场景、对比方法、RMSE 表格与关键图像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924115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研究背景：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高精度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结构位移监测需要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安装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在静态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参考点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研究背景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28587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桥梁与磁浮轨道梁位移响应</a:t>
            </a:r>
            <a:endParaRPr sz="21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1866900"/>
            <a:ext cx="4476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动态位移直接反映结构刚度、车辆荷载响应与服役状态</a:t>
            </a: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150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143625" y="1257300"/>
            <a:ext cx="5398770" cy="3486150"/>
          </a:xfrm>
          <a:prstGeom prst="roundRect">
            <a:avLst>
              <a:gd name="adj" fmla="val 2186"/>
            </a:avLst>
          </a:prstGeom>
          <a:solidFill>
            <a:srgbClr val="F4FAFD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77000" y="15240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传统位移测量的现场约束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77000" y="2047875"/>
            <a:ext cx="1190625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553200" y="21240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67625" y="2047875"/>
            <a:ext cx="1428750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743825" y="21240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主要依赖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96375" y="2047875"/>
            <a:ext cx="1952625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72575" y="21240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现场局限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77000" y="2581275"/>
            <a:ext cx="1190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53200" y="26574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激光/LVDT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67625" y="2581275"/>
            <a:ext cx="1428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743825" y="26574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稳定基准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96375" y="2581275"/>
            <a:ext cx="1952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72575" y="26574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布设空间与安全约束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77000" y="3114675"/>
            <a:ext cx="1190625" cy="533400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553200" y="31908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视觉测量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67625" y="3114675"/>
            <a:ext cx="1428750" cy="533400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743825" y="31908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固定相机/视线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96375" y="3114675"/>
            <a:ext cx="1952625" cy="533400"/>
          </a:xfrm>
          <a:prstGeom prst="rect">
            <a:avLst/>
          </a:prstGeom>
          <a:solidFill>
            <a:srgbClr val="F7FBFE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172575" y="31908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光照、遮挡与标靶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77000" y="3648075"/>
            <a:ext cx="1190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553200" y="37242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GNSS/组合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667625" y="3648075"/>
            <a:ext cx="1428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743825" y="3724275"/>
            <a:ext cx="1276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开阔天空/多源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96375" y="3648075"/>
            <a:ext cx="1952625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2E4E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72575" y="3724275"/>
            <a:ext cx="1800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精度与成本受限</a:t>
            </a:r>
            <a:endParaRPr sz="10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76300" y="5191125"/>
            <a:ext cx="9620250" cy="666750"/>
          </a:xfrm>
          <a:prstGeom prst="roundRect">
            <a:avLst>
              <a:gd name="adj" fmla="val 11429"/>
            </a:avLst>
          </a:prstGeom>
          <a:solidFill>
            <a:srgbClr val="F7FBFE"/>
          </a:solidFill>
          <a:ln w="15240">
            <a:solidFill>
              <a:srgbClr val="F4910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76300" y="5191125"/>
            <a:ext cx="76200" cy="666750"/>
          </a:xfrm>
          <a:prstGeom prst="rect">
            <a:avLst/>
          </a:prstGeom>
          <a:solidFill>
            <a:srgbClr val="F49100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66800" y="5381625"/>
            <a:ext cx="93154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核心矛盾：高精度位移测量通常需要静态参考点，而桥梁现场恰恰难以稳定布设参考点。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7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2809875"/>
            <a:ext cx="5114925" cy="19805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倒挂式毫米波雷达：关键挑战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问题定义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从现场应用约束出发，本文需要同时解决 reference target 可用性、强相位包裹、多目标融合和转换系数标定问题。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173355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733550"/>
            <a:ext cx="76200" cy="1695450"/>
          </a:xfrm>
          <a:prstGeom prst="rect">
            <a:avLst/>
          </a:prstGeom>
          <a:solidFill>
            <a:srgbClr val="2C73B8"/>
          </a:solidFill>
          <a:ln w="0">
            <a:noFill/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009650" y="1924050"/>
            <a:ext cx="838200" cy="323850"/>
          </a:xfrm>
          <a:prstGeom prst="roundRect">
            <a:avLst>
              <a:gd name="adj" fmla="val 23529"/>
            </a:avLst>
          </a:prstGeom>
          <a:solidFill>
            <a:srgbClr val="2C73B8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09650" y="1971675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1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38350" y="192405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 range bin 多角度混合</a:t>
            </a:r>
            <a:endParaRPr sz="15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241935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同一距离单元内不同角度散射体会发生复数相干叠加，混合相位对应的等效 β 不稳定。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47750" y="304800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 b="1">
                <a:solidFill>
                  <a:srgbClr val="2C73B8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2C73B8"/>
                </a:solidFill>
                <a:latin typeface="微软雅黑"/>
                <a:ea typeface="微软雅黑"/>
                <a:cs typeface="微软雅黑"/>
              </a:rPr>
              <a:t>对应创新点 1：Range-Angle 多目标提取与筛选</a:t>
            </a:r>
            <a:endParaRPr sz="1165" b="1">
              <a:solidFill>
                <a:srgbClr val="2C7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362700" y="173355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1733550"/>
            <a:ext cx="76200" cy="1695450"/>
          </a:xfrm>
          <a:prstGeom prst="rect">
            <a:avLst/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591300" y="1924050"/>
            <a:ext cx="838200" cy="323850"/>
          </a:xfrm>
          <a:prstGeom prst="roundRect">
            <a:avLst>
              <a:gd name="adj" fmla="val 23529"/>
            </a:avLst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1971675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2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0" y="192405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丢失或退化</a:t>
            </a:r>
            <a:endParaRPr sz="15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29400" y="241935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遮挡、低 SNR、移动干扰会导致参考 target 精度下降或监测不连续。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29400" y="304800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对应创新点 1 / 2：target 维护 + 多目标冗余融合</a:t>
            </a:r>
            <a:endParaRPr sz="1165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81050" y="38100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810000"/>
            <a:ext cx="76200" cy="169545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09650" y="4000500"/>
            <a:ext cx="838200" cy="323850"/>
          </a:xfrm>
          <a:prstGeom prst="roundRect">
            <a:avLst>
              <a:gd name="adj" fmla="val 23529"/>
            </a:avLst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09650" y="4048125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3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038350" y="40005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phase wrapping</a:t>
            </a:r>
            <a:endParaRPr sz="15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47750" y="449580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毫米级强响应会使 LOS 相位跨越多个周期，传统解缠与融合流程割裂，容易选错分支。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47750" y="512445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 b="1">
                <a:solidFill>
                  <a:srgbClr val="009DD9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009DD9"/>
                </a:solidFill>
                <a:latin typeface="微软雅黑"/>
                <a:ea typeface="微软雅黑"/>
                <a:cs typeface="微软雅黑"/>
              </a:rPr>
              <a:t>对应创新点 2：预测辅助相位校正 + Kalman 融合</a:t>
            </a:r>
            <a:endParaRPr sz="1165" b="1">
              <a:solidFill>
                <a:srgbClr val="009DD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362700" y="38100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362700" y="3810000"/>
            <a:ext cx="76200" cy="1695450"/>
          </a:xfrm>
          <a:prstGeom prst="rect">
            <a:avLst/>
          </a:prstGeom>
          <a:solidFill>
            <a:srgbClr val="D56A1C"/>
          </a:solidFill>
          <a:ln w="0">
            <a:noFill/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6591300" y="4000500"/>
            <a:ext cx="838200" cy="323850"/>
          </a:xfrm>
          <a:prstGeom prst="roundRect">
            <a:avLst>
              <a:gd name="adj" fmla="val 23529"/>
            </a:avLst>
          </a:prstGeom>
          <a:solidFill>
            <a:srgbClr val="D56A1C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591300" y="4048125"/>
            <a:ext cx="838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4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620000" y="40005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β 方向转换系数需标定/自举</a:t>
            </a:r>
            <a:endParaRPr sz="15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29400" y="4495800"/>
            <a:ext cx="4514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不垂直于雷达时，传统用法需要人工测量 LOS 角度或离线标定 β，现场安装不便。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29400" y="5124450"/>
            <a:ext cx="451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 b="1">
                <a:solidFill>
                  <a:srgbClr val="D56A1C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D56A1C"/>
                </a:solidFill>
                <a:latin typeface="微软雅黑"/>
                <a:ea typeface="微软雅黑"/>
                <a:cs typeface="微软雅黑"/>
              </a:rPr>
              <a:t>对应创新点 3：AoA 冷启动 + β 在线自举</a:t>
            </a:r>
            <a:endParaRPr sz="1165" b="1">
              <a:solidFill>
                <a:srgbClr val="D56A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1476375" y="5905500"/>
            <a:ext cx="9239250" cy="400050"/>
          </a:xfrm>
          <a:prstGeom prst="roundRect">
            <a:avLst>
              <a:gd name="adj" fmla="val 19048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476375" y="5905500"/>
            <a:ext cx="66675" cy="40005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666875" y="6019800"/>
            <a:ext cx="885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引出：三组创新设计将在后续页面分别展开；本页只定义问题，不展开算法细节。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从问题引出本文的三组创新设计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创新点总览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428750"/>
            <a:ext cx="3857625" cy="647700"/>
          </a:xfrm>
          <a:prstGeom prst="rect">
            <a:avLst/>
          </a:prstGeom>
          <a:solidFill>
            <a:srgbClr val="184A78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543050"/>
            <a:ext cx="3514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现场问题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19625" y="1428750"/>
            <a:ext cx="3762375" cy="647700"/>
          </a:xfrm>
          <a:prstGeom prst="rect">
            <a:avLst/>
          </a:prstGeom>
          <a:solidFill>
            <a:srgbClr val="184A78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791075" y="1543050"/>
            <a:ext cx="34194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本文处理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82000" y="1428750"/>
            <a:ext cx="2333625" cy="647700"/>
          </a:xfrm>
          <a:prstGeom prst="rect">
            <a:avLst/>
          </a:prstGeom>
          <a:solidFill>
            <a:srgbClr val="184A78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53450" y="1543050"/>
            <a:ext cx="1990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对应创新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2076450"/>
            <a:ext cx="3857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33450" y="2190750"/>
            <a:ext cx="3514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同一距离单元多角度散射体混合，</a:t>
            </a:r>
            <a:endParaRPr sz="1240" b="0">
              <a:solidFill>
                <a:srgbClr val="20364F"/>
              </a:solidFill>
            </a:endParaRPr>
          </a:p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target 退化或丢失（挑战 1、2）</a:t>
            </a:r>
            <a:endParaRPr sz="1240" b="0">
              <a:solidFill>
                <a:srgbClr val="20364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19625" y="2076450"/>
            <a:ext cx="3762375" cy="990600"/>
          </a:xfrm>
          <a:prstGeom prst="rect">
            <a:avLst/>
          </a:prstGeom>
          <a:solidFill>
            <a:srgbClr val="E6F4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791075" y="2190750"/>
            <a:ext cx="3419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Range-Angle 在线参考 target</a:t>
            </a:r>
            <a:endParaRPr sz="1240" b="1">
              <a:solidFill>
                <a:srgbClr val="113B67"/>
              </a:solidFill>
            </a:endParaRPr>
          </a:p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提取、筛选与维护</a:t>
            </a:r>
            <a:endParaRPr sz="1240" b="1">
              <a:solidFill>
                <a:srgbClr val="113B6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20764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53450" y="2190750"/>
            <a:ext cx="1990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1</a:t>
            </a:r>
            <a:endParaRPr sz="1275" b="1">
              <a:solidFill>
                <a:srgbClr val="113B6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3067050"/>
            <a:ext cx="3857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3181350"/>
            <a:ext cx="3514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强响应相位分支易错，</a:t>
            </a:r>
            <a:endParaRPr sz="1240" b="0">
              <a:solidFill>
                <a:srgbClr val="20364F"/>
              </a:solidFill>
            </a:endParaRPr>
          </a:p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单目标 LoS 状态难融多 target（挑战 3）</a:t>
            </a:r>
            <a:endParaRPr sz="1240" b="0">
              <a:solidFill>
                <a:srgbClr val="20364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19625" y="3067050"/>
            <a:ext cx="3762375" cy="990600"/>
          </a:xfrm>
          <a:prstGeom prst="rect">
            <a:avLst/>
          </a:prstGeom>
          <a:solidFill>
            <a:srgbClr val="E6F4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91075" y="3181350"/>
            <a:ext cx="3419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结构主相位多 target Kalman 融合</a:t>
            </a:r>
            <a:endParaRPr sz="1240" b="1">
              <a:solidFill>
                <a:srgbClr val="113B67"/>
              </a:solidFill>
            </a:endParaRPr>
          </a:p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预测辅助相位校正</a:t>
            </a:r>
            <a:endParaRPr sz="1240" b="1">
              <a:solidFill>
                <a:srgbClr val="113B6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0" y="30670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553450" y="3181350"/>
            <a:ext cx="1990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2</a:t>
            </a:r>
            <a:endParaRPr sz="1275" b="1">
              <a:solidFill>
                <a:srgbClr val="113B6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2000" y="4057650"/>
            <a:ext cx="3857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33450" y="4171950"/>
            <a:ext cx="3514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β 方向转换系数依赖人工测角/标定，</a:t>
            </a:r>
            <a:endParaRPr sz="1240" b="0">
              <a:solidFill>
                <a:srgbClr val="20364F"/>
              </a:solidFill>
            </a:endParaRPr>
          </a:p>
          <a:p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现场安装与 target 切换不便（挑战 4）</a:t>
            </a:r>
            <a:endParaRPr sz="1240" b="0">
              <a:solidFill>
                <a:srgbClr val="20364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619625" y="4057650"/>
            <a:ext cx="3762375" cy="990600"/>
          </a:xfrm>
          <a:prstGeom prst="rect">
            <a:avLst/>
          </a:prstGeom>
          <a:solidFill>
            <a:srgbClr val="E6F4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791075" y="4171950"/>
            <a:ext cx="34194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AoA 几何初值</a:t>
            </a:r>
            <a:endParaRPr sz="1240" b="1">
              <a:solidFill>
                <a:srgbClr val="113B67"/>
              </a:solidFill>
            </a:endParaRPr>
          </a:p>
          <a:p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β 在线自举修正</a:t>
            </a:r>
            <a:endParaRPr sz="1240" b="1">
              <a:solidFill>
                <a:srgbClr val="113B67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0" y="4057650"/>
            <a:ext cx="2333625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8F5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553450" y="4171950"/>
            <a:ext cx="19907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3</a:t>
            </a:r>
            <a:endParaRPr sz="1275" b="1">
              <a:solidFill>
                <a:srgbClr val="113B67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381125" y="5676900"/>
            <a:ext cx="8953500" cy="533400"/>
          </a:xfrm>
          <a:prstGeom prst="roundRect">
            <a:avLst>
              <a:gd name="adj" fmla="val 14286"/>
            </a:avLst>
          </a:prstGeom>
          <a:solidFill>
            <a:srgbClr val="F8FBFF"/>
          </a:solidFill>
          <a:ln w="14288">
            <a:solidFill>
              <a:srgbClr val="009FE3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381125" y="5676900"/>
            <a:ext cx="76200" cy="533400"/>
          </a:xfrm>
          <a:prstGeom prst="rect">
            <a:avLst/>
          </a:prstGeom>
          <a:solidFill>
            <a:srgbClr val="009FE3"/>
          </a:solidFill>
          <a:ln w="0">
            <a:solidFill>
              <a:srgbClr val="009FE3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666875" y="5810250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1">
                <a:solidFill>
                  <a:srgbClr val="12385F"/>
                </a:solidFill>
              </a:defRPr>
            </a:pPr>
            <a:r>
              <a:rPr sz="1425" b="1">
                <a:solidFill>
                  <a:srgbClr val="12385F"/>
                </a:solidFill>
              </a:rPr>
              <a:t>注：逐目标观测权重、自适应观测噪声等机制并入多目标 Kalman 融合框架中展开。</a:t>
            </a:r>
            <a:endParaRPr sz="1425" b="1">
              <a:solidFill>
                <a:srgbClr val="12385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毫米波雷达位移测量基本原理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62000" y="1381125"/>
            <a:ext cx="3095625" cy="2619375"/>
          </a:xfrm>
          <a:prstGeom prst="roundRect">
            <a:avLst>
              <a:gd name="adj" fmla="val 2909"/>
            </a:avLst>
          </a:prstGeom>
          <a:solidFill>
            <a:srgbClr val="F5FBFE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885950" y="1638300"/>
            <a:ext cx="838200" cy="83820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885950" y="18383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85850" y="2714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FMCW 测距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85850" y="3200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发射线性调频信号，回波拍频用于估计距离单元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81500" y="1381125"/>
            <a:ext cx="3095625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5505450" y="1638300"/>
            <a:ext cx="838200" cy="838200"/>
          </a:xfrm>
          <a:prstGeom prst="ellipse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05450" y="18383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705350" y="2714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相位微位移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705350" y="3200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同一目标的斜距微小变化会引起回波相位变化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001000" y="1381125"/>
            <a:ext cx="3095625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9124950" y="1638300"/>
            <a:ext cx="838200" cy="838200"/>
          </a:xfrm>
          <a:prstGeom prst="ellipse">
            <a:avLst/>
          </a:prstGeom>
          <a:solidFill>
            <a:srgbClr val="F4910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124950" y="1838325"/>
            <a:ext cx="83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24850" y="2714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相位缠绕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24850" y="3200400"/>
            <a:ext cx="247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雷达输出主值相位存在周期限制，大位移需要解缠</a:t>
            </a:r>
            <a:endParaRPr sz="1350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2076450" y="4572000"/>
            <a:ext cx="8039100" cy="742950"/>
          </a:xfrm>
          <a:prstGeom prst="roundRect">
            <a:avLst>
              <a:gd name="adj" fmla="val 12821"/>
            </a:avLst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810250" y="4752975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EAF7FC"/>
                </a:solidFill>
                <a:latin typeface="微软雅黑"/>
                <a:ea typeface="微软雅黑"/>
                <a:cs typeface="微软雅黑"/>
              </a:rPr>
              <a:t>77 GHz 波长约 3.9 mm，因此毫米级位移已经可能跨越多个相位周期。</a:t>
            </a:r>
            <a:endParaRPr sz="1425" b="0">
              <a:solidFill>
                <a:srgbClr val="EAF7FC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native-equation-6"/>
              <p:cNvSpPr>
                <a:spLocks noGrp="1"/>
              </p:cNvSpPr>
              <p:nvPr/>
            </p:nvSpPr>
            <p:spPr>
              <a:xfrm>
                <a:off x="3143250" y="4791710"/>
                <a:ext cx="1809750" cy="4762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/>
              <a:lstStyle/>
              <a:p>
                <a:pPr algn="ctr">
                  <a:buNone/>
                  <a:defRPr sz="1725">
                    <a:solidFill>
                      <a:srgbClr val="FFFFF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𝛥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𝜑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=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(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4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𝜋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/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𝜆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)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𝛥</m:t>
                      </m:r>
                      <m:r>
                        <a:rPr>
                          <a:latin typeface="DejaVu Math TeX Gyre" panose="02000503000000000000"/>
                          <a:ea typeface="DejaVu Math TeX Gyre" panose="02000503000000000000"/>
                          <a:cs typeface="DejaVu Math TeX Gyre" panose="02000503000000000000"/>
                        </a:rPr>
                        <m:t>𝑑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6" name="native-equation-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0" y="4791710"/>
                <a:ext cx="1809750" cy="4762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ADC 到 Range-Angle Map：多目标参考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723900" y="138112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ADC cube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724150" y="138112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724400" y="138112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724650" y="1381125"/>
            <a:ext cx="1524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Map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右箭头 11"/>
          <p:cNvSpPr>
            <a:spLocks noGrp="1"/>
          </p:cNvSpPr>
          <p:nvPr/>
        </p:nvSpPr>
        <p:spPr>
          <a:xfrm>
            <a:off x="2305050" y="1581150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3" name="右箭头 12"/>
          <p:cNvSpPr>
            <a:spLocks noGrp="1"/>
          </p:cNvSpPr>
          <p:nvPr/>
        </p:nvSpPr>
        <p:spPr>
          <a:xfrm>
            <a:off x="4305300" y="1581150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4" name="右箭头 13"/>
          <p:cNvSpPr>
            <a:spLocks noGrp="1"/>
          </p:cNvSpPr>
          <p:nvPr/>
        </p:nvSpPr>
        <p:spPr>
          <a:xfrm>
            <a:off x="6305550" y="1581150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25717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为什么要进入 Range-Angle 维度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3028950"/>
            <a:ext cx="43815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传统 range-bin 方法只保留距离维度，容易混合同距离不同角度散射体。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Map 在距离和角度二维空间检测候选 target。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后续 Kalman 接收的是筛选后的 target wrapped phase，而不是理想真值相位。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81050" y="5048250"/>
            <a:ext cx="4381500" cy="533400"/>
          </a:xfrm>
          <a:prstGeom prst="roundRect">
            <a:avLst>
              <a:gd name="adj" fmla="val 14286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5048250"/>
            <a:ext cx="66675" cy="533400"/>
          </a:xfrm>
          <a:prstGeom prst="rect">
            <a:avLst/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1550" y="516255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作用：把“可用参考点”从单个 range bin 扩展为多个可筛选 target。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715000" y="2362200"/>
            <a:ext cx="5286375" cy="33337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943600" y="2533650"/>
            <a:ext cx="48291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倒挂式雷达与环境参考 target</a:t>
            </a:r>
            <a:endParaRPr sz="15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3067050"/>
            <a:ext cx="4333875" cy="361950"/>
          </a:xfrm>
          <a:prstGeom prst="rect">
            <a:avLst/>
          </a:prstGeom>
          <a:solidFill>
            <a:srgbClr val="EAF6FC"/>
          </a:solidFill>
          <a:ln w="9525">
            <a:solidFill>
              <a:srgbClr val="B9D7E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124200"/>
            <a:ext cx="3952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3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梁体 / 磁浮轨道梁</a:t>
            </a:r>
            <a:endParaRPr sz="135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776845" y="3417570"/>
            <a:ext cx="1163320" cy="514350"/>
          </a:xfrm>
          <a:prstGeom prst="roundRect">
            <a:avLst>
              <a:gd name="adj" fmla="val 12903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雷达 +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加速度计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等腰三角形 24"/>
          <p:cNvSpPr>
            <a:spLocks noGrp="1"/>
          </p:cNvSpPr>
          <p:nvPr/>
        </p:nvSpPr>
        <p:spPr>
          <a:xfrm>
            <a:off x="6400800" y="3893185"/>
            <a:ext cx="3914775" cy="1136015"/>
          </a:xfrm>
          <a:prstGeom prst="triangle">
            <a:avLst>
              <a:gd name="adj" fmla="val 50008"/>
            </a:avLst>
          </a:prstGeom>
          <a:ln w="11430">
            <a:solidFill>
              <a:srgbClr val="009DD9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7176135" y="4533900"/>
            <a:ext cx="495300" cy="4953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C73B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176135" y="46672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T1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305324" y="4438650"/>
            <a:ext cx="495300" cy="4953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8865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305324" y="45720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T2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9048433" y="4519930"/>
            <a:ext cx="495300" cy="4953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D56A1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048433" y="465328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T3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0" y="52387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环境静止散射体作为参考目标；后续在 Range-Angle 维度筛选稳定 target。</a:t>
            </a:r>
            <a:endParaRPr sz="1165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 w="0">
            <a:solidFill>
              <a:srgbClr val="F7FA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E4A86"/>
          </a:solidFill>
          <a:ln w="0">
            <a:solidFill>
              <a:srgbClr val="0E4A86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7AA7D9"/>
          </a:solidFill>
          <a:ln w="0">
            <a:solidFill>
              <a:srgbClr val="7AA7D9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342900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为什么需要 β：LOS 相位到结构主相位的方向转换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350" b="1">
                <a:solidFill>
                  <a:srgbClr val="4B6380"/>
                </a:solidFill>
              </a:defRPr>
            </a:pPr>
            <a:r>
              <a:rPr sz="1350" b="1">
                <a:solidFill>
                  <a:srgbClr val="4B6380"/>
                </a:solidFill>
              </a:rPr>
              <a:t>前置理论</a:t>
            </a:r>
            <a:endParaRPr sz="1350" b="1">
              <a:solidFill>
                <a:srgbClr val="4B638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</a:t>
            </a:r>
            <a:endParaRPr sz="120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C8D8EA"/>
          </a:solidFill>
          <a:ln w="0">
            <a:solidFill>
              <a:srgbClr val="C8D8EA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16205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雷达直接观测的是各 target 的 LOS 相位；论文状态统一定义为结构真实振动方向主相位。β_i 负责把 LOS 连续相位转换到结构方向。</a:t>
            </a:r>
            <a:endParaRPr sz="127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38200" y="1809750"/>
            <a:ext cx="3048000" cy="2000250"/>
          </a:xfrm>
          <a:prstGeom prst="roundRect">
            <a:avLst>
              <a:gd name="adj" fmla="val 3810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1809750"/>
            <a:ext cx="66675" cy="2000250"/>
          </a:xfrm>
          <a:prstGeom prst="rect">
            <a:avLst/>
          </a:prstGeom>
          <a:solidFill>
            <a:srgbClr val="2C73B8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1924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1  雷达观测空间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22669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wrapped LOS phase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Grp="1"/>
              </p:cNvSpPr>
              <p:nvPr/>
            </p:nvSpPr>
            <p:spPr>
              <a:xfrm>
                <a:off x="1028700" y="2533650"/>
                <a:ext cx="2667000" cy="4381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500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𝜓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m:rPr>
                          <m:nor/>
                        </m:rPr>
                        <a:rPr>
                          <a:latin typeface="DejaVu Math TeX Gyre" panose="02000503000000000000" charset="0"/>
                        </a:rPr>
                        <m:t>wrap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2533650"/>
                <a:ext cx="2667000" cy="4381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>
            <a:spLocks noGrp="1"/>
          </p:cNvSpPr>
          <p:nvPr/>
        </p:nvSpPr>
        <p:spPr>
          <a:xfrm>
            <a:off x="1028700" y="32004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每个 target 有独立 LOS 几何与相位偏置。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572000" y="1809750"/>
            <a:ext cx="3048000" cy="2000250"/>
          </a:xfrm>
          <a:prstGeom prst="roundRect">
            <a:avLst>
              <a:gd name="adj" fmla="val 3810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572000" y="1809750"/>
            <a:ext cx="66675" cy="200025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62500" y="1924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2  结构状态空间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>
                <a:spLocks noGrp="1"/>
              </p:cNvSpPr>
              <p:nvPr/>
            </p:nvSpPr>
            <p:spPr>
              <a:xfrm>
                <a:off x="4762500" y="2266950"/>
                <a:ext cx="2667000" cy="381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57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[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,</m:t>
                      </m:r>
                      <m:r>
                        <a:rPr>
                          <a:latin typeface="DejaVu Math TeX Gyre" panose="02000503000000000000" charset="0"/>
                        </a:rPr>
                        <m:t>𝛩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̇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]</m:t>
                          </m:r>
                        </m:e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2266950"/>
                <a:ext cx="2667000" cy="381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>
                <a:spLocks noGrp="1"/>
              </p:cNvSpPr>
              <p:nvPr/>
            </p:nvSpPr>
            <p:spPr>
              <a:xfrm>
                <a:off x="4762500" y="2724150"/>
                <a:ext cx="266700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650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>
                              <a:latin typeface="DejaVu Math TeX Gyre" panose="02000503000000000000" charset="0"/>
                            </a:rPr>
                            <m:t>4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𝜋</m:t>
                          </m:r>
                        </m:num>
                        <m:den>
                          <m:r>
                            <a:rPr>
                              <a:latin typeface="DejaVu Math TeX Gyre" panose="02000503000000000000" charset="0"/>
                            </a:rPr>
                            <m:t>𝜆</m:t>
                          </m:r>
                        </m:den>
                      </m:f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𝑞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0" y="2724150"/>
                <a:ext cx="2667000" cy="457200"/>
              </a:xfrm>
              <a:prstGeom prst="rect">
                <a:avLst/>
              </a:prstGeom>
              <a:blipFill rotWithShape="1">
                <a:blip r:embed="rId3"/>
                <a:stretch>
                  <a:fillRect t="-2361" b="-263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>
            <a:spLocks noGrp="1"/>
          </p:cNvSpPr>
          <p:nvPr/>
        </p:nvSpPr>
        <p:spPr>
          <a:xfrm>
            <a:off x="4762500" y="33528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Θ_k 是结构真实振动方向的主相位。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305800" y="1809750"/>
            <a:ext cx="3048000" cy="2000250"/>
          </a:xfrm>
          <a:prstGeom prst="roundRect">
            <a:avLst>
              <a:gd name="adj" fmla="val 3810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05800" y="1809750"/>
            <a:ext cx="66675" cy="2000250"/>
          </a:xfrm>
          <a:prstGeom prst="rect">
            <a:avLst/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496300" y="1924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3  方向转换系数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>
                <a:spLocks noGrp="1"/>
              </p:cNvSpPr>
              <p:nvPr/>
            </p:nvSpPr>
            <p:spPr>
              <a:xfrm>
                <a:off x="8496300" y="2266950"/>
                <a:ext cx="2667000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650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2266950"/>
                <a:ext cx="2667000" cy="4000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>
                <a:spLocks noGrp="1"/>
              </p:cNvSpPr>
              <p:nvPr/>
            </p:nvSpPr>
            <p:spPr>
              <a:xfrm>
                <a:off x="8496300" y="2781300"/>
                <a:ext cx="2667000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650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𝑞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6300" y="2781300"/>
                <a:ext cx="2667000" cy="4000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>
            <a:spLocks noGrp="1"/>
          </p:cNvSpPr>
          <p:nvPr/>
        </p:nvSpPr>
        <p:spPr>
          <a:xfrm>
            <a:off x="8496300" y="33528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β_i: LOS → 结构真实振动方向。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右箭头 27"/>
          <p:cNvSpPr>
            <a:spLocks noGrp="1"/>
          </p:cNvSpPr>
          <p:nvPr/>
        </p:nvSpPr>
        <p:spPr>
          <a:xfrm>
            <a:off x="4000500" y="2552700"/>
            <a:ext cx="400050" cy="3429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9" name="右箭头 28"/>
          <p:cNvSpPr>
            <a:spLocks noGrp="1"/>
          </p:cNvSpPr>
          <p:nvPr/>
        </p:nvSpPr>
        <p:spPr>
          <a:xfrm>
            <a:off x="7734300" y="2552700"/>
            <a:ext cx="400050" cy="3429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1162050" y="4476750"/>
            <a:ext cx="9867900" cy="876300"/>
          </a:xfrm>
          <a:prstGeom prst="roundRect">
            <a:avLst>
              <a:gd name="adj" fmla="val 8696"/>
            </a:avLst>
          </a:prstGeom>
          <a:solidFill>
            <a:srgbClr val="EAF6FC"/>
          </a:solidFill>
          <a:ln w="11430">
            <a:solidFill>
              <a:srgbClr val="009DD9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46482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推导结论</a:t>
            </a:r>
            <a:endParaRPr sz="15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714625" y="4648200"/>
            <a:ext cx="7953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转换系数 β 不应作用于整个混合 range bin，而应作用于筛选后的 range-angle target；否则同一距离单元的多角度散射会得到不稳定的等效 β。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为什么不能只用单 range bin 相位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问题动机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904875" y="1845945"/>
            <a:ext cx="4095750" cy="3476625"/>
          </a:xfrm>
          <a:prstGeom prst="roundRect">
            <a:avLst>
              <a:gd name="adj" fmla="val 2192"/>
            </a:avLst>
          </a:prstGeom>
          <a:solidFill>
            <a:srgbClr val="F7FBFE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90625" y="2112645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同一 range bin 内的相干混合</a:t>
            </a:r>
            <a:endParaRPr sz="18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24000" y="2636520"/>
            <a:ext cx="2857500" cy="438150"/>
          </a:xfrm>
          <a:prstGeom prst="rect">
            <a:avLst/>
          </a:prstGeom>
          <a:solidFill>
            <a:srgbClr val="DBEFF9"/>
          </a:solidFill>
          <a:ln w="11430">
            <a:solidFill>
              <a:srgbClr val="0F6FC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524000" y="273177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range bin 12</a:t>
            </a:r>
            <a:endParaRPr sz="15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571625" y="3717925"/>
            <a:ext cx="609600" cy="609600"/>
          </a:xfrm>
          <a:prstGeom prst="ellipse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571625" y="388937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1790700" y="3380105"/>
            <a:ext cx="209550" cy="227965"/>
          </a:xfrm>
          <a:prstGeom prst="rightArrow">
            <a:avLst/>
          </a:prstGeom>
          <a:solidFill>
            <a:srgbClr val="9BCFE6"/>
          </a:solidFill>
          <a:ln w="0">
            <a:noFill/>
            <a:prstDash val="solid"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2476500" y="3739515"/>
            <a:ext cx="609600" cy="609600"/>
          </a:xfrm>
          <a:prstGeom prst="ellipse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476500" y="391096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/>
          <p:cNvSpPr>
            <a:spLocks noGrp="1"/>
          </p:cNvSpPr>
          <p:nvPr/>
        </p:nvSpPr>
        <p:spPr>
          <a:xfrm>
            <a:off x="2695575" y="3364865"/>
            <a:ext cx="209550" cy="266700"/>
          </a:xfrm>
          <a:prstGeom prst="rightArrow">
            <a:avLst/>
          </a:prstGeom>
          <a:solidFill>
            <a:srgbClr val="9BCFE6"/>
          </a:solidFill>
          <a:ln w="0">
            <a:noFill/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3381375" y="3717925"/>
            <a:ext cx="609600" cy="609600"/>
          </a:xfrm>
          <a:prstGeom prst="ellipse">
            <a:avLst/>
          </a:prstGeom>
          <a:solidFill>
            <a:srgbClr val="10CF9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3381375" y="388937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45°</a:t>
            </a:r>
            <a:endParaRPr sz="12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右箭头 19"/>
          <p:cNvSpPr>
            <a:spLocks noGrp="1"/>
          </p:cNvSpPr>
          <p:nvPr/>
        </p:nvSpPr>
        <p:spPr>
          <a:xfrm>
            <a:off x="3631565" y="3357880"/>
            <a:ext cx="209550" cy="266065"/>
          </a:xfrm>
          <a:prstGeom prst="rightArrow">
            <a:avLst/>
          </a:prstGeom>
          <a:solidFill>
            <a:srgbClr val="9BCFE6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90625" y="4540885"/>
            <a:ext cx="3524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单 bin 复数相位来自多个 LoS 投影相位的相干叠加</a:t>
            </a:r>
            <a:endParaRPr sz="1275" b="0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14287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带来的后果</a:t>
            </a:r>
            <a:endParaRPr sz="202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0" y="2019300"/>
            <a:ext cx="433387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最强 range bin 不一定对应稳定物理 target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同距离不同角度目标会形成</a:t>
            </a:r>
            <a:r>
              <a:rPr lang="zh-CN"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等效</a:t>
            </a:r>
            <a:r>
              <a:rPr lang="en-US" altLang="zh-CN"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target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对等效单</a:t>
            </a:r>
            <a:r>
              <a:rPr lang="en-US" altLang="zh-CN"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 target </a:t>
            </a:r>
            <a:r>
              <a:rPr lang="zh-CN" altLang="en-US"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拟合</a:t>
            </a: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转换系数随散射状态漂移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强 wrapping 或 target 退化时误差被放大</a:t>
            </a:r>
            <a:endParaRPr sz="1575">
              <a:solidFill>
                <a:srgbClr val="26384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191250" y="3860800"/>
            <a:ext cx="4333875" cy="666750"/>
          </a:xfrm>
          <a:prstGeom prst="roundRect">
            <a:avLst>
              <a:gd name="adj" fmla="val 11429"/>
            </a:avLst>
          </a:prstGeom>
          <a:solidFill>
            <a:srgbClr val="F7FBFE"/>
          </a:solidFill>
          <a:ln w="15240">
            <a:solidFill>
              <a:srgbClr val="0F6FC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91250" y="3860800"/>
            <a:ext cx="76200" cy="666750"/>
          </a:xfrm>
          <a:prstGeom prst="rect">
            <a:avLst/>
          </a:prstGeom>
          <a:solidFill>
            <a:srgbClr val="0F6FC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381750" y="3932555"/>
            <a:ext cx="40290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因此本文先在 Range-Angle 维度分离 target，再进入结构主相位融合。</a:t>
            </a:r>
            <a:endParaRPr sz="14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1：Range-Angle 多目标提取与筛选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" y="1428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2C73B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检测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714625" y="1428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2C73B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近角度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合并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762500" y="1428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2C73B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远角度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分离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10375" y="1428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1430">
            <a:solidFill>
              <a:srgbClr val="2C73B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频带筛选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858250" y="1428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8FCFF"/>
          </a:solidFill>
          <a:ln w="11430">
            <a:solidFill>
              <a:srgbClr val="18865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selected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targets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/>
          <p:cNvSpPr>
            <a:spLocks noGrp="1"/>
          </p:cNvSpPr>
          <p:nvPr/>
        </p:nvSpPr>
        <p:spPr>
          <a:xfrm>
            <a:off x="2171700" y="1657350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4" name="右箭头 13"/>
          <p:cNvSpPr>
            <a:spLocks noGrp="1"/>
          </p:cNvSpPr>
          <p:nvPr/>
        </p:nvSpPr>
        <p:spPr>
          <a:xfrm>
            <a:off x="4219575" y="1657350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右箭头 14"/>
          <p:cNvSpPr>
            <a:spLocks noGrp="1"/>
          </p:cNvSpPr>
          <p:nvPr/>
        </p:nvSpPr>
        <p:spPr>
          <a:xfrm>
            <a:off x="6267450" y="1657350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6" name="右箭头 15"/>
          <p:cNvSpPr>
            <a:spLocks noGrp="1"/>
          </p:cNvSpPr>
          <p:nvPr/>
        </p:nvSpPr>
        <p:spPr>
          <a:xfrm>
            <a:off x="8315325" y="1657350"/>
            <a:ext cx="4191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6300" y="2590800"/>
            <a:ext cx="40957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0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同 range bin 且角度接近的 peak 合并为等效 target</a:t>
            </a:r>
            <a:endParaRPr sz="150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0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同 range bin 但角度差较大的 peak 保留为不同 target</a:t>
            </a:r>
            <a:endParaRPr sz="150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0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通过 presence、SNR 与结构频带一致性剔除不稳定 target</a:t>
            </a:r>
            <a:endParaRPr sz="150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381625" y="2381250"/>
            <a:ext cx="5810250" cy="3000375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696" y="2476500"/>
            <a:ext cx="4374108" cy="2724150"/>
          </a:xfrm>
          <a:prstGeom prst="rect">
            <a:avLst/>
          </a:prstGeom>
        </p:spPr>
      </p:pic>
      <p:sp>
        <p:nvSpPr>
          <p:cNvPr id="20" name="矩形 19"/>
          <p:cNvSpPr>
            <a:spLocks noGrp="1"/>
          </p:cNvSpPr>
          <p:nvPr/>
        </p:nvSpPr>
        <p:spPr>
          <a:xfrm>
            <a:off x="6000750" y="5457825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车辆事件场景：Range-Angle Map 与 selected targets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95375" y="5829300"/>
            <a:ext cx="9048750" cy="419100"/>
          </a:xfrm>
          <a:prstGeom prst="roundRect">
            <a:avLst>
              <a:gd name="adj" fmla="val 1818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95375" y="5829300"/>
            <a:ext cx="66675" cy="4191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85875" y="5943600"/>
            <a:ext cx="866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目标筛选：目标筛选的目的是过滤掉坏 target，防止进入 Kalman 滤波框架并污染主状态。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2：结构方向多目标 Kalman 融合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047750" y="20002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0955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1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Grp="1"/>
              </p:cNvSpPr>
              <p:nvPr/>
            </p:nvSpPr>
            <p:spPr>
              <a:xfrm>
                <a:off x="1143000" y="2324100"/>
                <a:ext cx="11430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27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1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324100"/>
                <a:ext cx="1143000" cy="209550"/>
              </a:xfrm>
              <a:prstGeom prst="rect">
                <a:avLst/>
              </a:prstGeom>
              <a:blipFill rotWithShape="1">
                <a:blip r:embed="rId1"/>
                <a:stretch>
                  <a:fillRect t="-3030" b="-363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11"/>
          <p:cNvSpPr>
            <a:spLocks noGrp="1"/>
          </p:cNvSpPr>
          <p:nvPr/>
        </p:nvSpPr>
        <p:spPr>
          <a:xfrm>
            <a:off x="1047750" y="29527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43000" y="30480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2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>
                <a:spLocks noGrp="1"/>
              </p:cNvSpPr>
              <p:nvPr/>
            </p:nvSpPr>
            <p:spPr>
              <a:xfrm>
                <a:off x="1143000" y="3276600"/>
                <a:ext cx="11430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27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2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276600"/>
                <a:ext cx="1143000" cy="209550"/>
              </a:xfrm>
              <a:prstGeom prst="rect">
                <a:avLst/>
              </a:prstGeom>
              <a:blipFill rotWithShape="1">
                <a:blip r:embed="rId2"/>
                <a:stretch>
                  <a:fillRect t="-3030" b="-363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圆角矩形 14"/>
          <p:cNvSpPr>
            <a:spLocks noGrp="1"/>
          </p:cNvSpPr>
          <p:nvPr/>
        </p:nvSpPr>
        <p:spPr>
          <a:xfrm>
            <a:off x="1047750" y="39052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43000" y="40005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3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>
                <a:spLocks noGrp="1"/>
              </p:cNvSpPr>
              <p:nvPr/>
            </p:nvSpPr>
            <p:spPr>
              <a:xfrm>
                <a:off x="1143000" y="4229100"/>
                <a:ext cx="11430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27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3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229100"/>
                <a:ext cx="1143000" cy="209550"/>
              </a:xfrm>
              <a:prstGeom prst="rect">
                <a:avLst/>
              </a:prstGeom>
              <a:blipFill rotWithShape="1">
                <a:blip r:embed="rId3"/>
                <a:stretch>
                  <a:fillRect t="-3030" b="-363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右箭头 17"/>
          <p:cNvSpPr>
            <a:spLocks noGrp="1"/>
          </p:cNvSpPr>
          <p:nvPr/>
        </p:nvSpPr>
        <p:spPr>
          <a:xfrm>
            <a:off x="2714625" y="2209800"/>
            <a:ext cx="666750" cy="2857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2714625" y="3162300"/>
            <a:ext cx="666750" cy="2857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0" name="右箭头 19"/>
          <p:cNvSpPr>
            <a:spLocks noGrp="1"/>
          </p:cNvSpPr>
          <p:nvPr/>
        </p:nvSpPr>
        <p:spPr>
          <a:xfrm>
            <a:off x="2714625" y="4114800"/>
            <a:ext cx="666750" cy="2857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3667125" y="1981200"/>
            <a:ext cx="314325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000500" y="22479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结构方向观测模型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>
                <a:spLocks noGrp="1"/>
              </p:cNvSpPr>
              <p:nvPr/>
            </p:nvSpPr>
            <p:spPr>
              <a:xfrm>
                <a:off x="4095750" y="2743200"/>
                <a:ext cx="2381250" cy="3619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650">
                    <a:solidFill>
                      <a:srgbClr val="18865B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𝑒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0" y="2743200"/>
                <a:ext cx="2381250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>
            <a:spLocks noGrp="1"/>
          </p:cNvSpPr>
          <p:nvPr/>
        </p:nvSpPr>
        <p:spPr>
          <a:xfrm>
            <a:off x="4095750" y="32575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矩阵形式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>
                <a:spLocks noGrp="1"/>
              </p:cNvSpPr>
              <p:nvPr/>
            </p:nvSpPr>
            <p:spPr>
              <a:xfrm>
                <a:off x="4095750" y="3524250"/>
                <a:ext cx="2381250" cy="3619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650">
                    <a:solidFill>
                      <a:srgbClr val="18865B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𝐻𝑥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𝑒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0" y="3524250"/>
                <a:ext cx="2381250" cy="3619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>
                <a:spLocks noGrp="1"/>
              </p:cNvSpPr>
              <p:nvPr/>
            </p:nvSpPr>
            <p:spPr>
              <a:xfrm>
                <a:off x="4095750" y="4038600"/>
                <a:ext cx="2381250" cy="3238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575">
                    <a:solidFill>
                      <a:srgbClr val="18865B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𝐻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[</m:t>
                      </m:r>
                      <m:r>
                        <a:rPr>
                          <a:latin typeface="DejaVu Math TeX Gyre" panose="02000503000000000000" charset="0"/>
                        </a:rPr>
                        <m:t>1</m:t>
                      </m:r>
                      <m:r>
                        <a:rPr>
                          <a:latin typeface="DejaVu Math TeX Gyre" panose="02000503000000000000" charset="0"/>
                        </a:rPr>
                        <m:t>,</m:t>
                      </m:r>
                      <m:r>
                        <a:rPr>
                          <a:latin typeface="DejaVu Math TeX Gyre" panose="02000503000000000000" charset="0"/>
                        </a:rPr>
                        <m:t>0</m:t>
                      </m:r>
                      <m:r>
                        <a:rPr>
                          <a:latin typeface="DejaVu Math TeX Gyre" panose="02000503000000000000" charset="0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750" y="4038600"/>
                <a:ext cx="2381250" cy="3238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圆角矩形 26"/>
          <p:cNvSpPr>
            <a:spLocks noGrp="1"/>
          </p:cNvSpPr>
          <p:nvPr/>
        </p:nvSpPr>
        <p:spPr>
          <a:xfrm>
            <a:off x="7429500" y="1981200"/>
            <a:ext cx="3429000" cy="2571750"/>
          </a:xfrm>
          <a:prstGeom prst="roundRect">
            <a:avLst>
              <a:gd name="adj" fmla="val 2963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762875" y="22479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结构方向观测噪声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矩形 28"/>
              <p:cNvSpPr>
                <a:spLocks noGrp="1"/>
              </p:cNvSpPr>
              <p:nvPr/>
            </p:nvSpPr>
            <p:spPr>
              <a:xfrm>
                <a:off x="7667625" y="2743200"/>
                <a:ext cx="3000375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390">
                    <a:solidFill>
                      <a:srgbClr val="16324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≈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625" y="2743200"/>
                <a:ext cx="3000375" cy="4000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/>
              <p:cNvSpPr>
                <a:spLocks noGrp="1"/>
              </p:cNvSpPr>
              <p:nvPr/>
            </p:nvSpPr>
            <p:spPr>
              <a:xfrm>
                <a:off x="7667625" y="3143250"/>
                <a:ext cx="3000375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390">
                    <a:solidFill>
                      <a:srgbClr val="16324F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corr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625" y="3143250"/>
                <a:ext cx="3000375" cy="40005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/>
          <p:cNvSpPr>
            <a:spLocks noGrp="1"/>
          </p:cNvSpPr>
          <p:nvPr/>
        </p:nvSpPr>
        <p:spPr>
          <a:xfrm>
            <a:off x="7762875" y="3733800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差异不在 H 行，而在结构方向观测噪声：LOS 噪声被 β² 放大，β 不确定性也传播进 R。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1619250" y="5619750"/>
            <a:ext cx="8953500" cy="457200"/>
          </a:xfrm>
          <a:prstGeom prst="roundRect">
            <a:avLst>
              <a:gd name="adj" fmla="val 16667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619250" y="5619750"/>
            <a:ext cx="66675" cy="4572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809750" y="57340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结论：不是多个 target 各自反算位移后平均，而是在结构主相位状态层统一融合。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预测辅助相位校正：在 LOS 空间选择正确分支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加速度预测结构主相位 Θ_k^−，再用当前 β_i^− 投影回第 i 个 target 的 LOS 空间，用于 wrapped phase 分支选择。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1714500"/>
            <a:ext cx="4171950" cy="1619250"/>
          </a:xfrm>
          <a:prstGeom prst="roundRect">
            <a:avLst>
              <a:gd name="adj" fmla="val 4706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1714500"/>
            <a:ext cx="66675" cy="1619250"/>
          </a:xfrm>
          <a:prstGeom prst="rect">
            <a:avLst/>
          </a:prstGeom>
          <a:solidFill>
            <a:srgbClr val="2C73B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18288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LOS phase prediction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Grp="1"/>
              </p:cNvSpPr>
              <p:nvPr/>
            </p:nvSpPr>
            <p:spPr>
              <a:xfrm>
                <a:off x="971550" y="2152650"/>
                <a:ext cx="3714750" cy="5143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650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𝛩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>
                                  <a:latin typeface="DejaVu Math TeX Gyre" panose="02000503000000000000" charset="0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>
                                  <a:latin typeface="DejaVu Math TeX Gyre" panose="02000503000000000000" charset="0"/>
                                </a:rPr>
                                <m:t>−</m:t>
                              </m:r>
                            </m:sup>
                          </m:sSubSup>
                        </m:den>
                      </m:f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152650"/>
                <a:ext cx="3714750" cy="514350"/>
              </a:xfrm>
              <a:prstGeom prst="rect">
                <a:avLst/>
              </a:prstGeom>
              <a:blipFill rotWithShape="1">
                <a:blip r:embed="rId1"/>
                <a:stretch>
                  <a:fillRect t="-1975" b="-209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>
            <a:spLocks noGrp="1"/>
          </p:cNvSpPr>
          <p:nvPr/>
        </p:nvSpPr>
        <p:spPr>
          <a:xfrm>
            <a:off x="971550" y="28003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β_i 是 LOS → 结构方向；预测 LOS 相位时必须除以 β_i。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81050" y="3619500"/>
            <a:ext cx="4171950" cy="1524000"/>
          </a:xfrm>
          <a:prstGeom prst="roundRect">
            <a:avLst>
              <a:gd name="adj" fmla="val 5000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3619500"/>
            <a:ext cx="66675" cy="15240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71550" y="3733800"/>
            <a:ext cx="3790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branch correction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>
                <a:spLocks noGrp="1"/>
              </p:cNvSpPr>
              <p:nvPr/>
            </p:nvSpPr>
            <p:spPr>
              <a:xfrm>
                <a:off x="971550" y="4038600"/>
                <a:ext cx="3790950" cy="666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16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corr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𝜓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r>
                        <a:rPr>
                          <a:latin typeface="DejaVu Math TeX Gyre" panose="02000503000000000000" charset="0"/>
                        </a:rPr>
                        <m:t>2</m:t>
                      </m:r>
                      <m:r>
                        <a:rPr>
                          <a:latin typeface="DejaVu Math TeX Gyre" panose="02000503000000000000" charset="0"/>
                        </a:rPr>
                        <m:t>𝜋</m:t>
                      </m:r>
                      <m:r>
                        <a:rPr>
                          <a:latin typeface="DejaVu Math TeX Gyre" panose="02000503000000000000" charset="0"/>
                        </a:rPr>
                        <m:t> </m:t>
                      </m:r>
                      <m:r>
                        <m:rPr>
                          <m:nor/>
                        </m:rPr>
                        <a:rPr>
                          <a:latin typeface="DejaVu Math TeX Gyre" panose="02000503000000000000" charset="0"/>
                        </a:rPr>
                        <m:t>round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f>
                            <m:fPr>
                              <m:ctrlPr>
                                <a:rPr/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𝑖</m:t>
                                  </m:r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,</m:t>
                                  </m:r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m:rPr>
                                      <m:nor/>
                                    </m:rPr>
                                    <a:rPr>
                                      <a:latin typeface="DejaVu Math TeX Gyre" panose="02000503000000000000" charset="0"/>
                                    </a:rPr>
                                    <m:t>LOS</m:t>
                                  </m:r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,</m:t>
                                  </m:r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−</m:t>
                                  </m:r>
                                </m:sup>
                              </m:sSubSup>
                              <m:r>
                                <a:rPr>
                                  <a:latin typeface="DejaVu Math TeX Gyre" panose="02000503000000000000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𝑖</m:t>
                                  </m:r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,</m:t>
                                  </m:r>
                                  <m:r>
                                    <a:rPr>
                                      <a:latin typeface="DejaVu Math TeX Gyre" panose="02000503000000000000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>
                                  <a:latin typeface="DejaVu Math TeX Gyre" panose="02000503000000000000" charset="0"/>
                                </a:rPr>
                                <m:t>2</m:t>
                              </m:r>
                              <m:r>
                                <a:rPr>
                                  <a:latin typeface="DejaVu Math TeX Gyre" panose="02000503000000000000" charset="0"/>
                                </a:rPr>
                                <m:t>𝜋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4038600"/>
                <a:ext cx="3790950" cy="6667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>
            <a:spLocks noGrp="1"/>
          </p:cNvSpPr>
          <p:nvPr/>
        </p:nvSpPr>
        <p:spPr>
          <a:xfrm>
            <a:off x="971550" y="47625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得到的仍是 LOS 连续相位。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5572125" y="1762125"/>
            <a:ext cx="5381625" cy="3257550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7705" y="2000250"/>
            <a:ext cx="4947920" cy="2805430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5905500" y="509587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strong wrapping 场景：wrapped phase、LOS corrected phase 与真实 LOS phase 对比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524000" y="5810250"/>
            <a:ext cx="9144000" cy="419100"/>
          </a:xfrm>
          <a:prstGeom prst="roundRect">
            <a:avLst>
              <a:gd name="adj" fmla="val 1818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524000" y="5810250"/>
            <a:ext cx="66675" cy="419100"/>
          </a:xfrm>
          <a:prstGeom prst="rect">
            <a:avLst/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714500" y="59245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结果层面：预测辅助分支选择使 strong wrapping 场景 unwrap error rate 为 0，结构方向位移 RMSE 保持在低误差水平。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3：AoA 冷启动与 β 在线自举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AoA 只提供可启动的 β 几何初值；最终 β_i 由 LOS corrected phase 与结构主相位后验在短窗口内在线更新。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00100" y="171450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42975" y="18288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AoA cold start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Grp="1"/>
              </p:cNvSpPr>
              <p:nvPr/>
            </p:nvSpPr>
            <p:spPr>
              <a:xfrm>
                <a:off x="942975" y="2095500"/>
                <a:ext cx="1428750" cy="228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16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>
                          <a:latin typeface="DejaVu Math TeX Gyre" panose="02000503000000000000" charset="0"/>
                        </a:rPr>
                        <m:t>measured</m:t>
                      </m:r>
                      <m:r>
                        <a:rPr>
                          <a:latin typeface="DejaVu Math TeX Gyre" panose="02000503000000000000" charset="0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" y="2095500"/>
                <a:ext cx="1428750" cy="2286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右箭头 11"/>
          <p:cNvSpPr>
            <a:spLocks noGrp="1"/>
          </p:cNvSpPr>
          <p:nvPr/>
        </p:nvSpPr>
        <p:spPr>
          <a:xfrm>
            <a:off x="2686050" y="1924050"/>
            <a:ext cx="457200" cy="2857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3314700" y="171450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prediction-aided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LOS correction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5295900" y="1924050"/>
            <a:ext cx="457200" cy="2857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5924550" y="171450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EAF6FC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67425" y="18288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short-window LS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>
                <a:spLocks noGrp="1"/>
              </p:cNvSpPr>
              <p:nvPr/>
            </p:nvSpPr>
            <p:spPr>
              <a:xfrm>
                <a:off x="6067425" y="2095500"/>
                <a:ext cx="1524000" cy="228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16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>
                          <a:latin typeface="DejaVu Math TeX Gyre" panose="02000503000000000000" charset="0"/>
                        </a:rPr>
                        <m:t>update</m:t>
                      </m:r>
                      <m:r>
                        <a:rPr>
                          <a:latin typeface="DejaVu Math TeX Gyre" panose="02000503000000000000" charset="0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425" y="2095500"/>
                <a:ext cx="1524000" cy="2286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圆角矩形 17"/>
          <p:cNvSpPr>
            <a:spLocks noGrp="1"/>
          </p:cNvSpPr>
          <p:nvPr/>
        </p:nvSpPr>
        <p:spPr>
          <a:xfrm>
            <a:off x="800100" y="2857500"/>
            <a:ext cx="4953000" cy="1809750"/>
          </a:xfrm>
          <a:prstGeom prst="roundRect">
            <a:avLst>
              <a:gd name="adj" fmla="val 4211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00100" y="2857500"/>
            <a:ext cx="66675" cy="1809750"/>
          </a:xfrm>
          <a:prstGeom prst="rect">
            <a:avLst/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29718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β bootstrap 公式</a:t>
            </a:r>
            <a:endParaRPr sz="12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>
                <a:spLocks noGrp="1"/>
              </p:cNvSpPr>
              <p:nvPr/>
            </p:nvSpPr>
            <p:spPr>
              <a:xfrm>
                <a:off x="990600" y="3219450"/>
                <a:ext cx="45720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42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𝜏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𝜏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corr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219450"/>
                <a:ext cx="4572000" cy="304800"/>
              </a:xfrm>
              <a:prstGeom prst="rect">
                <a:avLst/>
              </a:prstGeom>
              <a:blipFill rotWithShape="1">
                <a:blip r:embed="rId3"/>
                <a:stretch>
                  <a:fillRect t="-3333" b="-354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>
                <a:spLocks noGrp="1"/>
              </p:cNvSpPr>
              <p:nvPr/>
            </p:nvSpPr>
            <p:spPr>
              <a:xfrm>
                <a:off x="990600" y="3543300"/>
                <a:ext cx="4572000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42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𝜏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𝜏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543300"/>
                <a:ext cx="4572000" cy="2857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>
            <a:spLocks noGrp="1"/>
          </p:cNvSpPr>
          <p:nvPr/>
        </p:nvSpPr>
        <p:spPr>
          <a:xfrm>
            <a:off x="990600" y="39433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中心化后</a:t>
            </a:r>
            <a:endParaRPr sz="1165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 23"/>
              <p:cNvSpPr>
                <a:spLocks noGrp="1"/>
              </p:cNvSpPr>
              <p:nvPr/>
            </p:nvSpPr>
            <p:spPr>
              <a:xfrm>
                <a:off x="990600" y="4133850"/>
                <a:ext cx="2095500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500">
                    <a:solidFill>
                      <a:srgbClr val="18865B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>
                              <a:latin typeface="DejaVu Math TeX Gyre" panose="02000503000000000000" charset="0"/>
                            </a:rPr>
                            <m:t>𝛴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>
                              <a:latin typeface="DejaVu Math TeX Gyre" panose="02000503000000000000" charset="0"/>
                            </a:rPr>
                            <m:t>𝛴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>
                                  <a:latin typeface="DejaVu Math TeX Gyre" panose="02000503000000000000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133850"/>
                <a:ext cx="2095500" cy="400050"/>
              </a:xfrm>
              <a:prstGeom prst="rect">
                <a:avLst/>
              </a:prstGeom>
              <a:blipFill rotWithShape="1">
                <a:blip r:embed="rId5"/>
                <a:stretch>
                  <a:fillRect t="-11270" b="-1158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矩形 24"/>
              <p:cNvSpPr>
                <a:spLocks noGrp="1"/>
              </p:cNvSpPr>
              <p:nvPr/>
            </p:nvSpPr>
            <p:spPr>
              <a:xfrm>
                <a:off x="3238500" y="4133850"/>
                <a:ext cx="2324100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500">
                    <a:solidFill>
                      <a:srgbClr val="18865B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4133850"/>
                <a:ext cx="2324100" cy="4000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圆角矩形 25"/>
          <p:cNvSpPr>
            <a:spLocks noGrp="1"/>
          </p:cNvSpPr>
          <p:nvPr/>
        </p:nvSpPr>
        <p:spPr>
          <a:xfrm>
            <a:off x="6286500" y="2857500"/>
            <a:ext cx="47625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028950"/>
            <a:ext cx="4381500" cy="180975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6429375" y="51435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AoA 初值误差场景：β_hat 在线估计逐步靠近 β_true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381125" y="5829300"/>
            <a:ext cx="9429750" cy="419100"/>
          </a:xfrm>
          <a:prstGeom prst="roundRect">
            <a:avLst>
              <a:gd name="adj" fmla="val 1818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381125" y="5829300"/>
            <a:ext cx="66675" cy="4191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571625" y="594360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注意：β 是慢变量/几何参数，预测采用持久化模型；它不是像 Θ 那样由加速度驱动的动态状态。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完整算法流程框图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状态统一定义在结构真实振动方向；雷达先在 LOS 空间修正分支，再转换为结构方向观测参与融合。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165735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Radar ADC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190750" y="165735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905250" y="165735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targets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810250" y="165735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selection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presence / SNR / band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953375" y="165735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AoA cold start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measured β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1714500" y="1847850"/>
            <a:ext cx="34290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5" name="右箭头 14"/>
          <p:cNvSpPr>
            <a:spLocks noGrp="1"/>
          </p:cNvSpPr>
          <p:nvPr/>
        </p:nvSpPr>
        <p:spPr>
          <a:xfrm>
            <a:off x="3429000" y="1847850"/>
            <a:ext cx="34290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6" name="右箭头 15"/>
          <p:cNvSpPr>
            <a:spLocks noGrp="1"/>
          </p:cNvSpPr>
          <p:nvPr/>
        </p:nvSpPr>
        <p:spPr>
          <a:xfrm>
            <a:off x="5191125" y="1847850"/>
            <a:ext cx="34290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7" name="右箭头 16"/>
          <p:cNvSpPr>
            <a:spLocks noGrp="1"/>
          </p:cNvSpPr>
          <p:nvPr/>
        </p:nvSpPr>
        <p:spPr>
          <a:xfrm>
            <a:off x="7334250" y="1847850"/>
            <a:ext cx="34290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76300" y="3381375"/>
            <a:ext cx="1619250" cy="590550"/>
          </a:xfrm>
          <a:prstGeom prst="roundRect">
            <a:avLst>
              <a:gd name="adj" fmla="val 12903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Acceleration input</a:t>
            </a:r>
            <a:endParaRPr sz="120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/>
          <p:cNvSpPr>
            <a:spLocks noGrp="1"/>
          </p:cNvSpPr>
          <p:nvPr/>
        </p:nvSpPr>
        <p:spPr>
          <a:xfrm>
            <a:off x="2667000" y="3552825"/>
            <a:ext cx="49530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3333750" y="325755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EAF6FC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476625" y="3371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主相位预测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/>
              <p:cNvSpPr>
                <a:spLocks noGrp="1"/>
              </p:cNvSpPr>
              <p:nvPr/>
            </p:nvSpPr>
            <p:spPr>
              <a:xfrm>
                <a:off x="3476625" y="3657600"/>
                <a:ext cx="1524000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31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𝐴𝑥</m:t>
                      </m:r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r>
                        <a:rPr>
                          <a:latin typeface="DejaVu Math TeX Gyre" panose="02000503000000000000" charset="0"/>
                        </a:rPr>
                        <m:t>𝐵𝑎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625" y="3657600"/>
                <a:ext cx="1524000" cy="2857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右箭头 22"/>
          <p:cNvSpPr>
            <a:spLocks noGrp="1"/>
          </p:cNvSpPr>
          <p:nvPr/>
        </p:nvSpPr>
        <p:spPr>
          <a:xfrm>
            <a:off x="5314950" y="3552825"/>
            <a:ext cx="49530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5981700" y="3257550"/>
            <a:ext cx="1952625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124575" y="3371850"/>
            <a:ext cx="166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LOS prediction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>
                <a:spLocks noGrp="1"/>
              </p:cNvSpPr>
              <p:nvPr/>
            </p:nvSpPr>
            <p:spPr>
              <a:xfrm>
                <a:off x="6172200" y="3619500"/>
                <a:ext cx="1571625" cy="3619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350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/>
                          </m:ctrlPr>
                        </m:fPr>
                        <m:num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𝛩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>
                                  <a:latin typeface="DejaVu Math TeX Gyre" panose="02000503000000000000" charset="0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>
                                  <a:latin typeface="DejaVu Math TeX Gyre" panose="02000503000000000000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>
                                  <a:latin typeface="DejaVu Math TeX Gyre" panose="02000503000000000000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>
                                  <a:latin typeface="DejaVu Math TeX Gyre" panose="02000503000000000000" charset="0"/>
                                </a:rPr>
                                <m:t>−</m:t>
                              </m:r>
                            </m:sup>
                          </m:sSubSup>
                        </m:den>
                      </m:f>
                      <m:r>
                        <a:rPr>
                          <a:latin typeface="DejaVu Math TeX Gyre" panose="02000503000000000000" charset="0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3619500"/>
                <a:ext cx="1571625" cy="361950"/>
              </a:xfrm>
              <a:prstGeom prst="rect">
                <a:avLst/>
              </a:prstGeom>
              <a:blipFill rotWithShape="1">
                <a:blip r:embed="rId2"/>
                <a:stretch>
                  <a:fillRect t="-10175" b="-1052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右箭头 26"/>
          <p:cNvSpPr>
            <a:spLocks noGrp="1"/>
          </p:cNvSpPr>
          <p:nvPr/>
        </p:nvSpPr>
        <p:spPr>
          <a:xfrm>
            <a:off x="8096250" y="3552825"/>
            <a:ext cx="49530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763000" y="3257550"/>
            <a:ext cx="1905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905875" y="33718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LOS phase correction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/>
              <p:cNvSpPr>
                <a:spLocks noGrp="1"/>
              </p:cNvSpPr>
              <p:nvPr/>
            </p:nvSpPr>
            <p:spPr>
              <a:xfrm>
                <a:off x="8953500" y="3657600"/>
                <a:ext cx="1524000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31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corr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0" y="3657600"/>
                <a:ext cx="1524000" cy="285750"/>
              </a:xfrm>
              <a:prstGeom prst="rect">
                <a:avLst/>
              </a:prstGeom>
              <a:blipFill rotWithShape="1">
                <a:blip r:embed="rId3"/>
                <a:stretch>
                  <a:fillRect t="-2889" b="-311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圆角矩形 30"/>
          <p:cNvSpPr>
            <a:spLocks noGrp="1"/>
          </p:cNvSpPr>
          <p:nvPr/>
        </p:nvSpPr>
        <p:spPr>
          <a:xfrm>
            <a:off x="3333750" y="4810125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/>
              <p:cNvSpPr>
                <a:spLocks noGrp="1"/>
              </p:cNvSpPr>
              <p:nvPr/>
            </p:nvSpPr>
            <p:spPr>
              <a:xfrm>
                <a:off x="3476625" y="4895850"/>
                <a:ext cx="2095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090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−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𝜑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LOS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>
                              <a:latin typeface="DejaVu Math TeX Gyre" panose="02000503000000000000" charset="0"/>
                            </a:rPr>
                            <m:t>corr</m:t>
                          </m:r>
                        </m:sup>
                      </m:sSubSup>
                      <m:r>
                        <a:rPr>
                          <a:latin typeface="DejaVu Math TeX Gyre" panose="02000503000000000000" charset="0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𝑏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625" y="4895850"/>
                <a:ext cx="2095500" cy="3429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/>
              <p:cNvSpPr>
                <a:spLocks noGrp="1"/>
              </p:cNvSpPr>
              <p:nvPr/>
            </p:nvSpPr>
            <p:spPr>
              <a:xfrm>
                <a:off x="3476625" y="5257800"/>
                <a:ext cx="2095500" cy="228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27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𝑅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,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625" y="5257800"/>
                <a:ext cx="2095500" cy="228600"/>
              </a:xfrm>
              <a:prstGeom prst="rect">
                <a:avLst/>
              </a:prstGeom>
              <a:blipFill rotWithShape="1">
                <a:blip r:embed="rId5"/>
                <a:stretch>
                  <a:fillRect t="-833" b="-138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右箭头 33"/>
          <p:cNvSpPr>
            <a:spLocks noGrp="1"/>
          </p:cNvSpPr>
          <p:nvPr/>
        </p:nvSpPr>
        <p:spPr>
          <a:xfrm>
            <a:off x="5905500" y="5067300"/>
            <a:ext cx="47625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6572250" y="4810125"/>
            <a:ext cx="2000250" cy="762000"/>
          </a:xfrm>
          <a:prstGeom prst="roundRect">
            <a:avLst>
              <a:gd name="adj" fmla="val 10000"/>
            </a:avLst>
          </a:prstGeom>
          <a:solidFill>
            <a:srgbClr val="EAF6FC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715125" y="49149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Multi-target Kalman</a:t>
            </a:r>
            <a:endParaRPr sz="116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 36"/>
              <p:cNvSpPr>
                <a:spLocks noGrp="1"/>
              </p:cNvSpPr>
              <p:nvPr/>
            </p:nvSpPr>
            <p:spPr>
              <a:xfrm>
                <a:off x="6715125" y="5200650"/>
                <a:ext cx="1714500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31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>
                              <a:latin typeface="DejaVu Math TeX Gyre" panose="02000503000000000000" charset="0"/>
                            </a:rPr>
                            <m:t>𝐻</m:t>
                          </m:r>
                        </m:e>
                        <m:sub>
                          <m:r>
                            <a:rPr>
                              <a:latin typeface="DejaVu Math TeX Gyre" panose="02000503000000000000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r>
                        <a:rPr>
                          <a:latin typeface="DejaVu Math TeX Gyre" panose="02000503000000000000" charset="0"/>
                        </a:rPr>
                        <m:t>[</m:t>
                      </m:r>
                      <m:r>
                        <a:rPr>
                          <a:latin typeface="DejaVu Math TeX Gyre" panose="02000503000000000000" charset="0"/>
                        </a:rPr>
                        <m:t>1</m:t>
                      </m:r>
                      <m:r>
                        <a:rPr>
                          <a:latin typeface="DejaVu Math TeX Gyre" panose="02000503000000000000" charset="0"/>
                        </a:rPr>
                        <m:t>,</m:t>
                      </m:r>
                      <m:r>
                        <a:rPr>
                          <a:latin typeface="DejaVu Math TeX Gyre" panose="02000503000000000000" charset="0"/>
                        </a:rPr>
                        <m:t>0</m:t>
                      </m:r>
                      <m:r>
                        <a:rPr>
                          <a:latin typeface="DejaVu Math TeX Gyre" panose="02000503000000000000" charset="0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125" y="5200650"/>
                <a:ext cx="1714500" cy="2857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右箭头 37"/>
          <p:cNvSpPr>
            <a:spLocks noGrp="1"/>
          </p:cNvSpPr>
          <p:nvPr/>
        </p:nvSpPr>
        <p:spPr>
          <a:xfrm>
            <a:off x="8763000" y="5067300"/>
            <a:ext cx="476250" cy="24765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9" name="圆角矩形 38"/>
          <p:cNvSpPr>
            <a:spLocks noGrp="1"/>
          </p:cNvSpPr>
          <p:nvPr/>
        </p:nvSpPr>
        <p:spPr>
          <a:xfrm>
            <a:off x="9429750" y="4810125"/>
            <a:ext cx="16192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525000" y="49149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09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Displacement output</a:t>
            </a:r>
            <a:endParaRPr sz="109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/>
              <p:cNvSpPr>
                <a:spLocks noGrp="1"/>
              </p:cNvSpPr>
              <p:nvPr/>
            </p:nvSpPr>
            <p:spPr>
              <a:xfrm>
                <a:off x="9620250" y="5181600"/>
                <a:ext cx="123825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lIns="0" tIns="0" rIns="0" bIns="0" anchor="ctr"/>
              <a:lstStyle/>
              <a:p>
                <a:pPr algn="ctr">
                  <a:defRPr sz="1315">
                    <a:solidFill>
                      <a:srgbClr val="17406D"/>
                    </a:solidFill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DejaVu Math TeX Gyre" panose="02000503000000000000" charset="0"/>
                        </a:rPr>
                        <m:t>𝑞</m:t>
                      </m:r>
                      <m:r>
                        <a:rPr>
                          <a:latin typeface="DejaVu Math TeX Gyre" panose="02000503000000000000" charset="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>
                              <a:latin typeface="DejaVu Math TeX Gyre" panose="02000503000000000000" charset="0"/>
                            </a:rPr>
                            <m:t>𝜆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𝛩</m:t>
                          </m:r>
                        </m:num>
                        <m:den>
                          <m:r>
                            <a:rPr>
                              <a:latin typeface="DejaVu Math TeX Gyre" panose="02000503000000000000" charset="0"/>
                            </a:rPr>
                            <m:t>4</m:t>
                          </m:r>
                          <m:r>
                            <a:rPr>
                              <a:latin typeface="DejaVu Math TeX Gyre" panose="02000503000000000000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0250" y="5181600"/>
                <a:ext cx="1238250" cy="304800"/>
              </a:xfrm>
              <a:prstGeom prst="rect">
                <a:avLst/>
              </a:prstGeom>
              <a:blipFill rotWithShape="1">
                <a:blip r:embed="rId7"/>
                <a:stretch>
                  <a:fillRect t="-13542" b="-1395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矩形 41"/>
          <p:cNvSpPr>
            <a:spLocks noGrp="1"/>
          </p:cNvSpPr>
          <p:nvPr/>
        </p:nvSpPr>
        <p:spPr>
          <a:xfrm>
            <a:off x="8629650" y="43053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β bootstrap update</a:t>
            </a:r>
            <a:endParaRPr sz="1200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下箭头 42"/>
          <p:cNvSpPr>
            <a:spLocks noGrp="1"/>
          </p:cNvSpPr>
          <p:nvPr/>
        </p:nvSpPr>
        <p:spPr>
          <a:xfrm>
            <a:off x="9572625" y="4095750"/>
            <a:ext cx="400050" cy="552450"/>
          </a:xfrm>
          <a:prstGeom prst="downArrow">
            <a:avLst/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1476375" y="5981700"/>
            <a:ext cx="9239250" cy="342900"/>
          </a:xfrm>
          <a:prstGeom prst="roundRect">
            <a:avLst>
              <a:gd name="adj" fmla="val 2222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476375" y="5981700"/>
            <a:ext cx="66675" cy="3429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666875" y="6096000"/>
            <a:ext cx="885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闭环重点：预测、LOS 分支校正、结构方向 Kalman 更新、β 自举与 target-wise R_i,k^Θ 更新在同一流程中完成。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Phase 1 仿真实验设计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16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实验输出已统一为 beta 语义：方法名、指标名与诊断图均使用 β / beta，不再使用旧 reciprocal 参数作为主叙事。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62000" y="1638300"/>
            <a:ext cx="4953000" cy="3352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00125" y="1885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六个主实验场景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0125" y="2457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00125" y="27146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7.7737 / 11.5742 / 26.5642 Hz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333750" y="2457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强相位缠绕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33750" y="27146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约 5 mm 峰值位移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00125" y="3238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同 range 远角度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00125" y="34956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 angle-bin 分离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333750" y="3238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AoA 初值误差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33750" y="34956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 β 在线自举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0125" y="40195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SNR drop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00125" y="42767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验证坏目标降权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33750" y="40195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车辆非平稳事件</a:t>
            </a:r>
            <a:endParaRPr sz="127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333750" y="42767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验证完整闭环运行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477000" y="1638300"/>
            <a:ext cx="4381500" cy="3352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715125" y="1885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默认主对比方法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905625" y="25146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Range-bin Itoh</a:t>
            </a:r>
            <a:endParaRPr sz="124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905625" y="276225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传统 range-bin phase + Itoh unwrap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05625" y="313372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Ma2026 reproduction</a:t>
            </a:r>
            <a:endParaRPr sz="124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905625" y="338137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正式 Ma-family staged baseline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905625" y="375285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selected_aoa_fixed_beta</a:t>
            </a:r>
            <a:endParaRPr sz="124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905625" y="4000500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筛选 target + 固定 AoA β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905625" y="437197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proposed_full_pipeline_beta_confidence</a:t>
            </a:r>
            <a:endParaRPr sz="1240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905625" y="461962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本文完整链路 + β confidence</a:t>
            </a:r>
            <a:endParaRPr sz="109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571625" y="5829300"/>
            <a:ext cx="9048750" cy="419100"/>
          </a:xfrm>
          <a:prstGeom prst="roundRect">
            <a:avLst>
              <a:gd name="adj" fmla="val 1818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571625" y="5829300"/>
            <a:ext cx="66675" cy="4191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762125" y="5943600"/>
            <a:ext cx="866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边界：当前为算法级 synthetic ADC / Range-Angle 验证，不声称完成真实 IWR1843 ADC 实测闭环。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实验结果：主场景 RMSE 对比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17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381125"/>
            <a:ext cx="2800350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19500" y="1381125"/>
            <a:ext cx="1371600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range-bin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991100" y="1381125"/>
            <a:ext cx="1371600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Ma2026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62700" y="1381125"/>
            <a:ext cx="1371600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fixed β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734300" y="1381125"/>
            <a:ext cx="1562100" cy="53340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本文方法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1914525"/>
            <a:ext cx="280035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19500" y="19145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0.0136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91100" y="19145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0.0122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62700" y="19145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0.0583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34300" y="1914525"/>
            <a:ext cx="15621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0.0088</a:t>
            </a:r>
            <a:endParaRPr sz="1125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2447925"/>
            <a:ext cx="28003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强相位缠绕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19500" y="24479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5.5477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91100" y="24479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0.0341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62700" y="24479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12.3801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34300" y="2447925"/>
            <a:ext cx="1562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0.0111</a:t>
            </a:r>
            <a:endParaRPr sz="1125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" y="2981325"/>
            <a:ext cx="280035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同距离远角度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619500" y="29813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0.0745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91100" y="29813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0.0906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62700" y="29813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0.0512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734300" y="2981325"/>
            <a:ext cx="15621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0.0135</a:t>
            </a:r>
            <a:endParaRPr sz="1125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9150" y="3514725"/>
            <a:ext cx="28003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AoA 初值误差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619500" y="35147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0.0382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991100" y="35147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0.0386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362700" y="35147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0.0799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734300" y="3514725"/>
            <a:ext cx="1562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0.0574</a:t>
            </a:r>
            <a:endParaRPr sz="1125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19150" y="4048125"/>
            <a:ext cx="280035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SNR 下降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619500" y="40481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2.4951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991100" y="40481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0.1777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362700" y="4048125"/>
            <a:ext cx="13716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0.0814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734300" y="4048125"/>
            <a:ext cx="1562100" cy="5334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0.0591</a:t>
            </a:r>
            <a:endParaRPr sz="1125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19150" y="4581525"/>
            <a:ext cx="28003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车辆事件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619500" y="45815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0.0224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991100" y="45815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0.0354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62700" y="4581525"/>
            <a:ext cx="1371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0.0296</a:t>
            </a:r>
            <a:endParaRPr sz="1125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734300" y="4581525"/>
            <a:ext cx="15621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0.0139</a:t>
            </a:r>
            <a:endParaRPr sz="1125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7250" y="576262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25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单位：mm；数值越小表示相对位移估计误差越低。</a:t>
            </a:r>
            <a:endParaRPr sz="1125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429375" y="57150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观察：本文方法在强 wrapping、同 range 远角度、AoA 初值误差和车辆事件等关键场景均保持低误差。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车辆事件仿真数据：时域与频域响应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2573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车辆非平稳事件场景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65735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用于说明本次主展示场景的数据形态：前段近似静止/弱振动，随后进入车辆事件主响应，并在频域形成非平稳谱峰与泄漏。</a:t>
            </a:r>
            <a:endParaRPr sz="127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81050" y="2143125"/>
            <a:ext cx="5048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334125" y="2143125"/>
            <a:ext cx="5048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362200"/>
            <a:ext cx="4781550" cy="23812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7475" y="2362200"/>
            <a:ext cx="4781550" cy="238125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1000125" y="5143500"/>
            <a:ext cx="457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时域位移：弱振动逐步进入车辆事件响应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53200" y="5143500"/>
            <a:ext cx="457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频域位移：主响应频带与非平稳包络共同形成谱峰/泄漏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638300" y="5810250"/>
            <a:ext cx="8905875" cy="457200"/>
          </a:xfrm>
          <a:prstGeom prst="roundRect">
            <a:avLst>
              <a:gd name="adj" fmla="val 16667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638300" y="5810250"/>
            <a:ext cx="76200" cy="4572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828800" y="5943600"/>
            <a:ext cx="8601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后续指标图均围绕该车辆事件场景展开：先看转换系数自举，再看位移估计对比。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AoA 初值误差：β 自举与车辆事件位移对比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  <a:endParaRPr sz="1125" b="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19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2573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左图采用标准 AoA bootstrap 场景验证 β 在线自举；右图采用车辆事件场景验证位移估计鲁棒性。</a:t>
            </a:r>
            <a:endParaRPr sz="1575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1600200"/>
            <a:ext cx="942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两张图都引入 10° AoA 初值误差，但分别服务于“β 收敛诊断”和“车辆事件位移对比”两个结论。</a:t>
            </a:r>
            <a:endParaRPr sz="127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85800" y="2047875"/>
            <a:ext cx="5095875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43625" y="2047875"/>
            <a:ext cx="5095875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" y="2209800"/>
            <a:ext cx="4714875" cy="26670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4125" y="2209800"/>
            <a:ext cx="4714875" cy="2667000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800100" y="5219700"/>
            <a:ext cx="4810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β 自举：标准 AoA bootstrap 场景下验证在线收敛趋势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57925" y="5219700"/>
            <a:ext cx="4810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ctr">
              <a:def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位移对比：本文方法降低固定 β 初值误差影响</a:t>
            </a:r>
            <a:endParaRPr sz="1200">
              <a:solidFill>
                <a:srgbClr val="667A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381125" y="5810250"/>
            <a:ext cx="9429750" cy="457200"/>
          </a:xfrm>
          <a:prstGeom prst="roundRect">
            <a:avLst>
              <a:gd name="adj" fmla="val 16667"/>
            </a:avLst>
          </a:prstGeom>
          <a:solidFill>
            <a:srgbClr val="F8FCFF"/>
          </a:solidFill>
          <a:ln w="11430">
            <a:solidFill>
              <a:srgbClr val="009DD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81125" y="5810250"/>
            <a:ext cx="76200" cy="4572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571625" y="594360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车辆事件 + 10° AoA 初值误差 RMSE：fixed β 0.0430 mm，Ma2026 0.0354 mm，本文方法 0.0250 mm。</a:t>
            </a:r>
            <a:endParaRPr sz="135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毫米波雷达硬件比选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硬件比选</a:t>
            </a:r>
            <a:endParaRPr sz="13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21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优先获取可控相位与 Range-Angle 信息：本文关注的不是单纯“能测距”，而是能否开放复数相位、原始 ADC 和角度维信息，支撑后续 target 筛选与相位融合。</a:t>
            </a:r>
            <a:endParaRPr sz="127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666875"/>
            <a:ext cx="2095500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候选雷达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62250" y="1666875"/>
            <a:ext cx="3190875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核心优势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53125" y="1666875"/>
            <a:ext cx="2714625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主要局限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67750" y="1666875"/>
            <a:ext cx="2381250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适配判断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2066925"/>
            <a:ext cx="209550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TI IWR1843BOOST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+ DCA1000EVM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62250" y="2066925"/>
            <a:ext cx="319087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76-81 GHz，短波长；3TX/4RX MIMO；可采原始 ADC；TI SDK / mmWave Studio 生态成熟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53125" y="2066925"/>
            <a:ext cx="271462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DCA1000 增加成本和采集复杂度；现场部署较重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667750" y="2066925"/>
            <a:ext cx="238125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主推荐：适合自定义相位提取、Range-Angle target 筛选与多目标融合验证</a:t>
            </a:r>
            <a:endParaRPr sz="960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2095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TI IWR6843AOP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/ AOPEVM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62250" y="2752725"/>
            <a:ext cx="31908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60 GHz；AOP 集成天线；视场较宽，适合搜索多个环境静止散射体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53125" y="2752725"/>
            <a:ext cx="27146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相位灵敏度略低于 77 GHz；结构位移资料相对少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2752725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备选：适合宽视场、目标分布较散现场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3438525"/>
            <a:ext cx="209550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TI IWR1642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762250" y="3438525"/>
            <a:ext cx="319087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76-81 GHz；资料较成熟；可做基本相位位移实验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53125" y="3438525"/>
            <a:ext cx="271462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2TX，elevation / range-angle 能力弱于 IWR1843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667750" y="3438525"/>
            <a:ext cx="238125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可作低成本替代，不作为主方案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" y="4124325"/>
            <a:ext cx="2095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Infineon BGT60TR13C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/ Acconeer A121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762250" y="4124325"/>
            <a:ext cx="31908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小型、低功耗、成本低，适合近距离微动/存在检测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953125" y="4124325"/>
            <a:ext cx="27146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多通道角度处理、原始复数数据开放性和远距离结构监测适配性不足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67750" y="4124325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不作为主方案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4810125"/>
            <a:ext cx="209550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NXP TEF82xx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/ SAF85xx</a:t>
            </a:r>
            <a:endParaRPr sz="101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762250" y="4810125"/>
            <a:ext cx="319087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性能强，适合汽车雷达和成像雷达平台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953125" y="4810125"/>
            <a:ext cx="271462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成本高，开发门槛高，原始数据和高校实验资料获取不便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67750" y="4810125"/>
            <a:ext cx="238125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不作为实验首选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428750" y="5905500"/>
            <a:ext cx="9334500" cy="419100"/>
          </a:xfrm>
          <a:prstGeom prst="roundRect">
            <a:avLst>
              <a:gd name="adj" fmla="val 1818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28750" y="5905500"/>
            <a:ext cx="66675" cy="4191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619250" y="60198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结论：选择 IWR1843BOOST + DCA1000EVM 的核心原因是开放原始 ADC 与复数相位数据，而不是只输出点云。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MEMS 加速度计硬件比选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硬件比选</a:t>
            </a:r>
            <a:endParaRPr sz="13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22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优先低噪声、低漂移与同步采集：加速度计在本文中不是单独积分求位移，而是作为短时动力学先验，服务于 Kalman 预测和 wrapped phase 分支校正。</a:t>
            </a:r>
            <a:endParaRPr sz="127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666875"/>
            <a:ext cx="2095500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候选加速度计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762250" y="1666875"/>
            <a:ext cx="3190875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核心优势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53125" y="1666875"/>
            <a:ext cx="2714625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主要局限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67750" y="1666875"/>
            <a:ext cx="2381250" cy="400050"/>
          </a:xfrm>
          <a:prstGeom prst="rect">
            <a:avLst/>
          </a:prstGeom>
          <a:solidFill>
            <a:srgbClr val="17406D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适配判断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2066925"/>
            <a:ext cx="209550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ADXL355</a:t>
            </a:r>
            <a:endParaRPr sz="103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62250" y="2066925"/>
            <a:ext cx="319087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低噪声、低漂移；±2/±4/±8 g；20-bit 数字输出；SPI/I2C 易采集；三轴测量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53125" y="2066925"/>
            <a:ext cx="271462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强冲击下可能量程不足；仍需安装方向、bias、温漂标定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667750" y="2066925"/>
            <a:ext cx="238125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1">
                <a:solidFill>
                  <a:srgbClr val="18865B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1">
                <a:solidFill>
                  <a:srgbClr val="18865B"/>
                </a:solidFill>
                <a:latin typeface="微软雅黑"/>
                <a:ea typeface="微软雅黑"/>
                <a:cs typeface="微软雅黑"/>
              </a:rPr>
              <a:t>主推荐：适合作为 Kalman 预测和相位分支校正的短时动力学先验</a:t>
            </a:r>
            <a:endParaRPr sz="960" b="1">
              <a:solidFill>
                <a:srgbClr val="18865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2095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ADXL357</a:t>
            </a:r>
            <a:endParaRPr sz="103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62250" y="2752725"/>
            <a:ext cx="31908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同属低噪声低漂移 MEMS；量程更大，±10/±20/±40 g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53125" y="2752725"/>
            <a:ext cx="27146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小信号分辨率相对 ADXL355 不占优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2752725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强冲击工况备选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3438525"/>
            <a:ext cx="209550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ADXL1002</a:t>
            </a:r>
            <a:endParaRPr sz="103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762250" y="3438525"/>
            <a:ext cx="319087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高频、低噪声，适合工业振动和冲击测量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53125" y="3438525"/>
            <a:ext cx="271462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单轴、模拟输出、量程大；不适合作为低频三轴融合主传感器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667750" y="3438525"/>
            <a:ext cx="238125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高频/强冲击补充通道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" y="4124325"/>
            <a:ext cx="2095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ADXL335</a:t>
            </a:r>
            <a:endParaRPr sz="103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762250" y="4124325"/>
            <a:ext cx="319087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成本低，使用简单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953125" y="4124325"/>
            <a:ext cx="2714625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模拟输出；噪声和漂移较大；不适合高精度位移融合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667750" y="4124325"/>
            <a:ext cx="2381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不推荐作为正式主传感器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6750" y="4810125"/>
            <a:ext cx="209550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PCB / Dytran</a:t>
            </a:r>
            <a:endParaRPr sz="103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/ IEPE 类</a:t>
            </a:r>
            <a:endParaRPr sz="103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762250" y="4810125"/>
            <a:ext cx="319087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工程测振成熟，精度和可靠性高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953125" y="4810125"/>
            <a:ext cx="2714625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价格高；需要信号调理器和 DAQ；系统集成复杂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67750" y="4810125"/>
            <a:ext cx="2381250" cy="685800"/>
          </a:xfrm>
          <a:prstGeom prst="rect">
            <a:avLst/>
          </a:prstGeom>
          <a:solidFill>
            <a:srgbClr val="F8FCFF"/>
          </a:solidFill>
          <a:ln w="9525">
            <a:solidFill>
              <a:srgbClr val="B9D7E8"/>
            </a:solidFill>
            <a:prstDash val="solid"/>
          </a:ln>
        </p:spPr>
        <p:txBody>
          <a:bodyPr lIns="95250" tIns="38100" rIns="95250" bIns="38100" anchor="ctr"/>
          <a:lstStyle/>
          <a:p>
            <a:pPr algn="l">
              <a:def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可作为参考/对照，不作为轻量化主方案</a:t>
            </a:r>
            <a:endParaRPr sz="960" b="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428750" y="5905500"/>
            <a:ext cx="9334500" cy="419100"/>
          </a:xfrm>
          <a:prstGeom prst="roundRect">
            <a:avLst>
              <a:gd name="adj" fmla="val 1818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428750" y="5905500"/>
            <a:ext cx="66675" cy="419100"/>
          </a:xfrm>
          <a:prstGeom prst="rect">
            <a:avLst/>
          </a:prstGeom>
          <a:solidFill>
            <a:srgbClr val="18865B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619250" y="6019800"/>
            <a:ext cx="895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结论：选择 ADXL355 是因为其在低频结构振动、数字采集、低噪声、低漂移和三轴测量之间最均衡。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406D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14300"/>
            <a:ext cx="12192000" cy="47625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42900"/>
            <a:ext cx="838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推荐硬件组合与统一采集路线</a:t>
            </a:r>
            <a:endParaRPr sz="2700" b="1">
              <a:solidFill>
                <a:srgbClr val="17406D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620250" y="4191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硬件比选</a:t>
            </a:r>
            <a:endParaRPr sz="13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353800" y="64008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667A8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23</a:t>
            </a:r>
            <a:endParaRPr sz="1200" b="0">
              <a:solidFill>
                <a:srgbClr val="667A8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0" y="904875"/>
            <a:ext cx="10858500" cy="11430"/>
          </a:xfrm>
          <a:prstGeom prst="rect">
            <a:avLst/>
          </a:prstGeom>
          <a:solidFill>
            <a:srgbClr val="B9D7E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11620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唯一采集拓扑：Raspberry Pi 4 直接连接并统一采集 IWR1843BOOST、DCA1000EVM 与 ADXL355；电脑仅通过 Wi-Fi/SSH 远程操控。</a:t>
            </a:r>
            <a:endParaRPr sz="127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631950" y="1752600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31950" y="1752600"/>
            <a:ext cx="66675" cy="200025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41500" y="192405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Pi 4 本地采集节点</a:t>
            </a:r>
            <a:endParaRPr sz="15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41500" y="2343150"/>
            <a:ext cx="29146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Raspberry Pi 4 + IWR1843BOOST + DCA1000EVM + ADXL355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endParaRPr sz="1165"/>
          </a:p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Pi 统一采集、时间戳、同步协调与本地存储；所有原始数据先落盘到 Pi。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030595" y="1758315"/>
            <a:ext cx="33337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1430">
            <a:solidFill>
              <a:srgbClr val="B9D7E8"/>
            </a:solidFill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30595" y="1758315"/>
            <a:ext cx="66675" cy="2000250"/>
          </a:xfrm>
          <a:prstGeom prst="rect">
            <a:avLst/>
          </a:prstGeom>
          <a:solidFill>
            <a:srgbClr val="18865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40145" y="1929765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电脑端职责</a:t>
            </a:r>
            <a:endParaRPr sz="150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40145" y="2348865"/>
            <a:ext cx="29146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电脑 + Wi-Fi/SSH + 离线分析环境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endParaRPr sz="1165"/>
          </a:p>
          <a:p>
            <a:pPr algn="l">
              <a:def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仅远程启停、查看状态、采后拷贝和离线分析，不参与采集或计时。</a:t>
            </a:r>
            <a:endParaRPr sz="1165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41433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数据链路</a:t>
            </a:r>
            <a:endParaRPr sz="1650" b="1">
              <a:solidFill>
                <a:srgbClr val="17406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57250" y="4619625"/>
            <a:ext cx="1952625" cy="685800"/>
          </a:xfrm>
          <a:prstGeom prst="roundRect">
            <a:avLst>
              <a:gd name="adj" fmla="val 11111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IWR1843BOOST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+ DCA1000EVM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右箭头 22"/>
          <p:cNvSpPr>
            <a:spLocks noGrp="1"/>
          </p:cNvSpPr>
          <p:nvPr/>
        </p:nvSpPr>
        <p:spPr>
          <a:xfrm>
            <a:off x="3000375" y="4810125"/>
            <a:ext cx="4572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3648075" y="4619625"/>
            <a:ext cx="23336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009DD9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USB + Ethernet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原始 ADC → Pi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477000" y="4619625"/>
            <a:ext cx="1714500" cy="685800"/>
          </a:xfrm>
          <a:prstGeom prst="roundRect">
            <a:avLst>
              <a:gd name="adj" fmla="val 11111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ADXL355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+ Raspberry Pi 4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8382000" y="4810125"/>
            <a:ext cx="457200" cy="266700"/>
          </a:xfrm>
          <a:prstGeom prst="rightArrow">
            <a:avLst/>
          </a:prstGeom>
          <a:solidFill>
            <a:srgbClr val="009DD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029700" y="4619625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18865B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SPI + DRDY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同步加速度 → Pi</a:t>
            </a:r>
            <a:endParaRPr sz="1125" b="1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285875" y="5905500"/>
            <a:ext cx="9620250" cy="419100"/>
          </a:xfrm>
          <a:prstGeom prst="roundRect">
            <a:avLst>
              <a:gd name="adj" fmla="val 18182"/>
            </a:avLst>
          </a:prstGeom>
          <a:solidFill>
            <a:srgbClr val="F8FCFF"/>
          </a:solidFill>
          <a:ln w="11430">
            <a:solidFill>
              <a:srgbClr val="B9D7E8"/>
            </a:solidFill>
            <a:prstDash val="solid"/>
          </a:ln>
        </p:spPr>
        <p:txBody>
          <a:bodyPr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85875" y="5905500"/>
            <a:ext cx="66675" cy="419100"/>
          </a:xfrm>
          <a:prstGeom prst="rect">
            <a:avLst/>
          </a:prstGeom>
          <a:solidFill>
            <a:srgbClr val="009DD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476375" y="6019800"/>
            <a:ext cx="923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algn="l">
              <a:def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40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支撑本文方法：该组合支撑 Range-Angle target 筛选、相位分支校正、β 转换系数估计和结构主相位 Kalman 融合。</a:t>
            </a:r>
            <a:endParaRPr sz="1240">
              <a:solidFill>
                <a:srgbClr val="16324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7222</Words>
  <Application>WPS 演示</Application>
  <PresentationFormat>Converted Presentation</PresentationFormat>
  <Paragraphs>790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汉仪旗黑</vt:lpstr>
      <vt:lpstr>黑体</vt:lpstr>
      <vt:lpstr>汉仪中黑KW</vt:lpstr>
      <vt:lpstr>Arial</vt:lpstr>
      <vt:lpstr>Cambria Math</vt:lpstr>
      <vt:lpstr>DejaVu Math TeX Gyre</vt:lpstr>
      <vt:lpstr>DejaVu Math TeX Gyre</vt:lpstr>
      <vt:lpstr>微软雅黑</vt:lpstr>
      <vt:lpstr>宋体</vt:lpstr>
      <vt:lpstr>Arial Unicode MS</vt:lpstr>
      <vt:lpstr>汉仪书宋二KW</vt:lpstr>
      <vt:lpstr>Calibri</vt:lpstr>
      <vt:lpstr>Helvetica Neue</vt:lpstr>
      <vt:lpstr>Kingsoft Math</vt:lpstr>
      <vt:lpstr>Cambria Math</vt:lpstr>
      <vt:lpstr>微软雅黑</vt:lpstr>
      <vt:lpstr>黑体</vt:lpstr>
      <vt:lpstr>MS PGothic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黄世宇</cp:lastModifiedBy>
  <cp:revision>1</cp:revision>
  <dcterms:created xsi:type="dcterms:W3CDTF">2026-06-26T11:29:18Z</dcterms:created>
  <dcterms:modified xsi:type="dcterms:W3CDTF">2026-06-26T11:29:18Z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FD642F0C63580CD48E623E6A69C9578A_42</vt:lpwstr>
  </property>
</Properties>
</file>